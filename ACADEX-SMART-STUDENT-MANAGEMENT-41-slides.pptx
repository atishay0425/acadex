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01316"/>
    <p:sldId id="278" r:id="rId201317"/>
    <p:sldId id="279" r:id="rId201318"/>
    <p:sldId id="280" r:id="rId201319"/>
    <p:sldId id="281" r:id="rId201320"/>
    <p:sldId id="282" r:id="rId201321"/>
    <p:sldId id="283" r:id="rId201322"/>
    <p:sldId id="284" r:id="rId201323"/>
    <p:sldId id="285" r:id="rId201324"/>
    <p:sldId id="286" r:id="rId201325"/>
    <p:sldId id="287" r:id="rId201326"/>
    <p:sldId id="288" r:id="rId201327"/>
    <p:sldId id="289" r:id="rId201328"/>
    <p:sldId id="290" r:id="rId201329"/>
    <p:sldId id="291" r:id="rId201330"/>
    <p:sldId id="292" r:id="rId201331"/>
    <p:sldId id="293" r:id="rId201332"/>
    <p:sldId id="294" r:id="rId201333"/>
    <p:sldId id="295" r:id="rId201334"/>
    <p:sldId id="296" r:id="rId201335"/>
    <p:sldId id="276" r:id="rId22"/>
  </p:sldIdLst>
  <p:notesMasterIdLst>
    <p:notesMasterId r:id="rId23"/>
  </p:notesMasterIdLst>
  <p:sldSz cx="9144000" cy="6858000"/>
  <p:notesSz cx="6858000" cy="9144000"/>
  <p:embeddedFontLst>
    <p:embeddedFont>
      <p:font typeface="Tinos"/>
      <p:regular r:id="rId201314"/>
    </p:embeddedFont>
    <p:embeddedFont>
      <p:font typeface="Tinos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  <Relationship Id="rId201316" Type="http://schemas.openxmlformats.org/officeDocument/2006/relationships/slide" Target="slides/slide22.xml"/>
  <Relationship Id="rId201317" Type="http://schemas.openxmlformats.org/officeDocument/2006/relationships/slide" Target="slides/slide23.xml"/>
  <Relationship Id="rId201318" Type="http://schemas.openxmlformats.org/officeDocument/2006/relationships/slide" Target="slides/slide24.xml"/>
  <Relationship Id="rId201319" Type="http://schemas.openxmlformats.org/officeDocument/2006/relationships/slide" Target="slides/slide25.xml"/>
  <Relationship Id="rId201320" Type="http://schemas.openxmlformats.org/officeDocument/2006/relationships/slide" Target="slides/slide26.xml"/>
  <Relationship Id="rId201321" Type="http://schemas.openxmlformats.org/officeDocument/2006/relationships/slide" Target="slides/slide27.xml"/>
  <Relationship Id="rId201322" Type="http://schemas.openxmlformats.org/officeDocument/2006/relationships/slide" Target="slides/slide28.xml"/>
  <Relationship Id="rId201323" Type="http://schemas.openxmlformats.org/officeDocument/2006/relationships/slide" Target="slides/slide29.xml"/>
  <Relationship Id="rId201324" Type="http://schemas.openxmlformats.org/officeDocument/2006/relationships/slide" Target="slides/slide30.xml"/>
  <Relationship Id="rId201325" Type="http://schemas.openxmlformats.org/officeDocument/2006/relationships/slide" Target="slides/slide31.xml"/>
  <Relationship Id="rId201326" Type="http://schemas.openxmlformats.org/officeDocument/2006/relationships/slide" Target="slides/slide32.xml"/>
  <Relationship Id="rId201327" Type="http://schemas.openxmlformats.org/officeDocument/2006/relationships/slide" Target="slides/slide33.xml"/>
  <Relationship Id="rId201328" Type="http://schemas.openxmlformats.org/officeDocument/2006/relationships/slide" Target="slides/slide34.xml"/>
  <Relationship Id="rId201329" Type="http://schemas.openxmlformats.org/officeDocument/2006/relationships/slide" Target="slides/slide35.xml"/>
  <Relationship Id="rId201330" Type="http://schemas.openxmlformats.org/officeDocument/2006/relationships/slide" Target="slides/slide36.xml"/>
  <Relationship Id="rId201331" Type="http://schemas.openxmlformats.org/officeDocument/2006/relationships/slide" Target="slides/slide37.xml"/>
  <Relationship Id="rId201332" Type="http://schemas.openxmlformats.org/officeDocument/2006/relationships/slide" Target="slides/slide38.xml"/>
  <Relationship Id="rId201333" Type="http://schemas.openxmlformats.org/officeDocument/2006/relationships/slide" Target="slides/slide39.xml"/>
  <Relationship Id="rId201334" Type="http://schemas.openxmlformats.org/officeDocument/2006/relationships/slide" Target="slides/slide40.xml"/>
  <Relationship Id="rId201335" Type="http://schemas.openxmlformats.org/officeDocument/2006/relationships/slide" Target="slides/slide4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45" y="1041350"/>
            <a:ext cx="2363465" cy="68676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5" y="6334720"/>
            <a:ext cx="1293986" cy="3657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5911" y="1790700"/>
            <a:ext cx="71310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</a:t>
            </a:r>
            <a:endParaRPr lang="en-US" sz="3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STUDENT MANAGEMENT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914326" y="3073718"/>
            <a:ext cx="8229674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Advanced learning, guidance and support features for the College Management System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4326" y="4162133"/>
            <a:ext cx="3648224" cy="271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Learn. Plan. Connect. Grow.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2311747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8339361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College Management System handles campus admin well, but students only open it when they have to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180" y="1417290"/>
            <a:ext cx="1051545" cy="347439"/>
          </a:xfrm>
          <a:prstGeom prst="roundRect">
            <a:avLst>
              <a:gd name="adj" fmla="val 20002"/>
            </a:avLst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7002" y="1489725"/>
            <a:ext cx="129197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GAP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01601" y="1843757"/>
            <a:ext cx="6995145" cy="2761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College Management System already covers fees, classes, exams, placements and events.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Most students open it for a task or a notice, then leave. There is little reason to come back every day.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Doubts, notes and guidance mostly happen on outside apps, not inside the campus system.</a:t>
            </a:r>
            <a:endParaRPr lang="en-US" sz="1800" dirty="0"/>
          </a:p>
          <a:p>
            <a:pPr algn="l"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attendance or falling marks are often noticed late, close to exams.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and mentors have no single place to see which students need help.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8084269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What College Management Offers Today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711205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current college management features that students already use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6517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Academics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registration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Classes &amp; examinations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 payments &amp; receipts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Assignments &amp; cohorts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6517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Placements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716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Jobs &amp; campus drives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Resume builder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6517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6517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Network &amp; Campus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Forums &amp; people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Events &amp; competitions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Notices &amp; posts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39318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Our Solution: Acadex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998071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 new modules that give students a reason to open Acadex every day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508745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508745"/>
            <a:ext cx="73149" cy="1600200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681460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780" y="2093476"/>
            <a:ext cx="2868960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Doubt Desk and Study Planner.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3400" y="1508745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508745"/>
            <a:ext cx="73149" cy="1600200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380" y="1681460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Stay on Track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63380" y="2093476"/>
            <a:ext cx="2868960" cy="7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Performance Analyzer, Early Warning System and Student Help Center.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3291780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5800" y="3291780"/>
            <a:ext cx="73149" cy="1600200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05780" y="3464496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Get Guidance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05780" y="3876511"/>
            <a:ext cx="2868960" cy="7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Counselling, Career Guidance and Senior–Junior Mentorship.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43400" y="3291780"/>
            <a:ext cx="3429000" cy="160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43400" y="3291780"/>
            <a:ext cx="73149" cy="1600200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380" y="3464496"/>
            <a:ext cx="2868960" cy="304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Build Together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663380" y="3876511"/>
            <a:ext cx="2868960" cy="487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Community and Project &amp; Idea Hub.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9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2661568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390727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Academic help any time, from AI or from faculty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7718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14636" y="1723132"/>
            <a:ext cx="2048545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Faculty Doubt Desk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14636" y="2012826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a specific teacher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Upvote common doubts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Mark as solved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Search past solutions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67783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66840" y="1742405"/>
            <a:ext cx="208694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Notes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366840" y="2032099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Upload PDFs &amp;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 summaries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Important questions &amp; MCQs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from your own notes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6029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098727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14553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Plan and Stay on Track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807446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Turn attendance, marks and deadlines into daily action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Add exams &amp; subjects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Auto-generated schedule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Track completed topics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Performance Analyzer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Attendance + marks + assignments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Finds weak subjects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Shows performance trends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Personal suggestions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Early Warning System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attendance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Falling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Missing assignments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 student &amp; mentor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64061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Guidance and Mentorship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3086993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right advice at the right time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Counselling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00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Academic, career &amp; personal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Notes &amp; follow-ups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Anonymous option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Career Guidance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Enter interests, skills &amp;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Suggested career paths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Courses &amp; internships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Placement roadmap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Mentorship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Branch-wise mentors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College &amp; career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Anonymous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 ratings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435376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Community and Support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3692128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 together and get issues solved fast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Community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&amp; branch rooms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Discuss projects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Upvote useful answers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871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871" y="1371600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851" y="1561058"/>
            <a:ext cx="1966094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Project &amp; Idea Hub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85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Submit project ideas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 teammates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mentor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Progress tracking &amp; repository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16" y="1371600"/>
            <a:ext cx="2286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16" y="1371600"/>
            <a:ext cx="73149" cy="310894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1996" y="1561058"/>
            <a:ext cx="1966020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Help Center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1996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Fees, hostel, library, IT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Certificates &amp; academics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Auto-routed to the right department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705573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Students Will Return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685800" y="1325835"/>
            <a:ext cx="3429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85800" y="1325835"/>
            <a:ext cx="73149" cy="310894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780" y="1515294"/>
            <a:ext cx="3109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Reasons to Open Acadex Daily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780" y="1820317"/>
            <a:ext cx="2881685" cy="108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Today's study plan &amp; reminders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Doubts answered by faculty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 on attendance &amp; marks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Mentors, community &amp; projects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325835"/>
            <a:ext cx="3429000" cy="310894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1325835"/>
            <a:ext cx="73149" cy="31089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63380" y="1515294"/>
            <a:ext cx="3109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Expected Impact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63380" y="1820317"/>
            <a:ext cx="2881685" cy="1721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 → better learning &amp; support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→ fewer repeated doubts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Mentors → early view of at-risk students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Admin → issues reach the right department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380" y="3623950"/>
            <a:ext cx="2881685" cy="589285"/>
          </a:xfrm>
          <a:prstGeom prst="rect">
            <a:avLst/>
          </a:prstGeom>
          <a:noFill/>
          <a:ln/>
        </p:spPr>
        <p:txBody>
          <a:bodyPr wrap="square" lIns="0" tIns="10160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FROM A PORTAL TO A DAILY COMPANION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73851" y="5646179"/>
            <a:ext cx="51561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370396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Tech Stack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5926559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Simple, widely used tools that a student team can build and maintain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92603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React or Next.js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Tailwind CSS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Mobile-friendly web app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Role-based dashboards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92603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Node.js with Express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PostgreSQL database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Redis for alerts &amp; caching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Secure login with JWT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92603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Smart Integrations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43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OCR for image questions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Vector search for Smart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Email &amp; push notifications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16701" y="5646179"/>
            <a:ext cx="57276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180" y="422865"/>
            <a:ext cx="4651400" cy="4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 Roadmap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04639" y="1061302"/>
            <a:ext cx="4744045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Built in phases, starting with what students need most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371600"/>
            <a:ext cx="73149" cy="2926035"/>
          </a:xfrm>
          <a:prstGeom prst="rect">
            <a:avLst/>
          </a:prstGeom>
          <a:solidFill>
            <a:srgbClr val="2656AA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780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1: 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780" y="1850752"/>
            <a:ext cx="1754832" cy="792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Doubt Desk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Smart Notes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45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45" y="1371600"/>
            <a:ext cx="73149" cy="292603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8926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2: Support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8926" y="1850752"/>
            <a:ext cx="1754832" cy="1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Performance Analyzer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Early Warning System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Counselling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Help Center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32090" y="1371600"/>
            <a:ext cx="2286000" cy="292603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DAE1"/>
            </a:solidFill>
            <a:prstDash val="solid"/>
          </a:ln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090" y="1371600"/>
            <a:ext cx="73149" cy="2926035"/>
          </a:xfrm>
          <a:prstGeom prst="rect">
            <a:avLst/>
          </a:prstGeom>
          <a:solidFill>
            <a:srgbClr val="1C3778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52071" y="1561058"/>
            <a:ext cx="2212032" cy="213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Phase 3: Community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52071" y="1850752"/>
            <a:ext cx="1754832" cy="129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Senior–Junior Mentorship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Community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Project &amp; Idea Hub</a:t>
            </a:r>
            <a:endParaRPr lang="en-US" sz="1400" dirty="0"/>
          </a:p>
          <a:p>
            <a:pPr algn="l" marL="229362" indent="-229362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rgbClr val="23232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Career Guidance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/>
          <a:effectLst>
            <a:outerShdw sx="100000" sy="100000" kx="0" ky="0" algn="bl" rotWithShape="0" blurRad="38100" dist="2286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18040" y="5646179"/>
            <a:ext cx="57150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11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Survey: Methods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Eight IEEE / Springer papers: algorithm used, advantages and disadvantages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25" name="Literature table"/>
          <p:cNvGraphicFramePr>
            <a:graphicFrameLocks noGrp="1"/>
          </p:cNvGraphicFramePr>
          <p:nvPr/>
        </p:nvGraphicFramePr>
        <p:xfrm>
          <a:off x="685800" y="1371600"/>
          <a:ext cx="7772400" cy="3931920"/>
        </p:xfrm>
        <a:graphic>
          <a:graphicData uri="http://schemas.openxmlformats.org/drawingml/2006/table">
            <a:tbl>
              <a:tblPr firstRow="1"/>
              <a:tblGrid>
                <a:gridCol w="292608"/>
                <a:gridCol w="1691640"/>
                <a:gridCol w="1828800"/>
                <a:gridCol w="1920240"/>
                <a:gridCol w="2039112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#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Paper / Venue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Algorithm used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Advantage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23764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Disadvantage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Cano &amp; Leonard [1]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Trans. Learning Tech.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Multiview Genetic Programming rule classifier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Transparent rules; targets underrepresented groups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Flags risk but gives no study action; many views needed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Al-Shabandar et al. [2]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RF and Gradient Boosting on MOOC data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Early detection of at-risk learners (GBM up to 0.95)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Black-box output; MOOC-specific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Zhao et al. [3]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AugmentED: LSTM features + ML classifiers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Holistic campus-life view; feedback to students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Small sample (156 students); privacy-heavy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Cui et al. [4]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TNNLS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Tri-branch CNN with top-k focused loss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Accurate ranking of at-risk students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Black-box deep model; predicts but does not recommend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Yanes et al. [5]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Access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ML recommender (multi-label classification)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Suggests improvement actions for courses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Aimed at faculty, not students; no outcome tracking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6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Ma et al. [6]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IEEE Trans. Comput. Social Syst.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Knowledge tracing + Transformer, 4-level warning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Early warning tied to course objectives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Deep state models are hard to explain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7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Kord et al. [7]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Springer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14 ML/DL models compared; SVC best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Predicts grades and recommends courses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Only ~78% accuracy; one faculty dataset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Alalawi et al. [8]</a:t>
                      </a:r>
                      <a:endParaRPr lang="en-US" sz="900" dirty="0"/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Springer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SPPA: course-specific ML + study plans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Tested in a real course; personalised revision plans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Needs course-specific historical data; single cohort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Survey: The Gaps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studies are promising, but six recurring limits leave room for a student-support system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Gap card 1"/>
          <p:cNvSpPr/>
          <p:nvPr/>
        </p:nvSpPr>
        <p:spPr>
          <a:xfrm>
            <a:off x="68580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Gap number 1"/>
          <p:cNvSpPr/>
          <p:nvPr/>
        </p:nvSpPr>
        <p:spPr>
          <a:xfrm>
            <a:off x="85039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Gap title 1"/>
          <p:cNvSpPr/>
          <p:nvPr/>
        </p:nvSpPr>
        <p:spPr>
          <a:xfrm>
            <a:off x="85039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Limited interpretability</a:t>
            </a:r>
            <a:endParaRPr lang="en-US" sz="1400" dirty="0"/>
          </a:p>
        </p:txBody>
      </p:sp>
      <p:sp>
        <p:nvSpPr>
          <p:cNvPr id="28" name="Gap text 1"/>
          <p:cNvSpPr/>
          <p:nvPr/>
        </p:nvSpPr>
        <p:spPr>
          <a:xfrm>
            <a:off x="85039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Accurate predictions are hard for students and faculty to trust.</a:t>
            </a:r>
            <a:endParaRPr lang="en-US" sz="1100" dirty="0"/>
          </a:p>
        </p:txBody>
      </p:sp>
      <p:sp>
        <p:nvSpPr>
          <p:cNvPr id="29" name="Gap refs 1"/>
          <p:cNvSpPr/>
          <p:nvPr/>
        </p:nvSpPr>
        <p:spPr>
          <a:xfrm>
            <a:off x="85039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[2] [4] [6]</a:t>
            </a:r>
            <a:endParaRPr lang="en-US" sz="1000" dirty="0"/>
          </a:p>
        </p:txBody>
      </p:sp>
      <p:sp>
        <p:nvSpPr>
          <p:cNvPr id="30" name="Gap card 2"/>
          <p:cNvSpPr/>
          <p:nvPr/>
        </p:nvSpPr>
        <p:spPr>
          <a:xfrm>
            <a:off x="333756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1" name="Gap number 2"/>
          <p:cNvSpPr/>
          <p:nvPr/>
        </p:nvSpPr>
        <p:spPr>
          <a:xfrm>
            <a:off x="350215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Gap title 2"/>
          <p:cNvSpPr/>
          <p:nvPr/>
        </p:nvSpPr>
        <p:spPr>
          <a:xfrm>
            <a:off x="350215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Narrow signals</a:t>
            </a:r>
            <a:endParaRPr lang="en-US" sz="1400" dirty="0"/>
          </a:p>
        </p:txBody>
      </p:sp>
      <p:sp>
        <p:nvSpPr>
          <p:cNvPr id="33" name="Gap text 2"/>
          <p:cNvSpPr/>
          <p:nvPr/>
        </p:nvSpPr>
        <p:spPr>
          <a:xfrm>
            <a:off x="350215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Many systems rely on one source, one course or a small feature family.</a:t>
            </a:r>
            <a:endParaRPr lang="en-US" sz="1100" dirty="0"/>
          </a:p>
        </p:txBody>
      </p:sp>
      <p:sp>
        <p:nvSpPr>
          <p:cNvPr id="34" name="Gap refs 2"/>
          <p:cNvSpPr/>
          <p:nvPr/>
        </p:nvSpPr>
        <p:spPr>
          <a:xfrm>
            <a:off x="350215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[2] [7] [8]</a:t>
            </a:r>
            <a:endParaRPr lang="en-US" sz="1000" dirty="0"/>
          </a:p>
        </p:txBody>
      </p:sp>
      <p:sp>
        <p:nvSpPr>
          <p:cNvPr id="35" name="Gap card 3"/>
          <p:cNvSpPr/>
          <p:nvPr/>
        </p:nvSpPr>
        <p:spPr>
          <a:xfrm>
            <a:off x="598932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6" name="Gap number 3"/>
          <p:cNvSpPr/>
          <p:nvPr/>
        </p:nvSpPr>
        <p:spPr>
          <a:xfrm>
            <a:off x="6153912" y="1536192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Gap title 3"/>
          <p:cNvSpPr/>
          <p:nvPr/>
        </p:nvSpPr>
        <p:spPr>
          <a:xfrm>
            <a:off x="6153912" y="2029968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 and cold start</a:t>
            </a:r>
            <a:endParaRPr lang="en-US" sz="1400" dirty="0"/>
          </a:p>
        </p:txBody>
      </p:sp>
      <p:sp>
        <p:nvSpPr>
          <p:cNvPr id="38" name="Gap text 3"/>
          <p:cNvSpPr/>
          <p:nvPr/>
        </p:nvSpPr>
        <p:spPr>
          <a:xfrm>
            <a:off x="6153912" y="242316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Rare at-risk cases and brand-new learners are difficult to model fairly.</a:t>
            </a:r>
            <a:endParaRPr lang="en-US" sz="1100" dirty="0"/>
          </a:p>
        </p:txBody>
      </p:sp>
      <p:sp>
        <p:nvSpPr>
          <p:cNvPr id="39" name="Gap refs 3"/>
          <p:cNvSpPr/>
          <p:nvPr/>
        </p:nvSpPr>
        <p:spPr>
          <a:xfrm>
            <a:off x="6153912" y="2999232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[3] [5]</a:t>
            </a:r>
            <a:endParaRPr lang="en-US" sz="1000" dirty="0"/>
          </a:p>
        </p:txBody>
      </p:sp>
      <p:sp>
        <p:nvSpPr>
          <p:cNvPr id="40" name="Gap card 4"/>
          <p:cNvSpPr/>
          <p:nvPr/>
        </p:nvSpPr>
        <p:spPr>
          <a:xfrm>
            <a:off x="68580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1" name="Gap number 4"/>
          <p:cNvSpPr/>
          <p:nvPr/>
        </p:nvSpPr>
        <p:spPr>
          <a:xfrm>
            <a:off x="85039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Gap title 4"/>
          <p:cNvSpPr/>
          <p:nvPr/>
        </p:nvSpPr>
        <p:spPr>
          <a:xfrm>
            <a:off x="85039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without action</a:t>
            </a:r>
            <a:endParaRPr lang="en-US" sz="1400" dirty="0"/>
          </a:p>
        </p:txBody>
      </p:sp>
      <p:sp>
        <p:nvSpPr>
          <p:cNvPr id="43" name="Gap text 4"/>
          <p:cNvSpPr/>
          <p:nvPr/>
        </p:nvSpPr>
        <p:spPr>
          <a:xfrm>
            <a:off x="85039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risk flag is not yet a study plan, an outreach step or a support loop.</a:t>
            </a:r>
            <a:endParaRPr lang="en-US" sz="1100" dirty="0"/>
          </a:p>
        </p:txBody>
      </p:sp>
      <p:sp>
        <p:nvSpPr>
          <p:cNvPr id="44" name="Gap refs 4"/>
          <p:cNvSpPr/>
          <p:nvPr/>
        </p:nvSpPr>
        <p:spPr>
          <a:xfrm>
            <a:off x="85039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[1] [4]</a:t>
            </a:r>
            <a:endParaRPr lang="en-US" sz="1000" dirty="0"/>
          </a:p>
        </p:txBody>
      </p:sp>
      <p:sp>
        <p:nvSpPr>
          <p:cNvPr id="45" name="Gap card 5"/>
          <p:cNvSpPr/>
          <p:nvPr/>
        </p:nvSpPr>
        <p:spPr>
          <a:xfrm>
            <a:off x="333756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6" name="Gap number 5"/>
          <p:cNvSpPr/>
          <p:nvPr/>
        </p:nvSpPr>
        <p:spPr>
          <a:xfrm>
            <a:off x="350215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Gap title 5"/>
          <p:cNvSpPr/>
          <p:nvPr/>
        </p:nvSpPr>
        <p:spPr>
          <a:xfrm>
            <a:off x="350215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Weak generalisation</a:t>
            </a:r>
            <a:endParaRPr lang="en-US" sz="1400" dirty="0"/>
          </a:p>
        </p:txBody>
      </p:sp>
      <p:sp>
        <p:nvSpPr>
          <p:cNvPr id="48" name="Gap text 5"/>
          <p:cNvSpPr/>
          <p:nvPr/>
        </p:nvSpPr>
        <p:spPr>
          <a:xfrm>
            <a:off x="350215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Models may not transfer across cohorts, courses or campuses.</a:t>
            </a:r>
            <a:endParaRPr lang="en-US" sz="1100" dirty="0"/>
          </a:p>
        </p:txBody>
      </p:sp>
      <p:sp>
        <p:nvSpPr>
          <p:cNvPr id="49" name="Gap refs 5"/>
          <p:cNvSpPr/>
          <p:nvPr/>
        </p:nvSpPr>
        <p:spPr>
          <a:xfrm>
            <a:off x="350215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[3] [7] [8]</a:t>
            </a:r>
            <a:endParaRPr lang="en-US" sz="1000" dirty="0"/>
          </a:p>
        </p:txBody>
      </p:sp>
      <p:sp>
        <p:nvSpPr>
          <p:cNvPr id="50" name="Gap card 6"/>
          <p:cNvSpPr/>
          <p:nvPr/>
        </p:nvSpPr>
        <p:spPr>
          <a:xfrm>
            <a:off x="598932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51" name="Gap number 6"/>
          <p:cNvSpPr/>
          <p:nvPr/>
        </p:nvSpPr>
        <p:spPr>
          <a:xfrm>
            <a:off x="6153912" y="3566160"/>
            <a:ext cx="384048" cy="384048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Gap title 6"/>
          <p:cNvSpPr/>
          <p:nvPr/>
        </p:nvSpPr>
        <p:spPr>
          <a:xfrm>
            <a:off x="6153912" y="4059936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Unmeasured impact</a:t>
            </a:r>
            <a:endParaRPr lang="en-US" sz="1400" dirty="0"/>
          </a:p>
        </p:txBody>
      </p:sp>
      <p:sp>
        <p:nvSpPr>
          <p:cNvPr id="53" name="Gap text 6"/>
          <p:cNvSpPr/>
          <p:nvPr/>
        </p:nvSpPr>
        <p:spPr>
          <a:xfrm>
            <a:off x="6153912" y="445312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 change are measured far less often than prediction.</a:t>
            </a:r>
            <a:endParaRPr lang="en-US" sz="1100" dirty="0"/>
          </a:p>
        </p:txBody>
      </p:sp>
      <p:sp>
        <p:nvSpPr>
          <p:cNvPr id="54" name="Gap refs 6"/>
          <p:cNvSpPr/>
          <p:nvPr/>
        </p:nvSpPr>
        <p:spPr>
          <a:xfrm>
            <a:off x="6153912" y="5029200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Seen in </a:t>
            </a: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[5]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Objective: Prediction to Support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limitation found in the literature gets a specific answer in Acadex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14</a:t>
            </a:r>
            <a:endParaRPr lang="en-US" sz="900" dirty="0"/>
          </a:p>
        </p:txBody>
      </p:sp>
      <p:sp>
        <p:nvSpPr>
          <p:cNvPr id="25" name="Col head gap"/>
          <p:cNvSpPr/>
          <p:nvPr/>
        </p:nvSpPr>
        <p:spPr>
          <a:xfrm>
            <a:off x="685800" y="132588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LITERATURE GAP</a:t>
            </a:r>
            <a:endParaRPr lang="en-US" sz="1000" dirty="0"/>
          </a:p>
        </p:txBody>
      </p:sp>
      <p:sp>
        <p:nvSpPr>
          <p:cNvPr id="26" name="Col head sol"/>
          <p:cNvSpPr/>
          <p:nvPr/>
        </p:nvSpPr>
        <p:spPr>
          <a:xfrm>
            <a:off x="3611880" y="1325880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ANSWER</a:t>
            </a:r>
            <a:endParaRPr lang="en-US" sz="1000" dirty="0"/>
          </a:p>
        </p:txBody>
      </p:sp>
      <p:sp>
        <p:nvSpPr>
          <p:cNvPr id="27" name="Gap 1"/>
          <p:cNvSpPr/>
          <p:nvPr/>
        </p:nvSpPr>
        <p:spPr>
          <a:xfrm>
            <a:off x="685800" y="157276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Limited interpretability</a:t>
            </a:r>
            <a:endParaRPr lang="en-US" sz="1200" dirty="0"/>
          </a:p>
        </p:txBody>
      </p:sp>
      <p:cxnSp>
        <p:nvCxnSpPr>
          <p:cNvPr id="28" name="Arrow 1"/>
          <p:cNvCxnSpPr/>
          <p:nvPr/>
        </p:nvCxnSpPr>
        <p:spPr>
          <a:xfrm>
            <a:off x="3227832" y="1801368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29" name="Answer 1"/>
          <p:cNvSpPr/>
          <p:nvPr/>
        </p:nvSpPr>
        <p:spPr>
          <a:xfrm>
            <a:off x="3611880" y="157276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Explainable risk scores: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XGBoost with SHAP shows the drivers behind every flag.</a:t>
            </a:r>
            <a:endParaRPr lang="en-US" sz="1100" dirty="0"/>
          </a:p>
        </p:txBody>
      </p:sp>
      <p:sp>
        <p:nvSpPr>
          <p:cNvPr id="30" name="Gap 2"/>
          <p:cNvSpPr/>
          <p:nvPr/>
        </p:nvSpPr>
        <p:spPr>
          <a:xfrm>
            <a:off x="685800" y="211226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Narrow signals</a:t>
            </a:r>
            <a:endParaRPr lang="en-US" sz="1200" dirty="0"/>
          </a:p>
        </p:txBody>
      </p:sp>
      <p:cxnSp>
        <p:nvCxnSpPr>
          <p:cNvPr id="31" name="Arrow 2"/>
          <p:cNvCxnSpPr/>
          <p:nvPr/>
        </p:nvCxnSpPr>
        <p:spPr>
          <a:xfrm>
            <a:off x="3227832" y="2340864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2" name="Answer 2"/>
          <p:cNvSpPr/>
          <p:nvPr/>
        </p:nvSpPr>
        <p:spPr>
          <a:xfrm>
            <a:off x="3611880" y="2112264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Multimodal student signals: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Engagement, assessment, attendance-style and planning data combined.</a:t>
            </a:r>
            <a:endParaRPr lang="en-US" sz="1100" dirty="0"/>
          </a:p>
        </p:txBody>
      </p:sp>
      <p:sp>
        <p:nvSpPr>
          <p:cNvPr id="33" name="Gap 3"/>
          <p:cNvSpPr/>
          <p:nvPr/>
        </p:nvSpPr>
        <p:spPr>
          <a:xfrm>
            <a:off x="685800" y="26517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 and cold start</a:t>
            </a:r>
            <a:endParaRPr lang="en-US" sz="1200" dirty="0"/>
          </a:p>
        </p:txBody>
      </p:sp>
      <p:cxnSp>
        <p:nvCxnSpPr>
          <p:cNvPr id="34" name="Arrow 3"/>
          <p:cNvCxnSpPr/>
          <p:nvPr/>
        </p:nvCxnSpPr>
        <p:spPr>
          <a:xfrm>
            <a:off x="3227832" y="2880360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5" name="Answer 3"/>
          <p:cNvSpPr/>
          <p:nvPr/>
        </p:nvSpPr>
        <p:spPr>
          <a:xfrm>
            <a:off x="3611880" y="26517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Imbalance-aware modelling: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 weights, threshold tuning, PR-AUC; early-term features for new learners.</a:t>
            </a:r>
            <a:endParaRPr lang="en-US" sz="1100" dirty="0"/>
          </a:p>
        </p:txBody>
      </p:sp>
      <p:sp>
        <p:nvSpPr>
          <p:cNvPr id="36" name="Gap 4"/>
          <p:cNvSpPr/>
          <p:nvPr/>
        </p:nvSpPr>
        <p:spPr>
          <a:xfrm>
            <a:off x="685800" y="319125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without action</a:t>
            </a:r>
            <a:endParaRPr lang="en-US" sz="1200" dirty="0"/>
          </a:p>
        </p:txBody>
      </p:sp>
      <p:cxnSp>
        <p:nvCxnSpPr>
          <p:cNvPr id="37" name="Arrow 4"/>
          <p:cNvCxnSpPr/>
          <p:nvPr/>
        </p:nvCxnSpPr>
        <p:spPr>
          <a:xfrm>
            <a:off x="3227832" y="3419856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8" name="Answer 4"/>
          <p:cNvSpPr/>
          <p:nvPr/>
        </p:nvSpPr>
        <p:spPr>
          <a:xfrm>
            <a:off x="3611880" y="319125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Personalised study actions: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Recommends a next step, not only a probability.</a:t>
            </a:r>
            <a:endParaRPr lang="en-US" sz="1100" dirty="0"/>
          </a:p>
        </p:txBody>
      </p:sp>
      <p:sp>
        <p:nvSpPr>
          <p:cNvPr id="39" name="Gap 5"/>
          <p:cNvSpPr/>
          <p:nvPr/>
        </p:nvSpPr>
        <p:spPr>
          <a:xfrm>
            <a:off x="685800" y="373075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Weak generalisation</a:t>
            </a:r>
            <a:endParaRPr lang="en-US" sz="1200" dirty="0"/>
          </a:p>
        </p:txBody>
      </p:sp>
      <p:cxnSp>
        <p:nvCxnSpPr>
          <p:cNvPr id="40" name="Arrow 5"/>
          <p:cNvCxnSpPr/>
          <p:nvPr/>
        </p:nvCxnSpPr>
        <p:spPr>
          <a:xfrm>
            <a:off x="3227832" y="3959352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1" name="Answer 5"/>
          <p:cNvSpPr/>
          <p:nvPr/>
        </p:nvSpPr>
        <p:spPr>
          <a:xfrm>
            <a:off x="3611880" y="373075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Common feature contract: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OULAD-trained, with cohort-wise validation and a mapped Acadex schema.</a:t>
            </a:r>
            <a:endParaRPr lang="en-US" sz="1100" dirty="0"/>
          </a:p>
        </p:txBody>
      </p:sp>
      <p:sp>
        <p:nvSpPr>
          <p:cNvPr id="42" name="Gap 6"/>
          <p:cNvSpPr/>
          <p:nvPr/>
        </p:nvSpPr>
        <p:spPr>
          <a:xfrm>
            <a:off x="685800" y="427024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BEDEF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Unmeasured impact</a:t>
            </a:r>
            <a:endParaRPr lang="en-US" sz="1200" dirty="0"/>
          </a:p>
        </p:txBody>
      </p:sp>
      <p:cxnSp>
        <p:nvCxnSpPr>
          <p:cNvPr id="43" name="Arrow 6"/>
          <p:cNvCxnSpPr/>
          <p:nvPr/>
        </p:nvCxnSpPr>
        <p:spPr>
          <a:xfrm>
            <a:off x="3227832" y="4498848"/>
            <a:ext cx="329184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4" name="Answer 6"/>
          <p:cNvSpPr/>
          <p:nvPr/>
        </p:nvSpPr>
        <p:spPr>
          <a:xfrm>
            <a:off x="3611880" y="4270248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109728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Intervention tracking: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 logged; faculty escalation with minimum-data privacy.</a:t>
            </a:r>
            <a:endParaRPr lang="en-US" sz="1100" dirty="0"/>
          </a:p>
        </p:txBody>
      </p:sp>
      <p:sp>
        <p:nvSpPr>
          <p:cNvPr id="45" name="Tagline"/>
          <p:cNvSpPr/>
          <p:nvPr/>
        </p:nvSpPr>
        <p:spPr>
          <a:xfrm>
            <a:off x="685800" y="4828032"/>
            <a:ext cx="7772400" cy="420624"/>
          </a:xfrm>
          <a:prstGeom prst="roundRect">
            <a:avLst>
              <a:gd name="adj" fmla="val 20000"/>
            </a:avLst>
          </a:prstGeom>
          <a:solidFill>
            <a:srgbClr val="1C3778"/>
          </a:solidFill>
          <a:ln>
            <a:noFill/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SEE RISK.   EXPLAIN IT.   ACT EARLY.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Proposed System Block Diagram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 explainable left-to-right pipeline with a feedback loop into student support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Block 1"/>
          <p:cNvSpPr/>
          <p:nvPr/>
        </p:nvSpPr>
        <p:spPr>
          <a:xfrm>
            <a:off x="68580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 tables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+ Acadex activity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IDs, scores, clicks,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deadlines, support use</a:t>
            </a:r>
            <a:endParaRPr lang="en-US" sz="1000" dirty="0"/>
          </a:p>
        </p:txBody>
      </p:sp>
      <p:sp>
        <p:nvSpPr>
          <p:cNvPr id="26" name="Block 1 number"/>
          <p:cNvSpPr/>
          <p:nvPr/>
        </p:nvSpPr>
        <p:spPr>
          <a:xfrm>
            <a:off x="79552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Block 2"/>
          <p:cNvSpPr/>
          <p:nvPr/>
        </p:nvSpPr>
        <p:spPr>
          <a:xfrm>
            <a:off x="269748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1C377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Preprocessing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Schema audit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De-duplication · nulls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Encode · scale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Leakage check · split</a:t>
            </a:r>
            <a:endParaRPr lang="en-US" sz="1000" dirty="0"/>
          </a:p>
        </p:txBody>
      </p:sp>
      <p:sp>
        <p:nvSpPr>
          <p:cNvPr id="28" name="Block 2 number"/>
          <p:cNvSpPr/>
          <p:nvPr/>
        </p:nvSpPr>
        <p:spPr>
          <a:xfrm>
            <a:off x="280720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Block 1 tag"/>
          <p:cNvSpPr/>
          <p:nvPr/>
        </p:nvSpPr>
        <p:spPr>
          <a:xfrm>
            <a:off x="2807208" y="2688336"/>
            <a:ext cx="1517904" cy="201168"/>
          </a:xfrm>
          <a:prstGeom prst="roundRect">
            <a:avLst>
              <a:gd name="adj" fmla="val 50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BLOCK 1 · SLIDES 18–20</a:t>
            </a:r>
            <a:endParaRPr lang="en-US" sz="800" dirty="0"/>
          </a:p>
        </p:txBody>
      </p:sp>
      <p:sp>
        <p:nvSpPr>
          <p:cNvPr id="30" name="Block 3"/>
          <p:cNvSpPr/>
          <p:nvPr/>
        </p:nvSpPr>
        <p:spPr>
          <a:xfrm>
            <a:off x="470916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Engineering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Aggregate to a cutoff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Assessment trend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On-time ratio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Recent activity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Feature selection</a:t>
            </a:r>
            <a:endParaRPr lang="en-US" sz="1000" dirty="0"/>
          </a:p>
        </p:txBody>
      </p:sp>
      <p:sp>
        <p:nvSpPr>
          <p:cNvPr id="31" name="Block 3 number"/>
          <p:cNvSpPr/>
          <p:nvPr/>
        </p:nvSpPr>
        <p:spPr>
          <a:xfrm>
            <a:off x="481888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Block 4"/>
          <p:cNvSpPr/>
          <p:nvPr/>
        </p:nvSpPr>
        <p:spPr>
          <a:xfrm>
            <a:off x="6720840" y="1353312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XGBoost Classifier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Gradient-boosted trees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Class weights for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imbalance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Tuned on validation set</a:t>
            </a:r>
            <a:endParaRPr lang="en-US" sz="1000" dirty="0"/>
          </a:p>
        </p:txBody>
      </p:sp>
      <p:sp>
        <p:nvSpPr>
          <p:cNvPr id="33" name="Block 4 number"/>
          <p:cNvSpPr/>
          <p:nvPr/>
        </p:nvSpPr>
        <p:spPr>
          <a:xfrm>
            <a:off x="6830568" y="1444752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Block 5"/>
          <p:cNvSpPr/>
          <p:nvPr/>
        </p:nvSpPr>
        <p:spPr>
          <a:xfrm>
            <a:off x="68580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SHAP Explainer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Per-student driver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contributions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Global feature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importance</a:t>
            </a:r>
            <a:endParaRPr lang="en-US" sz="1000" dirty="0"/>
          </a:p>
        </p:txBody>
      </p:sp>
      <p:sp>
        <p:nvSpPr>
          <p:cNvPr id="35" name="Block 5 number"/>
          <p:cNvSpPr/>
          <p:nvPr/>
        </p:nvSpPr>
        <p:spPr>
          <a:xfrm>
            <a:off x="79552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Block 6"/>
          <p:cNvSpPr/>
          <p:nvPr/>
        </p:nvSpPr>
        <p:spPr>
          <a:xfrm>
            <a:off x="269748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Risk Level + Action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Low / medium / high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Mapped to a next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action</a:t>
            </a:r>
            <a:endParaRPr lang="en-US" sz="1000" dirty="0"/>
          </a:p>
        </p:txBody>
      </p:sp>
      <p:sp>
        <p:nvSpPr>
          <p:cNvPr id="37" name="Block 6 number"/>
          <p:cNvSpPr/>
          <p:nvPr/>
        </p:nvSpPr>
        <p:spPr>
          <a:xfrm>
            <a:off x="280720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Block 7"/>
          <p:cNvSpPr/>
          <p:nvPr/>
        </p:nvSpPr>
        <p:spPr>
          <a:xfrm>
            <a:off x="470916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Dashboard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view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 &amp; mentor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alerts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39" name="Block 7 number"/>
          <p:cNvSpPr/>
          <p:nvPr/>
        </p:nvSpPr>
        <p:spPr>
          <a:xfrm>
            <a:off x="481888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Block 8"/>
          <p:cNvSpPr/>
          <p:nvPr/>
        </p:nvSpPr>
        <p:spPr>
          <a:xfrm>
            <a:off x="6720840" y="3291840"/>
            <a:ext cx="1737360" cy="160934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457200" rIns="91440" bIns="54864" rtlCol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Evaluation + Feedback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Recall · PR-AUC · F1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Uptake and outcome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feed back to retrain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model</a:t>
            </a:r>
            <a:endParaRPr lang="en-US" sz="1000" dirty="0"/>
          </a:p>
        </p:txBody>
      </p:sp>
      <p:sp>
        <p:nvSpPr>
          <p:cNvPr id="41" name="Block 8 number"/>
          <p:cNvSpPr/>
          <p:nvPr/>
        </p:nvSpPr>
        <p:spPr>
          <a:xfrm>
            <a:off x="6830568" y="33832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8</a:t>
            </a:r>
            <a:endParaRPr lang="en-US" sz="1100" dirty="0"/>
          </a:p>
        </p:txBody>
      </p:sp>
      <p:cxnSp>
        <p:nvCxnSpPr>
          <p:cNvPr id="42" name="Arrow r1-0"/>
          <p:cNvCxnSpPr/>
          <p:nvPr/>
        </p:nvCxnSpPr>
        <p:spPr>
          <a:xfrm>
            <a:off x="245059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3" name="Arrow r2-0"/>
          <p:cNvCxnSpPr/>
          <p:nvPr/>
        </p:nvCxnSpPr>
        <p:spPr>
          <a:xfrm>
            <a:off x="245059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4" name="Arrow r1-1"/>
          <p:cNvCxnSpPr/>
          <p:nvPr/>
        </p:nvCxnSpPr>
        <p:spPr>
          <a:xfrm>
            <a:off x="446227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5" name="Arrow r2-1"/>
          <p:cNvCxnSpPr/>
          <p:nvPr/>
        </p:nvCxnSpPr>
        <p:spPr>
          <a:xfrm>
            <a:off x="446227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6" name="Arrow r1-2"/>
          <p:cNvCxnSpPr/>
          <p:nvPr/>
        </p:nvCxnSpPr>
        <p:spPr>
          <a:xfrm>
            <a:off x="6473952" y="2157984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7" name="Arrow r2-2"/>
          <p:cNvCxnSpPr/>
          <p:nvPr/>
        </p:nvCxnSpPr>
        <p:spPr>
          <a:xfrm>
            <a:off x="6473952" y="4096512"/>
            <a:ext cx="219456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cxnSp>
        <p:nvCxnSpPr>
          <p:cNvPr id="48" name="Link down"/>
          <p:cNvCxnSpPr/>
          <p:nvPr/>
        </p:nvCxnSpPr>
        <p:spPr>
          <a:xfrm>
            <a:off x="7589520" y="2962656"/>
            <a:ext cx="0" cy="164592"/>
          </a:xfrm>
          <a:prstGeom prst="line">
            <a:avLst/>
          </a:prstGeom>
          <a:ln w="19050">
            <a:solidFill>
              <a:srgbClr val="1C3778"/>
            </a:solidFill>
          </a:ln>
        </p:spPr>
      </p:cxnSp>
      <p:cxnSp>
        <p:nvCxnSpPr>
          <p:cNvPr id="49" name="Link across"/>
          <p:cNvCxnSpPr/>
          <p:nvPr/>
        </p:nvCxnSpPr>
        <p:spPr>
          <a:xfrm flipH="1">
            <a:off x="1554480" y="3127248"/>
            <a:ext cx="6035040" cy="0"/>
          </a:xfrm>
          <a:prstGeom prst="line">
            <a:avLst/>
          </a:prstGeom>
          <a:ln w="19050">
            <a:solidFill>
              <a:srgbClr val="1C3778"/>
            </a:solidFill>
          </a:ln>
        </p:spPr>
      </p:cxnSp>
      <p:cxnSp>
        <p:nvCxnSpPr>
          <p:cNvPr id="50" name="Link into row 2"/>
          <p:cNvCxnSpPr/>
          <p:nvPr/>
        </p:nvCxnSpPr>
        <p:spPr>
          <a:xfrm>
            <a:off x="1554480" y="3127248"/>
            <a:ext cx="0" cy="146304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51" name="Feedback strip"/>
          <p:cNvSpPr/>
          <p:nvPr/>
        </p:nvSpPr>
        <p:spPr>
          <a:xfrm>
            <a:off x="685800" y="5010912"/>
            <a:ext cx="7772400" cy="40233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  <p:txBody>
          <a:bodyPr wrap="square" lIns="109728" tIns="91440" rIns="109728" bIns="9144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Feedback loop: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action → uptake → outcome → model and support review</a:t>
            </a: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      Privacy-aware: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minimum necessary data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Inputs, Features and Evaluation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Choose signals available early enough to support a student, not just to explain the past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16</a:t>
            </a:r>
            <a:endParaRPr lang="en-US" sz="900" dirty="0"/>
          </a:p>
        </p:txBody>
      </p:sp>
      <p:sp>
        <p:nvSpPr>
          <p:cNvPr id="25" name="Column INPUTS"/>
          <p:cNvSpPr/>
          <p:nvPr/>
        </p:nvSpPr>
        <p:spPr>
          <a:xfrm>
            <a:off x="685800" y="1371600"/>
            <a:ext cx="178308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6" name="Header INPUTS"/>
          <p:cNvSpPr/>
          <p:nvPr/>
        </p:nvSpPr>
        <p:spPr>
          <a:xfrm>
            <a:off x="685800" y="1371600"/>
            <a:ext cx="1783080" cy="384048"/>
          </a:xfrm>
          <a:prstGeom prst="round2SameRect">
            <a:avLst>
              <a:gd name="adj" fmla="val 22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INPUTS</a:t>
            </a:r>
            <a:endParaRPr lang="en-US" sz="1200" dirty="0"/>
          </a:p>
        </p:txBody>
      </p:sp>
      <p:sp>
        <p:nvSpPr>
          <p:cNvPr id="27" name="Column FEATURES · WHY"/>
          <p:cNvSpPr/>
          <p:nvPr/>
        </p:nvSpPr>
        <p:spPr>
          <a:xfrm>
            <a:off x="2606040" y="1371600"/>
            <a:ext cx="292608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8" name="Header FEATURES · WHY"/>
          <p:cNvSpPr/>
          <p:nvPr/>
        </p:nvSpPr>
        <p:spPr>
          <a:xfrm>
            <a:off x="2606040" y="1371600"/>
            <a:ext cx="2926080" cy="384048"/>
          </a:xfrm>
          <a:prstGeom prst="round2SameRect">
            <a:avLst>
              <a:gd name="adj" fmla="val 22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FEATURES · WHY</a:t>
            </a:r>
            <a:endParaRPr lang="en-US" sz="1200" dirty="0"/>
          </a:p>
        </p:txBody>
      </p:sp>
      <p:sp>
        <p:nvSpPr>
          <p:cNvPr id="29" name="Column EVALUATION · WHY"/>
          <p:cNvSpPr/>
          <p:nvPr/>
        </p:nvSpPr>
        <p:spPr>
          <a:xfrm>
            <a:off x="5669280" y="1371600"/>
            <a:ext cx="2788920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0" name="Header EVALUATION · WHY"/>
          <p:cNvSpPr/>
          <p:nvPr/>
        </p:nvSpPr>
        <p:spPr>
          <a:xfrm>
            <a:off x="5669280" y="1371600"/>
            <a:ext cx="2788920" cy="384048"/>
          </a:xfrm>
          <a:prstGeom prst="round2SameRect">
            <a:avLst>
              <a:gd name="adj" fmla="val 22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EVALUATION · WHY</a:t>
            </a:r>
            <a:endParaRPr lang="en-US" sz="1200" dirty="0"/>
          </a:p>
        </p:txBody>
      </p:sp>
      <p:sp>
        <p:nvSpPr>
          <p:cNvPr id="31" name="Input 1"/>
          <p:cNvSpPr/>
          <p:nvPr/>
        </p:nvSpPr>
        <p:spPr>
          <a:xfrm>
            <a:off x="795528" y="1883664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/ course ID</a:t>
            </a:r>
            <a:endParaRPr lang="en-US" sz="1050" dirty="0"/>
          </a:p>
        </p:txBody>
      </p:sp>
      <p:sp>
        <p:nvSpPr>
          <p:cNvPr id="32" name="Input 2"/>
          <p:cNvSpPr/>
          <p:nvPr/>
        </p:nvSpPr>
        <p:spPr>
          <a:xfrm>
            <a:off x="795528" y="2368296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Assessment scores</a:t>
            </a:r>
            <a:endParaRPr lang="en-US" sz="1050" dirty="0"/>
          </a:p>
        </p:txBody>
      </p:sp>
      <p:sp>
        <p:nvSpPr>
          <p:cNvPr id="33" name="Input 3"/>
          <p:cNvSpPr/>
          <p:nvPr/>
        </p:nvSpPr>
        <p:spPr>
          <a:xfrm>
            <a:off x="795528" y="2852928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Submission timing</a:t>
            </a:r>
            <a:endParaRPr lang="en-US" sz="1050" dirty="0"/>
          </a:p>
        </p:txBody>
      </p:sp>
      <p:sp>
        <p:nvSpPr>
          <p:cNvPr id="34" name="Input 4"/>
          <p:cNvSpPr/>
          <p:nvPr/>
        </p:nvSpPr>
        <p:spPr>
          <a:xfrm>
            <a:off x="795528" y="3337560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Clicks &amp; activity</a:t>
            </a:r>
            <a:endParaRPr lang="en-US" sz="1050" dirty="0"/>
          </a:p>
        </p:txBody>
      </p:sp>
      <p:sp>
        <p:nvSpPr>
          <p:cNvPr id="35" name="Input 5"/>
          <p:cNvSpPr/>
          <p:nvPr/>
        </p:nvSpPr>
        <p:spPr>
          <a:xfrm>
            <a:off x="795528" y="3822192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Attendance-style signal</a:t>
            </a:r>
            <a:endParaRPr lang="en-US" sz="1050" dirty="0"/>
          </a:p>
        </p:txBody>
      </p:sp>
      <p:sp>
        <p:nvSpPr>
          <p:cNvPr id="36" name="Input 6"/>
          <p:cNvSpPr/>
          <p:nvPr/>
        </p:nvSpPr>
        <p:spPr>
          <a:xfrm>
            <a:off x="795528" y="4306824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Deadlines &amp; plan status</a:t>
            </a:r>
            <a:endParaRPr lang="en-US" sz="1050" dirty="0"/>
          </a:p>
        </p:txBody>
      </p:sp>
      <p:sp>
        <p:nvSpPr>
          <p:cNvPr id="37" name="Input 7"/>
          <p:cNvSpPr/>
          <p:nvPr/>
        </p:nvSpPr>
        <p:spPr>
          <a:xfrm>
            <a:off x="795528" y="4791456"/>
            <a:ext cx="1563624" cy="384048"/>
          </a:xfrm>
          <a:prstGeom prst="roundRect">
            <a:avLst>
              <a:gd name="adj" fmla="val 30000"/>
            </a:avLst>
          </a:prstGeom>
          <a:solidFill>
            <a:srgbClr val="EEF1F8"/>
          </a:solidFill>
          <a:ln>
            <a:noFill/>
          </a:ln>
        </p:spPr>
        <p:txBody>
          <a:bodyPr wrap="square" lIns="36576" tIns="0" rIns="36576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Support interactions</a:t>
            </a:r>
            <a:endParaRPr lang="en-US" sz="1050" dirty="0"/>
          </a:p>
        </p:txBody>
      </p:sp>
      <p:sp>
        <p:nvSpPr>
          <p:cNvPr id="38" name="Feature 1"/>
          <p:cNvSpPr/>
          <p:nvPr/>
        </p:nvSpPr>
        <p:spPr>
          <a:xfrm>
            <a:off x="2715768" y="19385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Feature text 1"/>
          <p:cNvSpPr/>
          <p:nvPr/>
        </p:nvSpPr>
        <p:spPr>
          <a:xfrm>
            <a:off x="3081528" y="19019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Assessment trend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Shows the learning trajectory.</a:t>
            </a:r>
            <a:endParaRPr lang="en-US" sz="1050" dirty="0"/>
          </a:p>
        </p:txBody>
      </p:sp>
      <p:sp>
        <p:nvSpPr>
          <p:cNvPr id="40" name="Feature 2"/>
          <p:cNvSpPr/>
          <p:nvPr/>
        </p:nvSpPr>
        <p:spPr>
          <a:xfrm>
            <a:off x="2715768" y="26243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Feature text 2"/>
          <p:cNvSpPr/>
          <p:nvPr/>
        </p:nvSpPr>
        <p:spPr>
          <a:xfrm>
            <a:off x="3081528" y="25877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On-time ratio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Captures execution risk from late submissions.</a:t>
            </a:r>
            <a:endParaRPr lang="en-US" sz="1050" dirty="0"/>
          </a:p>
        </p:txBody>
      </p:sp>
      <p:sp>
        <p:nvSpPr>
          <p:cNvPr id="42" name="Feature 3"/>
          <p:cNvSpPr/>
          <p:nvPr/>
        </p:nvSpPr>
        <p:spPr>
          <a:xfrm>
            <a:off x="2715768" y="33101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Feature text 3"/>
          <p:cNvSpPr/>
          <p:nvPr/>
        </p:nvSpPr>
        <p:spPr>
          <a:xfrm>
            <a:off x="3081528" y="32735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Recent engagement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Identifies disengagement early.</a:t>
            </a:r>
            <a:endParaRPr lang="en-US" sz="1050" dirty="0"/>
          </a:p>
        </p:txBody>
      </p:sp>
      <p:sp>
        <p:nvSpPr>
          <p:cNvPr id="44" name="Feature 4"/>
          <p:cNvSpPr/>
          <p:nvPr/>
        </p:nvSpPr>
        <p:spPr>
          <a:xfrm>
            <a:off x="2715768" y="39959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Feature text 4"/>
          <p:cNvSpPr/>
          <p:nvPr/>
        </p:nvSpPr>
        <p:spPr>
          <a:xfrm>
            <a:off x="3081528" y="39593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Days since activity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Supports timely outreach.</a:t>
            </a:r>
            <a:endParaRPr lang="en-US" sz="1050" dirty="0"/>
          </a:p>
        </p:txBody>
      </p:sp>
      <p:sp>
        <p:nvSpPr>
          <p:cNvPr id="46" name="Feature 5"/>
          <p:cNvSpPr/>
          <p:nvPr/>
        </p:nvSpPr>
        <p:spPr>
          <a:xfrm>
            <a:off x="2715768" y="468172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Feature text 5"/>
          <p:cNvSpPr/>
          <p:nvPr/>
        </p:nvSpPr>
        <p:spPr>
          <a:xfrm>
            <a:off x="3081528" y="4645152"/>
            <a:ext cx="2340864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Planning / support use</a:t>
            </a:r>
            <a:endParaRPr lang="en-US" sz="115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Links each risk flag to an action.</a:t>
            </a:r>
            <a:endParaRPr lang="en-US" sz="1050" dirty="0"/>
          </a:p>
        </p:txBody>
      </p:sp>
      <p:sp>
        <p:nvSpPr>
          <p:cNvPr id="48" name="Metric 1"/>
          <p:cNvSpPr/>
          <p:nvPr/>
        </p:nvSpPr>
        <p:spPr>
          <a:xfrm>
            <a:off x="5797296" y="188366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Recall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catch every at-risk student</a:t>
            </a:r>
            <a:endParaRPr lang="en-US" sz="1050" dirty="0"/>
          </a:p>
        </p:txBody>
      </p:sp>
      <p:sp>
        <p:nvSpPr>
          <p:cNvPr id="49" name="Metric 2"/>
          <p:cNvSpPr/>
          <p:nvPr/>
        </p:nvSpPr>
        <p:spPr>
          <a:xfrm>
            <a:off x="5797296" y="231343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Precision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limit false alarms</a:t>
            </a:r>
            <a:endParaRPr lang="en-US" sz="1050" dirty="0"/>
          </a:p>
        </p:txBody>
      </p:sp>
      <p:sp>
        <p:nvSpPr>
          <p:cNvPr id="50" name="Metric 3"/>
          <p:cNvSpPr/>
          <p:nvPr/>
        </p:nvSpPr>
        <p:spPr>
          <a:xfrm>
            <a:off x="5797296" y="274320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F1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balance of recall and precision</a:t>
            </a:r>
            <a:endParaRPr lang="en-US" sz="1050" dirty="0"/>
          </a:p>
        </p:txBody>
      </p:sp>
      <p:sp>
        <p:nvSpPr>
          <p:cNvPr id="51" name="Metric 4"/>
          <p:cNvSpPr/>
          <p:nvPr/>
        </p:nvSpPr>
        <p:spPr>
          <a:xfrm>
            <a:off x="5797296" y="3172968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PR-AUC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fair under class imbalance</a:t>
            </a:r>
            <a:endParaRPr lang="en-US" sz="1050" dirty="0"/>
          </a:p>
        </p:txBody>
      </p:sp>
      <p:sp>
        <p:nvSpPr>
          <p:cNvPr id="52" name="Metric 5"/>
          <p:cNvSpPr/>
          <p:nvPr/>
        </p:nvSpPr>
        <p:spPr>
          <a:xfrm>
            <a:off x="5797296" y="3602736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ROC-AUC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ranking quality at any threshold</a:t>
            </a:r>
            <a:endParaRPr lang="en-US" sz="1050" dirty="0"/>
          </a:p>
        </p:txBody>
      </p:sp>
      <p:sp>
        <p:nvSpPr>
          <p:cNvPr id="53" name="Metric 6"/>
          <p:cNvSpPr/>
          <p:nvPr/>
        </p:nvSpPr>
        <p:spPr>
          <a:xfrm>
            <a:off x="5797296" y="4032504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Calibration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probabilities can be trusted</a:t>
            </a:r>
            <a:endParaRPr lang="en-US" sz="1050" dirty="0"/>
          </a:p>
        </p:txBody>
      </p:sp>
      <p:sp>
        <p:nvSpPr>
          <p:cNvPr id="54" name="Metric 7"/>
          <p:cNvSpPr/>
          <p:nvPr/>
        </p:nvSpPr>
        <p:spPr>
          <a:xfrm>
            <a:off x="5797296" y="4462272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Accuracy · confusion matrix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baseline and error types</a:t>
            </a:r>
            <a:endParaRPr lang="en-US" sz="1050" dirty="0"/>
          </a:p>
        </p:txBody>
      </p:sp>
      <p:sp>
        <p:nvSpPr>
          <p:cNvPr id="55" name="Metric 8"/>
          <p:cNvSpPr/>
          <p:nvPr/>
        </p:nvSpPr>
        <p:spPr>
          <a:xfrm>
            <a:off x="5797296" y="4892040"/>
            <a:ext cx="255117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Intervention uptake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— did the support actually help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Database and Preprocessing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OULAD is the training database; Acadex inputs map to the same feature contract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17</a:t>
            </a:r>
            <a:endParaRPr lang="en-US" sz="900" dirty="0"/>
          </a:p>
        </p:txBody>
      </p:sp>
      <p:sp>
        <p:nvSpPr>
          <p:cNvPr id="25" name="OULAD card"/>
          <p:cNvSpPr/>
          <p:nvPr/>
        </p:nvSpPr>
        <p:spPr>
          <a:xfrm>
            <a:off x="685800" y="1371600"/>
            <a:ext cx="2331720" cy="4041648"/>
          </a:xfrm>
          <a:prstGeom prst="roundRect">
            <a:avLst>
              <a:gd name="adj" fmla="val 4000"/>
            </a:avLst>
          </a:prstGeom>
          <a:solidFill>
            <a:srgbClr val="1C3778"/>
          </a:solidFill>
          <a:ln>
            <a:noFill/>
          </a:ln>
        </p:spPr>
      </p:sp>
      <p:sp>
        <p:nvSpPr>
          <p:cNvPr id="26" name="OULAD name"/>
          <p:cNvSpPr/>
          <p:nvPr/>
        </p:nvSpPr>
        <p:spPr>
          <a:xfrm>
            <a:off x="868680" y="150876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OULAD</a:t>
            </a:r>
            <a:endParaRPr lang="en-US" sz="2400" dirty="0"/>
          </a:p>
        </p:txBody>
      </p:sp>
      <p:sp>
        <p:nvSpPr>
          <p:cNvPr id="27" name="OULAD full"/>
          <p:cNvSpPr/>
          <p:nvPr/>
        </p:nvSpPr>
        <p:spPr>
          <a:xfrm>
            <a:off x="868680" y="19202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Open University Learning Analytics Dataset</a:t>
            </a:r>
            <a:endParaRPr lang="en-US" sz="1000" dirty="0"/>
          </a:p>
        </p:txBody>
      </p:sp>
      <p:sp>
        <p:nvSpPr>
          <p:cNvPr id="28" name="Stat 1"/>
          <p:cNvSpPr/>
          <p:nvPr/>
        </p:nvSpPr>
        <p:spPr>
          <a:xfrm>
            <a:off x="868680" y="23774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32,593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9" name="Stat 2"/>
          <p:cNvSpPr/>
          <p:nvPr/>
        </p:nvSpPr>
        <p:spPr>
          <a:xfrm>
            <a:off x="868680" y="2944368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22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presentations</a:t>
            </a:r>
            <a:endParaRPr lang="en-US" sz="1000" dirty="0"/>
          </a:p>
        </p:txBody>
      </p:sp>
      <p:sp>
        <p:nvSpPr>
          <p:cNvPr id="30" name="Stat 3"/>
          <p:cNvSpPr/>
          <p:nvPr/>
        </p:nvSpPr>
        <p:spPr>
          <a:xfrm>
            <a:off x="868680" y="3511296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10.6M</a:t>
            </a:r>
            <a:endParaRPr lang="en-US" sz="200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VLE click records</a:t>
            </a:r>
            <a:endParaRPr lang="en-US" sz="1000" dirty="0"/>
          </a:p>
        </p:txBody>
      </p:sp>
      <p:sp>
        <p:nvSpPr>
          <p:cNvPr id="31" name="Tables label"/>
          <p:cNvSpPr/>
          <p:nvPr/>
        </p:nvSpPr>
        <p:spPr>
          <a:xfrm>
            <a:off x="868680" y="4114800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F2A7B6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 TABLES</a:t>
            </a:r>
            <a:endParaRPr lang="en-US" sz="950" dirty="0"/>
          </a:p>
        </p:txBody>
      </p:sp>
      <p:sp>
        <p:nvSpPr>
          <p:cNvPr id="32" name="Tables list"/>
          <p:cNvSpPr/>
          <p:nvPr/>
        </p:nvSpPr>
        <p:spPr>
          <a:xfrm>
            <a:off x="868680" y="4315968"/>
            <a:ext cx="19659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courses · assessments · vle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studentInfo · studentRegistration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studentAssessment · studentVle</a:t>
            </a:r>
            <a:endParaRPr lang="en-US" sz="1000" dirty="0"/>
          </a:p>
        </p:txBody>
      </p:sp>
      <p:sp>
        <p:nvSpPr>
          <p:cNvPr id="33" name="OULAD source"/>
          <p:cNvSpPr/>
          <p:nvPr/>
        </p:nvSpPr>
        <p:spPr>
          <a:xfrm>
            <a:off x="868680" y="5120640"/>
            <a:ext cx="1965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CADCF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Kuzilek et al., Scientific Data, 2017</a:t>
            </a:r>
            <a:endParaRPr lang="en-US" sz="900" dirty="0"/>
          </a:p>
        </p:txBody>
      </p:sp>
      <p:sp>
        <p:nvSpPr>
          <p:cNvPr id="34" name="Pipeline label"/>
          <p:cNvSpPr/>
          <p:nvPr/>
        </p:nvSpPr>
        <p:spPr>
          <a:xfrm>
            <a:off x="3291840" y="1371600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PREPROCESSING PIPELINE</a:t>
            </a:r>
            <a:endParaRPr lang="en-US" sz="1050" dirty="0"/>
          </a:p>
        </p:txBody>
      </p:sp>
      <p:sp>
        <p:nvSpPr>
          <p:cNvPr id="35" name="Step row 1"/>
          <p:cNvSpPr/>
          <p:nvPr/>
        </p:nvSpPr>
        <p:spPr>
          <a:xfrm>
            <a:off x="3291840" y="16642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6" name="Step 1"/>
          <p:cNvSpPr/>
          <p:nvPr/>
        </p:nvSpPr>
        <p:spPr>
          <a:xfrm>
            <a:off x="3383280" y="17282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50" dirty="0"/>
          </a:p>
        </p:txBody>
      </p:sp>
      <p:sp>
        <p:nvSpPr>
          <p:cNvPr id="37" name="Step text 1"/>
          <p:cNvSpPr/>
          <p:nvPr/>
        </p:nvSpPr>
        <p:spPr>
          <a:xfrm>
            <a:off x="3767328" y="16642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Schema audit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Check tables, keys and types across the 7 CSV files.</a:t>
            </a:r>
            <a:endParaRPr lang="en-US" sz="1100" dirty="0"/>
          </a:p>
        </p:txBody>
      </p:sp>
      <p:sp>
        <p:nvSpPr>
          <p:cNvPr id="38" name="Step row 2"/>
          <p:cNvSpPr/>
          <p:nvPr/>
        </p:nvSpPr>
        <p:spPr>
          <a:xfrm>
            <a:off x="3291840" y="21214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9" name="Step 2"/>
          <p:cNvSpPr/>
          <p:nvPr/>
        </p:nvSpPr>
        <p:spPr>
          <a:xfrm>
            <a:off x="3383280" y="21854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Step text 2"/>
          <p:cNvSpPr/>
          <p:nvPr/>
        </p:nvSpPr>
        <p:spPr>
          <a:xfrm>
            <a:off x="3767328" y="21214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Clean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Remove duplicates; document and handle missing values.</a:t>
            </a:r>
            <a:endParaRPr lang="en-US" sz="1100" dirty="0"/>
          </a:p>
        </p:txBody>
      </p:sp>
      <p:sp>
        <p:nvSpPr>
          <p:cNvPr id="41" name="Step row 3"/>
          <p:cNvSpPr/>
          <p:nvPr/>
        </p:nvSpPr>
        <p:spPr>
          <a:xfrm>
            <a:off x="3291840" y="25786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2" name="Step 3"/>
          <p:cNvSpPr/>
          <p:nvPr/>
        </p:nvSpPr>
        <p:spPr>
          <a:xfrm>
            <a:off x="3383280" y="26426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50" dirty="0"/>
          </a:p>
        </p:txBody>
      </p:sp>
      <p:sp>
        <p:nvSpPr>
          <p:cNvPr id="43" name="Step text 3"/>
          <p:cNvSpPr/>
          <p:nvPr/>
        </p:nvSpPr>
        <p:spPr>
          <a:xfrm>
            <a:off x="3767328" y="25786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Encode &amp; scale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Encode categories; scale only where a model needs it.</a:t>
            </a:r>
            <a:endParaRPr lang="en-US" sz="1100" dirty="0"/>
          </a:p>
        </p:txBody>
      </p:sp>
      <p:sp>
        <p:nvSpPr>
          <p:cNvPr id="44" name="Step row 4"/>
          <p:cNvSpPr/>
          <p:nvPr/>
        </p:nvSpPr>
        <p:spPr>
          <a:xfrm>
            <a:off x="3291840" y="30358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5" name="Step 4"/>
          <p:cNvSpPr/>
          <p:nvPr/>
        </p:nvSpPr>
        <p:spPr>
          <a:xfrm>
            <a:off x="3383280" y="30998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Step text 4"/>
          <p:cNvSpPr/>
          <p:nvPr/>
        </p:nvSpPr>
        <p:spPr>
          <a:xfrm>
            <a:off x="3767328" y="30358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Aggregate by cutoff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Roll clicks and scores into per-student features.</a:t>
            </a:r>
            <a:endParaRPr lang="en-US" sz="1100" dirty="0"/>
          </a:p>
        </p:txBody>
      </p:sp>
      <p:sp>
        <p:nvSpPr>
          <p:cNvPr id="47" name="Step row 5"/>
          <p:cNvSpPr/>
          <p:nvPr/>
        </p:nvSpPr>
        <p:spPr>
          <a:xfrm>
            <a:off x="3291840" y="3493008"/>
            <a:ext cx="5166360" cy="402336"/>
          </a:xfrm>
          <a:prstGeom prst="roundRect">
            <a:avLst>
              <a:gd name="adj" fmla="val 18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8" name="Step 5"/>
          <p:cNvSpPr/>
          <p:nvPr/>
        </p:nvSpPr>
        <p:spPr>
          <a:xfrm>
            <a:off x="3383280" y="3557016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50" dirty="0"/>
          </a:p>
        </p:txBody>
      </p:sp>
      <p:sp>
        <p:nvSpPr>
          <p:cNvPr id="49" name="Step text 5"/>
          <p:cNvSpPr/>
          <p:nvPr/>
        </p:nvSpPr>
        <p:spPr>
          <a:xfrm>
            <a:off x="3767328" y="3493008"/>
            <a:ext cx="4617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Leakage check &amp; split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 Time-based, stratified train / validation / test split.</a:t>
            </a:r>
            <a:endParaRPr lang="en-US" sz="1100" dirty="0"/>
          </a:p>
        </p:txBody>
      </p:sp>
      <p:sp>
        <p:nvSpPr>
          <p:cNvPr id="50" name="Principle 1"/>
          <p:cNvSpPr/>
          <p:nvPr/>
        </p:nvSpPr>
        <p:spPr>
          <a:xfrm>
            <a:off x="329184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Output contract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student–course row at a cutoff date, using only data available by then.</a:t>
            </a:r>
            <a:endParaRPr lang="en-US" sz="1000" dirty="0"/>
          </a:p>
        </p:txBody>
      </p:sp>
      <p:sp>
        <p:nvSpPr>
          <p:cNvPr id="51" name="Principle 2"/>
          <p:cNvSpPr/>
          <p:nvPr/>
        </p:nvSpPr>
        <p:spPr>
          <a:xfrm>
            <a:off x="505968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Quality gates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 never act as predictors. Missingness, windows and split logic are versioned.</a:t>
            </a:r>
            <a:endParaRPr lang="en-US" sz="1000" dirty="0"/>
          </a:p>
        </p:txBody>
      </p:sp>
      <p:sp>
        <p:nvSpPr>
          <p:cNvPr id="52" name="Principle 3"/>
          <p:cNvSpPr/>
          <p:nvPr/>
        </p:nvSpPr>
        <p:spPr>
          <a:xfrm>
            <a:off x="6827520" y="4114800"/>
            <a:ext cx="1630680" cy="12984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Privacy principle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Keep only the minimum data needed to explain risk and suggest support.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1: Data Audit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First output of Block 1: the seven OULAD tables audited before any cleaning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18</a:t>
            </a:r>
            <a:endParaRPr lang="en-US" sz="900" dirty="0"/>
          </a:p>
        </p:txBody>
      </p:sp>
      <p:sp>
        <p:nvSpPr>
          <p:cNvPr id="25" name="Stat chip 1"/>
          <p:cNvSpPr/>
          <p:nvPr/>
        </p:nvSpPr>
        <p:spPr>
          <a:xfrm>
            <a:off x="68580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tables</a:t>
            </a:r>
            <a:endParaRPr lang="en-US" sz="1000" dirty="0"/>
          </a:p>
        </p:txBody>
      </p:sp>
      <p:sp>
        <p:nvSpPr>
          <p:cNvPr id="26" name="Stat chip 2"/>
          <p:cNvSpPr/>
          <p:nvPr/>
        </p:nvSpPr>
        <p:spPr>
          <a:xfrm>
            <a:off x="248412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32,593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students</a:t>
            </a:r>
            <a:endParaRPr lang="en-US" sz="1000" dirty="0"/>
          </a:p>
        </p:txBody>
      </p:sp>
      <p:sp>
        <p:nvSpPr>
          <p:cNvPr id="27" name="Stat chip 3"/>
          <p:cNvSpPr/>
          <p:nvPr/>
        </p:nvSpPr>
        <p:spPr>
          <a:xfrm>
            <a:off x="4282440" y="1371600"/>
            <a:ext cx="1661160" cy="658368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algn="ctr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10.6M</a:t>
            </a:r>
            <a:endParaRPr lang="en-US" sz="20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click records</a:t>
            </a:r>
            <a:endParaRPr lang="en-US" sz="1000" dirty="0"/>
          </a:p>
        </p:txBody>
      </p:sp>
      <p:graphicFrame>
        <p:nvGraphicFramePr>
          <p:cNvPr id="28" name="Audit table"/>
          <p:cNvGraphicFramePr>
            <a:graphicFrameLocks noGrp="1"/>
          </p:cNvGraphicFramePr>
          <p:nvPr/>
        </p:nvGraphicFramePr>
        <p:xfrm>
          <a:off x="685800" y="2176272"/>
          <a:ext cx="5257800" cy="3236976"/>
        </p:xfrm>
        <a:graphic>
          <a:graphicData uri="http://schemas.openxmlformats.org/drawingml/2006/table">
            <a:tbl>
              <a:tblPr firstRow="1"/>
              <a:tblGrid>
                <a:gridCol w="1691640"/>
                <a:gridCol w="960120"/>
                <a:gridCol w="260604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Table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Raw records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Audit focus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courses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22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One row per module presentation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assessments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206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Missing due dates on some exams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6,364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Activity-type lookup for clicks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studentInfo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32,593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Missing IMD band; keep as a flag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studentRegistration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32,593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Empty unregistration date = stayed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studentAssessment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173,912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Score and submission-date gaps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studentVle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72525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10,655,280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Very large table; check duplicate rows</a:t>
                      </a:r>
                      <a:endParaRPr lang="en-US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un log card"/>
          <p:cNvSpPr/>
          <p:nvPr/>
        </p:nvSpPr>
        <p:spPr>
          <a:xfrm>
            <a:off x="6172200" y="1371600"/>
            <a:ext cx="2286000" cy="40416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</p:sp>
      <p:sp>
        <p:nvSpPr>
          <p:cNvPr id="30" name="Run log title"/>
          <p:cNvSpPr/>
          <p:nvPr/>
        </p:nvSpPr>
        <p:spPr>
          <a:xfrm>
            <a:off x="6336792" y="1499616"/>
            <a:ext cx="19568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Pipeline run log</a:t>
            </a:r>
            <a:endParaRPr lang="en-US" sz="1300" dirty="0"/>
          </a:p>
        </p:txBody>
      </p:sp>
      <p:sp>
        <p:nvSpPr>
          <p:cNvPr id="31" name="Run log note"/>
          <p:cNvSpPr/>
          <p:nvPr/>
        </p:nvSpPr>
        <p:spPr>
          <a:xfrm>
            <a:off x="6336792" y="1801368"/>
            <a:ext cx="19568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Record after the first run</a:t>
            </a:r>
            <a:endParaRPr lang="en-US" sz="1000" dirty="0"/>
          </a:p>
        </p:txBody>
      </p:sp>
      <p:sp>
        <p:nvSpPr>
          <p:cNvPr id="32" name="Log field 1"/>
          <p:cNvSpPr/>
          <p:nvPr/>
        </p:nvSpPr>
        <p:spPr>
          <a:xfrm>
            <a:off x="6336792" y="2212848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Rows before</a:t>
            </a:r>
            <a:endParaRPr lang="en-US" sz="1050" dirty="0"/>
          </a:p>
        </p:txBody>
      </p:sp>
      <p:cxnSp>
        <p:nvCxnSpPr>
          <p:cNvPr id="33" name="Log blank 1"/>
          <p:cNvCxnSpPr/>
          <p:nvPr/>
        </p:nvCxnSpPr>
        <p:spPr>
          <a:xfrm>
            <a:off x="6336792" y="2633472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4" name="Log field 2"/>
          <p:cNvSpPr/>
          <p:nvPr/>
        </p:nvSpPr>
        <p:spPr>
          <a:xfrm>
            <a:off x="6336792" y="2743200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Rows after</a:t>
            </a:r>
            <a:endParaRPr lang="en-US" sz="1050" dirty="0"/>
          </a:p>
        </p:txBody>
      </p:sp>
      <p:cxnSp>
        <p:nvCxnSpPr>
          <p:cNvPr id="35" name="Log blank 2"/>
          <p:cNvCxnSpPr/>
          <p:nvPr/>
        </p:nvCxnSpPr>
        <p:spPr>
          <a:xfrm>
            <a:off x="6336792" y="3163824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6" name="Log field 3"/>
          <p:cNvSpPr/>
          <p:nvPr/>
        </p:nvSpPr>
        <p:spPr>
          <a:xfrm>
            <a:off x="6336792" y="3273552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Null cells</a:t>
            </a:r>
            <a:endParaRPr lang="en-US" sz="1050" dirty="0"/>
          </a:p>
        </p:txBody>
      </p:sp>
      <p:cxnSp>
        <p:nvCxnSpPr>
          <p:cNvPr id="37" name="Log blank 3"/>
          <p:cNvCxnSpPr/>
          <p:nvPr/>
        </p:nvCxnSpPr>
        <p:spPr>
          <a:xfrm>
            <a:off x="6336792" y="3694176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38" name="Log field 4"/>
          <p:cNvSpPr/>
          <p:nvPr/>
        </p:nvSpPr>
        <p:spPr>
          <a:xfrm>
            <a:off x="6336792" y="3803904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Duplicate rows</a:t>
            </a:r>
            <a:endParaRPr lang="en-US" sz="1050" dirty="0"/>
          </a:p>
        </p:txBody>
      </p:sp>
      <p:cxnSp>
        <p:nvCxnSpPr>
          <p:cNvPr id="39" name="Log blank 4"/>
          <p:cNvCxnSpPr/>
          <p:nvPr/>
        </p:nvCxnSpPr>
        <p:spPr>
          <a:xfrm>
            <a:off x="6336792" y="4224528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0" name="Log field 5"/>
          <p:cNvSpPr/>
          <p:nvPr/>
        </p:nvSpPr>
        <p:spPr>
          <a:xfrm>
            <a:off x="6336792" y="4334256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Orphan keys</a:t>
            </a:r>
            <a:endParaRPr lang="en-US" sz="1050" dirty="0"/>
          </a:p>
        </p:txBody>
      </p:sp>
      <p:cxnSp>
        <p:nvCxnSpPr>
          <p:cNvPr id="41" name="Log blank 5"/>
          <p:cNvCxnSpPr/>
          <p:nvPr/>
        </p:nvCxnSpPr>
        <p:spPr>
          <a:xfrm>
            <a:off x="6336792" y="4754880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2" name="Log field 6"/>
          <p:cNvSpPr/>
          <p:nvPr/>
        </p:nvSpPr>
        <p:spPr>
          <a:xfrm>
            <a:off x="6336792" y="4864608"/>
            <a:ext cx="19568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Audit timestamp</a:t>
            </a:r>
            <a:endParaRPr lang="en-US" sz="1050" dirty="0"/>
          </a:p>
        </p:txBody>
      </p:sp>
      <p:cxnSp>
        <p:nvCxnSpPr>
          <p:cNvPr id="43" name="Log blank 6"/>
          <p:cNvCxnSpPr/>
          <p:nvPr/>
        </p:nvCxnSpPr>
        <p:spPr>
          <a:xfrm>
            <a:off x="6336792" y="5285232"/>
            <a:ext cx="1956816" cy="0"/>
          </a:xfrm>
          <a:prstGeom prst="line">
            <a:avLst/>
          </a:prstGeom>
          <a:ln w="9525">
            <a:solidFill>
              <a:srgbClr val="9AA3B8"/>
            </a:solidFill>
          </a:ln>
        </p:spPr>
      </p:cxnSp>
      <p:sp>
        <p:nvSpPr>
          <p:cNvPr id="44" name="Source note"/>
          <p:cNvSpPr/>
          <p:nvPr/>
        </p:nvSpPr>
        <p:spPr>
          <a:xfrm>
            <a:off x="685800" y="5440680"/>
            <a:ext cx="52578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Record counts: published OULAD statistics.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2: Cleaned Feature Set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Raw signals become cleaned, cutoff-safe features, each with a reason to exist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19</a:t>
            </a:r>
            <a:endParaRPr lang="en-US" sz="900" dirty="0"/>
          </a:p>
        </p:txBody>
      </p:sp>
      <p:sp>
        <p:nvSpPr>
          <p:cNvPr id="25" name="Head 1"/>
          <p:cNvSpPr/>
          <p:nvPr/>
        </p:nvSpPr>
        <p:spPr>
          <a:xfrm>
            <a:off x="685800" y="137160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RAW SIGNAL</a:t>
            </a:r>
            <a:endParaRPr lang="en-US" sz="1000" dirty="0"/>
          </a:p>
        </p:txBody>
      </p:sp>
      <p:sp>
        <p:nvSpPr>
          <p:cNvPr id="26" name="Head 2"/>
          <p:cNvSpPr/>
          <p:nvPr/>
        </p:nvSpPr>
        <p:spPr>
          <a:xfrm>
            <a:off x="3337560" y="13716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CLEANED / AGGREGATED FEATURE</a:t>
            </a:r>
            <a:endParaRPr lang="en-US" sz="1000" dirty="0"/>
          </a:p>
        </p:txBody>
      </p:sp>
      <p:sp>
        <p:nvSpPr>
          <p:cNvPr id="27" name="Head 3"/>
          <p:cNvSpPr/>
          <p:nvPr/>
        </p:nvSpPr>
        <p:spPr>
          <a:xfrm>
            <a:off x="5943600" y="1371600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28" name="Raw 1"/>
          <p:cNvSpPr/>
          <p:nvPr/>
        </p:nvSpPr>
        <p:spPr>
          <a:xfrm>
            <a:off x="685800" y="1645920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Assessment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studentAssessment + assessments: score, due date, submission date</a:t>
            </a:r>
            <a:endParaRPr lang="en-US" sz="1000" dirty="0"/>
          </a:p>
        </p:txBody>
      </p:sp>
      <p:cxnSp>
        <p:nvCxnSpPr>
          <p:cNvPr id="29" name="Arrow 1"/>
          <p:cNvCxnSpPr/>
          <p:nvPr/>
        </p:nvCxnSpPr>
        <p:spPr>
          <a:xfrm>
            <a:off x="3026664" y="2011680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0" name="Features 1"/>
          <p:cNvSpPr/>
          <p:nvPr/>
        </p:nvSpPr>
        <p:spPr>
          <a:xfrm>
            <a:off x="3337560" y="1645920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assessment_mean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score_trend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late_ratio</a:t>
            </a:r>
            <a:endParaRPr lang="en-US" sz="1050" dirty="0"/>
          </a:p>
        </p:txBody>
      </p:sp>
      <p:sp>
        <p:nvSpPr>
          <p:cNvPr id="31" name="Why 1"/>
          <p:cNvSpPr/>
          <p:nvPr/>
        </p:nvSpPr>
        <p:spPr>
          <a:xfrm>
            <a:off x="5943600" y="1645920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Learning trajectory and execution risk</a:t>
            </a:r>
            <a:endParaRPr lang="en-US" sz="1100" dirty="0"/>
          </a:p>
        </p:txBody>
      </p:sp>
      <p:sp>
        <p:nvSpPr>
          <p:cNvPr id="32" name="Raw 2"/>
          <p:cNvSpPr/>
          <p:nvPr/>
        </p:nvSpPr>
        <p:spPr>
          <a:xfrm>
            <a:off x="685800" y="2459736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Engagement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studentVle: clicks per day per activity</a:t>
            </a:r>
            <a:endParaRPr lang="en-US" sz="1000" dirty="0"/>
          </a:p>
        </p:txBody>
      </p:sp>
      <p:cxnSp>
        <p:nvCxnSpPr>
          <p:cNvPr id="33" name="Arrow 2"/>
          <p:cNvCxnSpPr/>
          <p:nvPr/>
        </p:nvCxnSpPr>
        <p:spPr>
          <a:xfrm>
            <a:off x="3026664" y="2825496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4" name="Features 2"/>
          <p:cNvSpPr/>
          <p:nvPr/>
        </p:nvSpPr>
        <p:spPr>
          <a:xfrm>
            <a:off x="3337560" y="2459736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active_days_7d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events_14d</a:t>
            </a:r>
            <a:endParaRPr lang="en-US" sz="1050" dirty="0"/>
          </a:p>
        </p:txBody>
      </p:sp>
      <p:sp>
        <p:nvSpPr>
          <p:cNvPr id="35" name="Why 2"/>
          <p:cNvSpPr/>
          <p:nvPr/>
        </p:nvSpPr>
        <p:spPr>
          <a:xfrm>
            <a:off x="5943600" y="2459736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Recent participation and recency of study</a:t>
            </a:r>
            <a:endParaRPr lang="en-US" sz="1100" dirty="0"/>
          </a:p>
        </p:txBody>
      </p:sp>
      <p:sp>
        <p:nvSpPr>
          <p:cNvPr id="36" name="Raw 3"/>
          <p:cNvSpPr/>
          <p:nvPr/>
        </p:nvSpPr>
        <p:spPr>
          <a:xfrm>
            <a:off x="685800" y="3273552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Attendance-style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VLE session dates</a:t>
            </a:r>
            <a:endParaRPr lang="en-US" sz="1000" dirty="0"/>
          </a:p>
        </p:txBody>
      </p:sp>
      <p:cxnSp>
        <p:nvCxnSpPr>
          <p:cNvPr id="37" name="Arrow 3"/>
          <p:cNvCxnSpPr/>
          <p:nvPr/>
        </p:nvCxnSpPr>
        <p:spPr>
          <a:xfrm>
            <a:off x="3026664" y="3639312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38" name="Features 3"/>
          <p:cNvSpPr/>
          <p:nvPr/>
        </p:nvSpPr>
        <p:spPr>
          <a:xfrm>
            <a:off x="3337560" y="3273552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attendance_proxy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days_since_activity</a:t>
            </a:r>
            <a:endParaRPr lang="en-US" sz="1050" dirty="0"/>
          </a:p>
        </p:txBody>
      </p:sp>
      <p:sp>
        <p:nvSpPr>
          <p:cNvPr id="39" name="Why 3"/>
          <p:cNvSpPr/>
          <p:nvPr/>
        </p:nvSpPr>
        <p:spPr>
          <a:xfrm>
            <a:off x="5943600" y="3273552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Disengagement alert without overclaiming attendance</a:t>
            </a:r>
            <a:endParaRPr lang="en-US" sz="1100" dirty="0"/>
          </a:p>
        </p:txBody>
      </p:sp>
      <p:sp>
        <p:nvSpPr>
          <p:cNvPr id="40" name="Raw 4"/>
          <p:cNvSpPr/>
          <p:nvPr/>
        </p:nvSpPr>
        <p:spPr>
          <a:xfrm>
            <a:off x="685800" y="4087368"/>
            <a:ext cx="2286000" cy="73152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Context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studentInfo: prior attempts, credits, education, IMD band</a:t>
            </a:r>
            <a:endParaRPr lang="en-US" sz="1000" dirty="0"/>
          </a:p>
        </p:txBody>
      </p:sp>
      <p:cxnSp>
        <p:nvCxnSpPr>
          <p:cNvPr id="41" name="Arrow 4"/>
          <p:cNvCxnSpPr/>
          <p:nvPr/>
        </p:nvCxnSpPr>
        <p:spPr>
          <a:xfrm>
            <a:off x="3026664" y="4453128"/>
            <a:ext cx="256032" cy="0"/>
          </a:xfrm>
          <a:prstGeom prst="line">
            <a:avLst/>
          </a:prstGeom>
          <a:ln w="19050">
            <a:solidFill>
              <a:srgbClr val="1C3778"/>
            </a:solidFill>
            <a:tailEnd type="triangle" w="med" len="med"/>
          </a:ln>
        </p:spPr>
      </p:cxnSp>
      <p:sp>
        <p:nvSpPr>
          <p:cNvPr id="42" name="Features 4"/>
          <p:cNvSpPr/>
          <p:nvPr/>
        </p:nvSpPr>
        <p:spPr>
          <a:xfrm>
            <a:off x="3337560" y="4087368"/>
            <a:ext cx="2514600" cy="731520"/>
          </a:xfrm>
          <a:prstGeom prst="roundRect">
            <a:avLst>
              <a:gd name="adj" fmla="val 9000"/>
            </a:avLst>
          </a:prstGeom>
          <a:solidFill>
            <a:srgbClr val="1C3778"/>
          </a:solidFill>
          <a:ln>
            <a:noFill/>
          </a:ln>
        </p:spPr>
        <p:txBody>
          <a:bodyPr wrap="square" lIns="146304" tIns="36576" rIns="91440" bIns="36576" rtlCol="0" anchor="ctr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prev_attempts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studied_credits</a:t>
            </a:r>
            <a:endParaRPr lang="en-US" sz="1050" dirty="0"/>
          </a:p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encoded categoricals</a:t>
            </a:r>
            <a:endParaRPr lang="en-US" sz="1050" dirty="0"/>
          </a:p>
        </p:txBody>
      </p:sp>
      <p:sp>
        <p:nvSpPr>
          <p:cNvPr id="43" name="Why 4"/>
          <p:cNvSpPr/>
          <p:nvPr/>
        </p:nvSpPr>
        <p:spPr>
          <a:xfrm>
            <a:off x="5943600" y="4087368"/>
            <a:ext cx="2514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Baseline risk; missing IMD kept as a flag</a:t>
            </a:r>
            <a:endParaRPr lang="en-US" sz="1100" dirty="0"/>
          </a:p>
        </p:txBody>
      </p:sp>
      <p:sp>
        <p:nvSpPr>
          <p:cNvPr id="44" name="Dictionary strip"/>
          <p:cNvSpPr/>
          <p:nvPr/>
        </p:nvSpPr>
        <p:spPr>
          <a:xfrm>
            <a:off x="685800" y="5029200"/>
            <a:ext cx="77724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C3778"/>
            </a:solidFill>
          </a:ln>
        </p:spPr>
        <p:txBody>
          <a:bodyPr wrap="square" lIns="109728" tIns="91440" rIns="109728" bIns="9144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dictionary: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name · source table · cutoff window · type · missingness rule · rationale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 3: Leakage and Imbalance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model must see the past, not the answer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20</a:t>
            </a:r>
            <a:endParaRPr lang="en-US" sz="900" dirty="0"/>
          </a:p>
        </p:txBody>
      </p:sp>
      <p:sp>
        <p:nvSpPr>
          <p:cNvPr id="25" name="Feature window"/>
          <p:cNvSpPr/>
          <p:nvPr/>
        </p:nvSpPr>
        <p:spPr>
          <a:xfrm>
            <a:off x="685800" y="1481328"/>
            <a:ext cx="4434840" cy="457200"/>
          </a:xfrm>
          <a:prstGeom prst="rect">
            <a:avLst/>
          </a:prstGeom>
          <a:solidFill>
            <a:srgbClr val="1C3778"/>
          </a:solidFill>
          <a:ln>
            <a:noFill/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Feature window: data up to the cutoff</a:t>
            </a:r>
            <a:endParaRPr lang="en-US" sz="1100" dirty="0"/>
          </a:p>
        </p:txBody>
      </p:sp>
      <p:sp>
        <p:nvSpPr>
          <p:cNvPr id="26" name="Outcome window"/>
          <p:cNvSpPr/>
          <p:nvPr/>
        </p:nvSpPr>
        <p:spPr>
          <a:xfrm>
            <a:off x="5120640" y="1481328"/>
            <a:ext cx="3337560" cy="457200"/>
          </a:xfrm>
          <a:prstGeom prst="rect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Outcome window: held out</a:t>
            </a:r>
            <a:endParaRPr lang="en-US" sz="1100" dirty="0"/>
          </a:p>
        </p:txBody>
      </p:sp>
      <p:sp>
        <p:nvSpPr>
          <p:cNvPr id="27" name="Cutoff marker"/>
          <p:cNvSpPr/>
          <p:nvPr/>
        </p:nvSpPr>
        <p:spPr>
          <a:xfrm>
            <a:off x="5106924" y="1371600"/>
            <a:ext cx="27432" cy="6766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8" name="Course start"/>
          <p:cNvSpPr/>
          <p:nvPr/>
        </p:nvSpPr>
        <p:spPr>
          <a:xfrm>
            <a:off x="685800" y="20299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start</a:t>
            </a:r>
            <a:endParaRPr lang="en-US" sz="1000" dirty="0"/>
          </a:p>
        </p:txBody>
      </p:sp>
      <p:sp>
        <p:nvSpPr>
          <p:cNvPr id="29" name="Cutoff label"/>
          <p:cNvSpPr/>
          <p:nvPr/>
        </p:nvSpPr>
        <p:spPr>
          <a:xfrm>
            <a:off x="4114800" y="202996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Prediction cutoff</a:t>
            </a:r>
            <a:endParaRPr lang="en-US" sz="1000" dirty="0"/>
          </a:p>
        </p:txBody>
      </p:sp>
      <p:sp>
        <p:nvSpPr>
          <p:cNvPr id="30" name="Course end"/>
          <p:cNvSpPr/>
          <p:nvPr/>
        </p:nvSpPr>
        <p:spPr>
          <a:xfrm>
            <a:off x="6812280" y="20299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 end · final_result</a:t>
            </a:r>
            <a:endParaRPr lang="en-US" sz="1000" dirty="0"/>
          </a:p>
        </p:txBody>
      </p:sp>
      <p:sp>
        <p:nvSpPr>
          <p:cNvPr id="31" name="Leakage card"/>
          <p:cNvSpPr/>
          <p:nvPr/>
        </p:nvSpPr>
        <p:spPr>
          <a:xfrm>
            <a:off x="685800" y="2423160"/>
            <a:ext cx="3840480" cy="2990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2" name="Leakage title"/>
          <p:cNvSpPr/>
          <p:nvPr/>
        </p:nvSpPr>
        <p:spPr>
          <a:xfrm>
            <a:off x="850392" y="2551176"/>
            <a:ext cx="35112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Leakage checks</a:t>
            </a:r>
            <a:endParaRPr lang="en-US" sz="1300" dirty="0"/>
          </a:p>
        </p:txBody>
      </p:sp>
      <p:sp>
        <p:nvSpPr>
          <p:cNvPr id="33" name="Check 1"/>
          <p:cNvSpPr/>
          <p:nvPr/>
        </p:nvSpPr>
        <p:spPr>
          <a:xfrm>
            <a:off x="850392" y="2999232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Check text 1"/>
          <p:cNvSpPr/>
          <p:nvPr/>
        </p:nvSpPr>
        <p:spPr>
          <a:xfrm>
            <a:off x="1252728" y="295351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Target-derived fields removed (final_result, date_unregistration)</a:t>
            </a:r>
            <a:endParaRPr lang="en-US" sz="1100" dirty="0"/>
          </a:p>
        </p:txBody>
      </p:sp>
      <p:sp>
        <p:nvSpPr>
          <p:cNvPr id="35" name="Check 2"/>
          <p:cNvSpPr/>
          <p:nvPr/>
        </p:nvSpPr>
        <p:spPr>
          <a:xfrm>
            <a:off x="850392" y="3602736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Check text 2"/>
          <p:cNvSpPr/>
          <p:nvPr/>
        </p:nvSpPr>
        <p:spPr>
          <a:xfrm>
            <a:off x="1252728" y="3557016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 events after the cutoff are used</a:t>
            </a:r>
            <a:endParaRPr lang="en-US" sz="1100" dirty="0"/>
          </a:p>
        </p:txBody>
      </p:sp>
      <p:sp>
        <p:nvSpPr>
          <p:cNvPr id="37" name="Check 3"/>
          <p:cNvSpPr/>
          <p:nvPr/>
        </p:nvSpPr>
        <p:spPr>
          <a:xfrm>
            <a:off x="850392" y="4206240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Check text 3"/>
          <p:cNvSpPr/>
          <p:nvPr/>
        </p:nvSpPr>
        <p:spPr>
          <a:xfrm>
            <a:off x="1252728" y="41605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IDs are never used as predictors</a:t>
            </a:r>
            <a:endParaRPr lang="en-US" sz="1100" dirty="0"/>
          </a:p>
        </p:txBody>
      </p:sp>
      <p:sp>
        <p:nvSpPr>
          <p:cNvPr id="39" name="Check 4"/>
          <p:cNvSpPr/>
          <p:nvPr/>
        </p:nvSpPr>
        <p:spPr>
          <a:xfrm>
            <a:off x="850392" y="4809744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Check text 4"/>
          <p:cNvSpPr/>
          <p:nvPr/>
        </p:nvSpPr>
        <p:spPr>
          <a:xfrm>
            <a:off x="1252728" y="476402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student–course pair never sits in both train and test</a:t>
            </a:r>
            <a:endParaRPr lang="en-US" sz="1100" dirty="0"/>
          </a:p>
        </p:txBody>
      </p:sp>
      <p:sp>
        <p:nvSpPr>
          <p:cNvPr id="41" name="Distribution card"/>
          <p:cNvSpPr/>
          <p:nvPr/>
        </p:nvSpPr>
        <p:spPr>
          <a:xfrm>
            <a:off x="4709160" y="2423160"/>
            <a:ext cx="3749040" cy="2990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2" name="Distribution title"/>
          <p:cNvSpPr/>
          <p:nvPr/>
        </p:nvSpPr>
        <p:spPr>
          <a:xfrm>
            <a:off x="4873752" y="2551176"/>
            <a:ext cx="341985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Target distribution (final_result)</a:t>
            </a:r>
            <a:endParaRPr lang="en-US" sz="1300" dirty="0"/>
          </a:p>
        </p:txBody>
      </p:sp>
      <p:sp>
        <p:nvSpPr>
          <p:cNvPr id="43" name="Bar label 1"/>
          <p:cNvSpPr/>
          <p:nvPr/>
        </p:nvSpPr>
        <p:spPr>
          <a:xfrm>
            <a:off x="4873752" y="2971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Pass</a:t>
            </a:r>
            <a:endParaRPr lang="en-US" sz="1050" dirty="0"/>
          </a:p>
        </p:txBody>
      </p:sp>
      <p:sp>
        <p:nvSpPr>
          <p:cNvPr id="44" name="Bar 1"/>
          <p:cNvSpPr/>
          <p:nvPr/>
        </p:nvSpPr>
        <p:spPr>
          <a:xfrm>
            <a:off x="5806440" y="2999232"/>
            <a:ext cx="1545336" cy="219456"/>
          </a:xfrm>
          <a:prstGeom prst="rect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45" name="Bar value 1"/>
          <p:cNvSpPr/>
          <p:nvPr/>
        </p:nvSpPr>
        <p:spPr>
          <a:xfrm>
            <a:off x="7424928" y="29718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12,361  37.9%</a:t>
            </a:r>
            <a:endParaRPr lang="en-US" sz="950" dirty="0"/>
          </a:p>
        </p:txBody>
      </p:sp>
      <p:sp>
        <p:nvSpPr>
          <p:cNvPr id="46" name="Bar label 2"/>
          <p:cNvSpPr/>
          <p:nvPr/>
        </p:nvSpPr>
        <p:spPr>
          <a:xfrm>
            <a:off x="4873752" y="33375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Withdrawn</a:t>
            </a:r>
            <a:endParaRPr lang="en-US" sz="1050" dirty="0"/>
          </a:p>
        </p:txBody>
      </p:sp>
      <p:sp>
        <p:nvSpPr>
          <p:cNvPr id="47" name="Bar 2"/>
          <p:cNvSpPr/>
          <p:nvPr/>
        </p:nvSpPr>
        <p:spPr>
          <a:xfrm>
            <a:off x="5806440" y="3364992"/>
            <a:ext cx="1269673" cy="2194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48" name="Bar value 2"/>
          <p:cNvSpPr/>
          <p:nvPr/>
        </p:nvSpPr>
        <p:spPr>
          <a:xfrm>
            <a:off x="7149265" y="33375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10,156  31.2%</a:t>
            </a:r>
            <a:endParaRPr lang="en-US" sz="950" dirty="0"/>
          </a:p>
        </p:txBody>
      </p:sp>
      <p:sp>
        <p:nvSpPr>
          <p:cNvPr id="49" name="Bar label 3"/>
          <p:cNvSpPr/>
          <p:nvPr/>
        </p:nvSpPr>
        <p:spPr>
          <a:xfrm>
            <a:off x="4873752" y="37033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Fail</a:t>
            </a:r>
            <a:endParaRPr lang="en-US" sz="1050" dirty="0"/>
          </a:p>
        </p:txBody>
      </p:sp>
      <p:sp>
        <p:nvSpPr>
          <p:cNvPr id="50" name="Bar 3"/>
          <p:cNvSpPr/>
          <p:nvPr/>
        </p:nvSpPr>
        <p:spPr>
          <a:xfrm>
            <a:off x="5806440" y="3730752"/>
            <a:ext cx="881620" cy="219456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51" name="Bar value 3"/>
          <p:cNvSpPr/>
          <p:nvPr/>
        </p:nvSpPr>
        <p:spPr>
          <a:xfrm>
            <a:off x="6761212" y="3703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7,052  21.6%</a:t>
            </a:r>
            <a:endParaRPr lang="en-US" sz="950" dirty="0"/>
          </a:p>
        </p:txBody>
      </p:sp>
      <p:sp>
        <p:nvSpPr>
          <p:cNvPr id="52" name="Bar label 4"/>
          <p:cNvSpPr/>
          <p:nvPr/>
        </p:nvSpPr>
        <p:spPr>
          <a:xfrm>
            <a:off x="4873752" y="4069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Distinction</a:t>
            </a:r>
            <a:endParaRPr lang="en-US" sz="1050" dirty="0"/>
          </a:p>
        </p:txBody>
      </p:sp>
      <p:sp>
        <p:nvSpPr>
          <p:cNvPr id="53" name="Bar 4"/>
          <p:cNvSpPr/>
          <p:nvPr/>
        </p:nvSpPr>
        <p:spPr>
          <a:xfrm>
            <a:off x="5806440" y="4096512"/>
            <a:ext cx="378052" cy="219456"/>
          </a:xfrm>
          <a:prstGeom prst="rect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54" name="Bar value 4"/>
          <p:cNvSpPr/>
          <p:nvPr/>
        </p:nvSpPr>
        <p:spPr>
          <a:xfrm>
            <a:off x="6257644" y="40690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3,024  9.3%</a:t>
            </a:r>
            <a:endParaRPr lang="en-US" sz="950" dirty="0"/>
          </a:p>
        </p:txBody>
      </p:sp>
      <p:sp>
        <p:nvSpPr>
          <p:cNvPr id="55" name="At-risk callout"/>
          <p:cNvSpPr/>
          <p:nvPr/>
        </p:nvSpPr>
        <p:spPr>
          <a:xfrm>
            <a:off x="4873752" y="4480560"/>
            <a:ext cx="3419856" cy="365760"/>
          </a:xfrm>
          <a:prstGeom prst="roundRect">
            <a:avLst>
              <a:gd name="adj" fmla="val 20000"/>
            </a:avLst>
          </a:prstGeom>
          <a:solidFill>
            <a:srgbClr val="FBEDEF"/>
          </a:solidFill>
          <a:ln>
            <a:noFill/>
          </a:ln>
        </p:spPr>
        <p:txBody>
          <a:bodyPr wrap="square" lIns="109728" tIns="91440" rIns="109728" bIns="9144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At-risk = Fail + Withdrawn: </a:t>
            </a:r>
            <a:r>
              <a:rPr lang="en-US" sz="1000" b="1" dirty="0">
                <a:solidFill>
                  <a:srgbClr val="272525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17,208 (52.8%)</a:t>
            </a:r>
            <a:endParaRPr lang="en-US" sz="1000" dirty="0"/>
          </a:p>
        </p:txBody>
      </p:sp>
      <p:sp>
        <p:nvSpPr>
          <p:cNvPr id="56" name="Mitigation"/>
          <p:cNvSpPr/>
          <p:nvPr/>
        </p:nvSpPr>
        <p:spPr>
          <a:xfrm>
            <a:off x="4873752" y="4910328"/>
            <a:ext cx="341985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Mitigation: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stratified splits, class weights, threshold tuning; report recall and PR-AUC.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Literature base for the Acadex student-support project · IEEE and Springer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41</a:t>
            </a:r>
            <a:endParaRPr lang="en-US" sz="900" dirty="0"/>
          </a:p>
        </p:txBody>
      </p:sp>
      <p:sp>
        <p:nvSpPr>
          <p:cNvPr id="25" name="Reference card 1"/>
          <p:cNvSpPr/>
          <p:nvPr/>
        </p:nvSpPr>
        <p:spPr>
          <a:xfrm>
            <a:off x="685800" y="137160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Reference number 1"/>
          <p:cNvSpPr/>
          <p:nvPr/>
        </p:nvSpPr>
        <p:spPr>
          <a:xfrm>
            <a:off x="777240" y="146304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Reference text 1"/>
          <p:cNvSpPr/>
          <p:nvPr/>
        </p:nvSpPr>
        <p:spPr>
          <a:xfrm>
            <a:off x="1143000" y="142646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Cano &amp; Leonard.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“Interpretable Multiview Early Warning System Adapted to Underrepresented Student Populations.”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Learning Technologies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ieeexplore.ieee.org/document/8691619</a:t>
            </a:r>
            <a:endParaRPr lang="en-US" sz="800" dirty="0"/>
          </a:p>
        </p:txBody>
      </p:sp>
      <p:sp>
        <p:nvSpPr>
          <p:cNvPr id="28" name="Reference card 2"/>
          <p:cNvSpPr/>
          <p:nvPr/>
        </p:nvSpPr>
        <p:spPr>
          <a:xfrm>
            <a:off x="685800" y="237744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9" name="Reference number 2"/>
          <p:cNvSpPr/>
          <p:nvPr/>
        </p:nvSpPr>
        <p:spPr>
          <a:xfrm>
            <a:off x="777240" y="24688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Reference text 2"/>
          <p:cNvSpPr/>
          <p:nvPr/>
        </p:nvSpPr>
        <p:spPr>
          <a:xfrm>
            <a:off x="1143000" y="243230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Al-Shabandar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“Detecting At-Risk Students With Early Interventions Using Machine Learning Techniques.”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 · DOI 10.1109/ACCESS.2019.2943351</a:t>
            </a:r>
            <a:endParaRPr lang="en-US" sz="850" dirty="0"/>
          </a:p>
        </p:txBody>
      </p:sp>
      <p:sp>
        <p:nvSpPr>
          <p:cNvPr id="31" name="Reference card 3"/>
          <p:cNvSpPr/>
          <p:nvPr/>
        </p:nvSpPr>
        <p:spPr>
          <a:xfrm>
            <a:off x="685800" y="338328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2" name="Reference number 3"/>
          <p:cNvSpPr/>
          <p:nvPr/>
        </p:nvSpPr>
        <p:spPr>
          <a:xfrm>
            <a:off x="777240" y="347472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Reference text 3"/>
          <p:cNvSpPr/>
          <p:nvPr/>
        </p:nvSpPr>
        <p:spPr>
          <a:xfrm>
            <a:off x="1143000" y="343814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Zhao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“Academic Performance Prediction Based on Multisource, Multifeature Behavioral Data.”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ieeexplore.ieee.org/document/9118933</a:t>
            </a:r>
            <a:endParaRPr lang="en-US" sz="800" dirty="0"/>
          </a:p>
        </p:txBody>
      </p:sp>
      <p:sp>
        <p:nvSpPr>
          <p:cNvPr id="34" name="Reference card 4"/>
          <p:cNvSpPr/>
          <p:nvPr/>
        </p:nvSpPr>
        <p:spPr>
          <a:xfrm>
            <a:off x="685800" y="438912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5" name="Reference number 4"/>
          <p:cNvSpPr/>
          <p:nvPr/>
        </p:nvSpPr>
        <p:spPr>
          <a:xfrm>
            <a:off x="777240" y="448056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Reference text 4"/>
          <p:cNvSpPr/>
          <p:nvPr/>
        </p:nvSpPr>
        <p:spPr>
          <a:xfrm>
            <a:off x="1143000" y="44439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Cui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“Tri-Branch Convolutional Neural Networks for Top-k Focused Academic Performance Prediction.”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Neural Networks and Learning Systems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ieeexplore.ieee.org/document/9779126</a:t>
            </a:r>
            <a:endParaRPr lang="en-US" sz="800" dirty="0"/>
          </a:p>
        </p:txBody>
      </p:sp>
      <p:sp>
        <p:nvSpPr>
          <p:cNvPr id="37" name="Reference card 5"/>
          <p:cNvSpPr/>
          <p:nvPr/>
        </p:nvSpPr>
        <p:spPr>
          <a:xfrm>
            <a:off x="4663440" y="137160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Reference number 5"/>
          <p:cNvSpPr/>
          <p:nvPr/>
        </p:nvSpPr>
        <p:spPr>
          <a:xfrm>
            <a:off x="4754880" y="146304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Reference text 5"/>
          <p:cNvSpPr/>
          <p:nvPr/>
        </p:nvSpPr>
        <p:spPr>
          <a:xfrm>
            <a:off x="5120640" y="142646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Yanes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 Machine Learning-Based Recommender System for Improving Students Learning Experiences.”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Access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ieeexplore.ieee.org/document/9249379</a:t>
            </a:r>
            <a:endParaRPr lang="en-US" sz="800" dirty="0"/>
          </a:p>
        </p:txBody>
      </p:sp>
      <p:sp>
        <p:nvSpPr>
          <p:cNvPr id="40" name="Reference card 6"/>
          <p:cNvSpPr/>
          <p:nvPr/>
        </p:nvSpPr>
        <p:spPr>
          <a:xfrm>
            <a:off x="4663440" y="237744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1" name="Reference number 6"/>
          <p:cNvSpPr/>
          <p:nvPr/>
        </p:nvSpPr>
        <p:spPr>
          <a:xfrm>
            <a:off x="4754880" y="246888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Reference text 6"/>
          <p:cNvSpPr/>
          <p:nvPr/>
        </p:nvSpPr>
        <p:spPr>
          <a:xfrm>
            <a:off x="5120640" y="243230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Ma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“Learning Early Warning Guided by Course Objective Achievement via Knowledge State and Learning State Modeling.”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 Transactions on Computational Social Systems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ieeexplore.ieee.org/document/11387756</a:t>
            </a:r>
            <a:endParaRPr lang="en-US" sz="800" dirty="0"/>
          </a:p>
        </p:txBody>
      </p:sp>
      <p:sp>
        <p:nvSpPr>
          <p:cNvPr id="43" name="Reference card 7"/>
          <p:cNvSpPr/>
          <p:nvPr/>
        </p:nvSpPr>
        <p:spPr>
          <a:xfrm>
            <a:off x="4663440" y="338328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4" name="Reference number 7"/>
          <p:cNvSpPr/>
          <p:nvPr/>
        </p:nvSpPr>
        <p:spPr>
          <a:xfrm>
            <a:off x="4754880" y="347472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Reference text 7"/>
          <p:cNvSpPr/>
          <p:nvPr/>
        </p:nvSpPr>
        <p:spPr>
          <a:xfrm>
            <a:off x="5120640" y="343814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Kord, Aboelfetouh &amp; Shohieb.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“Academic course planning recommendation and students’ performance prediction multi-modal based on educational data mining techniques.”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J. Computing in Higher Education, Springer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link.springer.com/article/10.1007/s12528-024-09426-0</a:t>
            </a:r>
            <a:endParaRPr lang="en-US" sz="800" dirty="0"/>
          </a:p>
        </p:txBody>
      </p:sp>
      <p:sp>
        <p:nvSpPr>
          <p:cNvPr id="46" name="Reference card 8"/>
          <p:cNvSpPr/>
          <p:nvPr/>
        </p:nvSpPr>
        <p:spPr>
          <a:xfrm>
            <a:off x="4663440" y="4389120"/>
            <a:ext cx="3794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47" name="Reference number 8"/>
          <p:cNvSpPr/>
          <p:nvPr/>
        </p:nvSpPr>
        <p:spPr>
          <a:xfrm>
            <a:off x="4754880" y="4480560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8</a:t>
            </a:r>
            <a:endParaRPr lang="en-US" sz="1000" dirty="0"/>
          </a:p>
        </p:txBody>
      </p:sp>
      <p:sp>
        <p:nvSpPr>
          <p:cNvPr id="48" name="Reference text 8"/>
          <p:cNvSpPr/>
          <p:nvPr/>
        </p:nvSpPr>
        <p:spPr>
          <a:xfrm>
            <a:off x="5120640" y="44439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Alalawi et al. </a:t>
            </a:r>
            <a:r>
              <a:rPr lang="en-US" sz="8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“Evaluating the student performance prediction and action framework through a learning analytics intervention study.”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Education and Information Technologies, Springer</a:t>
            </a:r>
            <a:endParaRPr lang="en-US" sz="850" dirty="0"/>
          </a:p>
          <a:p>
            <a:pPr algn="l"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656A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link.springer.com/article/10.1007/s10639-024-12923-5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Project Objectives and Scope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Acadex sets out to do, and where it stops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21</a:t>
            </a:r>
            <a:endParaRPr lang="en-US" sz="900" dirty="0"/>
          </a:p>
        </p:txBody>
      </p:sp>
      <p:sp>
        <p:nvSpPr>
          <p:cNvPr id="25" name="Objective 1"/>
          <p:cNvSpPr/>
          <p:nvPr/>
        </p:nvSpPr>
        <p:spPr>
          <a:xfrm>
            <a:off x="685800" y="1371600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Objective number 1"/>
          <p:cNvSpPr/>
          <p:nvPr/>
        </p:nvSpPr>
        <p:spPr>
          <a:xfrm>
            <a:off x="795528" y="1508760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Objective text 1"/>
          <p:cNvSpPr/>
          <p:nvPr/>
        </p:nvSpPr>
        <p:spPr>
          <a:xfrm>
            <a:off x="1252728" y="1371600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Daily value: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Give students a reason to open the campus system every day.</a:t>
            </a:r>
            <a:endParaRPr lang="en-US" sz="1150" dirty="0"/>
          </a:p>
        </p:txBody>
      </p:sp>
      <p:sp>
        <p:nvSpPr>
          <p:cNvPr id="28" name="Objective 2"/>
          <p:cNvSpPr/>
          <p:nvPr/>
        </p:nvSpPr>
        <p:spPr>
          <a:xfrm>
            <a:off x="685800" y="2048256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9" name="Objective number 2"/>
          <p:cNvSpPr/>
          <p:nvPr/>
        </p:nvSpPr>
        <p:spPr>
          <a:xfrm>
            <a:off x="795528" y="2185416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Objective text 2"/>
          <p:cNvSpPr/>
          <p:nvPr/>
        </p:nvSpPr>
        <p:spPr>
          <a:xfrm>
            <a:off x="1252728" y="2048256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Learn smarter: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Faculty-backed doubts, smart notes and a study planner.</a:t>
            </a:r>
            <a:endParaRPr lang="en-US" sz="1150" dirty="0"/>
          </a:p>
        </p:txBody>
      </p:sp>
      <p:sp>
        <p:nvSpPr>
          <p:cNvPr id="31" name="Objective 3"/>
          <p:cNvSpPr/>
          <p:nvPr/>
        </p:nvSpPr>
        <p:spPr>
          <a:xfrm>
            <a:off x="685800" y="2724912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2" name="Objective number 3"/>
          <p:cNvSpPr/>
          <p:nvPr/>
        </p:nvSpPr>
        <p:spPr>
          <a:xfrm>
            <a:off x="795528" y="2862072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Objective text 3"/>
          <p:cNvSpPr/>
          <p:nvPr/>
        </p:nvSpPr>
        <p:spPr>
          <a:xfrm>
            <a:off x="1252728" y="2724912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Stay on track: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Explainable early warning from attendance, marks and deadlines.</a:t>
            </a:r>
            <a:endParaRPr lang="en-US" sz="1150" dirty="0"/>
          </a:p>
        </p:txBody>
      </p:sp>
      <p:sp>
        <p:nvSpPr>
          <p:cNvPr id="34" name="Objective 4"/>
          <p:cNvSpPr/>
          <p:nvPr/>
        </p:nvSpPr>
        <p:spPr>
          <a:xfrm>
            <a:off x="685800" y="3401568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5" name="Objective number 4"/>
          <p:cNvSpPr/>
          <p:nvPr/>
        </p:nvSpPr>
        <p:spPr>
          <a:xfrm>
            <a:off x="795528" y="3538728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Objective text 4"/>
          <p:cNvSpPr/>
          <p:nvPr/>
        </p:nvSpPr>
        <p:spPr>
          <a:xfrm>
            <a:off x="1252728" y="3401568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Get guidance: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Counselling, career guidance and senior–junior mentorship.</a:t>
            </a:r>
            <a:endParaRPr lang="en-US" sz="1150" dirty="0"/>
          </a:p>
        </p:txBody>
      </p:sp>
      <p:sp>
        <p:nvSpPr>
          <p:cNvPr id="37" name="Objective 5"/>
          <p:cNvSpPr/>
          <p:nvPr/>
        </p:nvSpPr>
        <p:spPr>
          <a:xfrm>
            <a:off x="685800" y="4078224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Objective number 5"/>
          <p:cNvSpPr/>
          <p:nvPr/>
        </p:nvSpPr>
        <p:spPr>
          <a:xfrm>
            <a:off x="795528" y="4215384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Objective text 5"/>
          <p:cNvSpPr/>
          <p:nvPr/>
        </p:nvSpPr>
        <p:spPr>
          <a:xfrm>
            <a:off x="1252728" y="4078224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Build together: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Community rooms and a project and idea hub.</a:t>
            </a:r>
            <a:endParaRPr lang="en-US" sz="1150" dirty="0"/>
          </a:p>
        </p:txBody>
      </p:sp>
      <p:sp>
        <p:nvSpPr>
          <p:cNvPr id="40" name="Objective 6"/>
          <p:cNvSpPr/>
          <p:nvPr/>
        </p:nvSpPr>
        <p:spPr>
          <a:xfrm>
            <a:off x="685800" y="4754880"/>
            <a:ext cx="4343400" cy="603504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1" name="Objective number 6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Objective text 6"/>
          <p:cNvSpPr/>
          <p:nvPr/>
        </p:nvSpPr>
        <p:spPr>
          <a:xfrm>
            <a:off x="1252728" y="4754880"/>
            <a:ext cx="3685032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Faster support: </a:t>
            </a: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help requests to the right department automatically.</a:t>
            </a:r>
            <a:endParaRPr lang="en-US" sz="1150" dirty="0"/>
          </a:p>
        </p:txBody>
      </p:sp>
      <p:sp>
        <p:nvSpPr>
          <p:cNvPr id="43" name="In scope"/>
          <p:cNvSpPr/>
          <p:nvPr/>
        </p:nvSpPr>
        <p:spPr>
          <a:xfrm>
            <a:off x="5212080" y="1371600"/>
            <a:ext cx="32461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3764F"/>
            </a:solidFill>
          </a:ln>
        </p:spPr>
        <p:txBody>
          <a:bodyPr wrap="square" lIns="137160" tIns="109728" rIns="109728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3764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 SCOPE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11 modules for students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Student, teacher and admin portals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Mobile-friendly web app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Risk model trained on OULAD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Reads attendance and marks from the college system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Analytics for staff and admins</a:t>
            </a:r>
            <a:endParaRPr lang="en-US" sz="1050" dirty="0"/>
          </a:p>
        </p:txBody>
      </p:sp>
      <p:sp>
        <p:nvSpPr>
          <p:cNvPr id="44" name="Out of scope"/>
          <p:cNvSpPr/>
          <p:nvPr/>
        </p:nvSpPr>
        <p:spPr>
          <a:xfrm>
            <a:off x="5212080" y="3767328"/>
            <a:ext cx="32461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41837"/>
            </a:solidFill>
          </a:ln>
        </p:spPr>
        <p:txBody>
          <a:bodyPr wrap="square" lIns="137160" tIns="109728" rIns="109728" bIns="54864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OUT OF SCOPE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Replacing fees, exams or placements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Native mobile apps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Live video calls</a:t>
            </a:r>
            <a:endParaRPr lang="en-US" sz="105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Production-scale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Stakeholders and User Roles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Three portals, each built around what that person needs to do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22</a:t>
            </a:r>
            <a:endParaRPr lang="en-US" sz="900" dirty="0"/>
          </a:p>
        </p:txBody>
      </p:sp>
      <p:sp>
        <p:nvSpPr>
          <p:cNvPr id="25" name="Role card 1"/>
          <p:cNvSpPr/>
          <p:nvPr/>
        </p:nvSpPr>
        <p:spPr>
          <a:xfrm>
            <a:off x="685800" y="137160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6" name="Role header 1"/>
          <p:cNvSpPr/>
          <p:nvPr/>
        </p:nvSpPr>
        <p:spPr>
          <a:xfrm>
            <a:off x="685800" y="1371600"/>
            <a:ext cx="2468880" cy="731520"/>
          </a:xfrm>
          <a:prstGeom prst="round2SameRect">
            <a:avLst>
              <a:gd name="adj" fmla="val 14000"/>
            </a:avLst>
          </a:prstGeom>
          <a:solidFill>
            <a:srgbClr val="1C3778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15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DE3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Learn, plan and get help</a:t>
            </a:r>
            <a:endParaRPr lang="en-US" sz="1050" dirty="0"/>
          </a:p>
        </p:txBody>
      </p:sp>
      <p:sp>
        <p:nvSpPr>
          <p:cNvPr id="27" name="Role actions 1"/>
          <p:cNvSpPr/>
          <p:nvPr/>
        </p:nvSpPr>
        <p:spPr>
          <a:xfrm>
            <a:off x="850392" y="2240280"/>
            <a:ext cx="2139696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faculty and search past doubts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Plan exams, track topics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 own performance and alerts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Seek guidance, join community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Get warned before exams</a:t>
            </a:r>
            <a:endParaRPr lang="en-US" sz="1100" dirty="0"/>
          </a:p>
        </p:txBody>
      </p:sp>
      <p:sp>
        <p:nvSpPr>
          <p:cNvPr id="28" name="Role card 2"/>
          <p:cNvSpPr/>
          <p:nvPr/>
        </p:nvSpPr>
        <p:spPr>
          <a:xfrm>
            <a:off x="3337560" y="137160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29" name="Role header 2"/>
          <p:cNvSpPr/>
          <p:nvPr/>
        </p:nvSpPr>
        <p:spPr>
          <a:xfrm>
            <a:off x="3337560" y="1371600"/>
            <a:ext cx="2468880" cy="731520"/>
          </a:xfrm>
          <a:prstGeom prst="round2SameRect">
            <a:avLst>
              <a:gd name="adj" fmla="val 14000"/>
            </a:avLst>
          </a:prstGeom>
          <a:solidFill>
            <a:srgbClr val="B41837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 / Mentor</a:t>
            </a:r>
            <a:endParaRPr lang="en-US" sz="15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DE3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Teach and support</a:t>
            </a:r>
            <a:endParaRPr lang="en-US" sz="1050" dirty="0"/>
          </a:p>
        </p:txBody>
      </p:sp>
      <p:sp>
        <p:nvSpPr>
          <p:cNvPr id="30" name="Role actions 2"/>
          <p:cNvSpPr/>
          <p:nvPr/>
        </p:nvSpPr>
        <p:spPr>
          <a:xfrm>
            <a:off x="3502152" y="2240280"/>
            <a:ext cx="2139696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Answer and verify doubts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 class performance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Act on at-risk students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projects, keep mentee notes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 class resources</a:t>
            </a:r>
            <a:endParaRPr lang="en-US" sz="1100" dirty="0"/>
          </a:p>
        </p:txBody>
      </p:sp>
      <p:sp>
        <p:nvSpPr>
          <p:cNvPr id="31" name="Role card 3"/>
          <p:cNvSpPr/>
          <p:nvPr/>
        </p:nvSpPr>
        <p:spPr>
          <a:xfrm>
            <a:off x="5989320" y="137160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</p:sp>
      <p:sp>
        <p:nvSpPr>
          <p:cNvPr id="32" name="Role header 3"/>
          <p:cNvSpPr/>
          <p:nvPr/>
        </p:nvSpPr>
        <p:spPr>
          <a:xfrm>
            <a:off x="5989320" y="1371600"/>
            <a:ext cx="2468880" cy="731520"/>
          </a:xfrm>
          <a:prstGeom prst="round2SameRect">
            <a:avLst>
              <a:gd name="adj" fmla="val 14000"/>
            </a:avLst>
          </a:prstGeom>
          <a:solidFill>
            <a:srgbClr val="1C3778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1500" dirty="0"/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DDE3F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Run and improve</a:t>
            </a:r>
            <a:endParaRPr lang="en-US" sz="1050" dirty="0"/>
          </a:p>
        </p:txBody>
      </p:sp>
      <p:sp>
        <p:nvSpPr>
          <p:cNvPr id="33" name="Role actions 3"/>
          <p:cNvSpPr/>
          <p:nvPr/>
        </p:nvSpPr>
        <p:spPr>
          <a:xfrm>
            <a:off x="6153912" y="2240280"/>
            <a:ext cx="2139696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Analytics dashboard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tickets to departments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Moderate the community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Manage users and alert rules</a:t>
            </a:r>
            <a:endParaRPr lang="en-US" sz="1100" dirty="0"/>
          </a:p>
          <a:p>
            <a:pPr algn="l" marL="171450" indent="-1714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Monitor model quality</a:t>
            </a:r>
            <a:endParaRPr lang="en-US" sz="1100" dirty="0"/>
          </a:p>
        </p:txBody>
      </p:sp>
      <p:sp>
        <p:nvSpPr>
          <p:cNvPr id="34" name="Also label"/>
          <p:cNvSpPr/>
          <p:nvPr/>
        </p:nvSpPr>
        <p:spPr>
          <a:xfrm>
            <a:off x="685800" y="448056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ALSO INVOLVED</a:t>
            </a:r>
            <a:endParaRPr lang="en-US" sz="1000" dirty="0"/>
          </a:p>
        </p:txBody>
      </p:sp>
      <p:sp>
        <p:nvSpPr>
          <p:cNvPr id="35" name="Secondary 1"/>
          <p:cNvSpPr/>
          <p:nvPr/>
        </p:nvSpPr>
        <p:spPr>
          <a:xfrm>
            <a:off x="685800" y="4736592"/>
            <a:ext cx="2468880" cy="640080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Counsellors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Handle booked sessions and follow-ups</a:t>
            </a:r>
            <a:endParaRPr lang="en-US" sz="1000" dirty="0"/>
          </a:p>
        </p:txBody>
      </p:sp>
      <p:sp>
        <p:nvSpPr>
          <p:cNvPr id="36" name="Secondary 2"/>
          <p:cNvSpPr/>
          <p:nvPr/>
        </p:nvSpPr>
        <p:spPr>
          <a:xfrm>
            <a:off x="3337560" y="4736592"/>
            <a:ext cx="2468880" cy="640080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Senior mentors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Answer college and career questions</a:t>
            </a:r>
            <a:endParaRPr lang="en-US" sz="1000" dirty="0"/>
          </a:p>
        </p:txBody>
      </p:sp>
      <p:sp>
        <p:nvSpPr>
          <p:cNvPr id="37" name="Secondary 3"/>
          <p:cNvSpPr/>
          <p:nvPr/>
        </p:nvSpPr>
        <p:spPr>
          <a:xfrm>
            <a:off x="5989320" y="4736592"/>
            <a:ext cx="2468880" cy="640080"/>
          </a:xfrm>
          <a:prstGeom prst="roundRect">
            <a:avLst>
              <a:gd name="adj" fmla="val 14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36576" rIns="91440" bIns="3657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Department staff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Resolve routed help tickets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Requirements: Student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a student must be able to do in each module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5" name="Student requirements"/>
          <p:cNvGraphicFramePr>
            <a:graphicFrameLocks noGrp="1"/>
          </p:cNvGraphicFramePr>
          <p:nvPr/>
        </p:nvGraphicFramePr>
        <p:xfrm>
          <a:off x="685800" y="1371600"/>
          <a:ext cx="7772400" cy="3895344"/>
        </p:xfrm>
        <a:graphic>
          <a:graphicData uri="http://schemas.openxmlformats.org/drawingml/2006/table">
            <a:tbl>
              <a:tblPr firstRow="1"/>
              <a:tblGrid>
                <a:gridCol w="640080"/>
                <a:gridCol w="466344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ID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Requirement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Module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FR-S1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Ask a chosen teacher a doubt and search past solutions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Faculty Doubt Desk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FR-S2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Upload notes and get a summary, key questions and MCQs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Smart Notes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FR-S3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Add exams; get an auto schedule and track topics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Study Planner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FR-S4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View attendance, marks and assignments with trends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Performance Analyzer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FR-S5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Receive alerts for low attendance and falling marks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Early Warning System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FR-S6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Raise a ticket routed to the right department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Help Center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FR-S7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Book a counselling session, optionally anonymous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Counselling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FR-S8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Get career paths, courses and a placement roadmap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Career Guidance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FR-S9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Ask seniors questions and rate mentors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Mentorship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FR-S10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Post, answer, vote and report in rooms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Community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FR-S11</a:t>
                      </a:r>
                      <a:endParaRPr lang="en-US" sz="95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Submit ideas, find teammates, track progress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Project &amp; Idea Hub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Requirements: Teacher and Admin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Tools that let staff act on what students need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24</a:t>
            </a:r>
            <a:endParaRPr lang="en-US" sz="900" dirty="0"/>
          </a:p>
        </p:txBody>
      </p:sp>
      <p:sp>
        <p:nvSpPr>
          <p:cNvPr id="25" name="Header TEACHER"/>
          <p:cNvSpPr/>
          <p:nvPr/>
        </p:nvSpPr>
        <p:spPr>
          <a:xfrm>
            <a:off x="685800" y="1371600"/>
            <a:ext cx="3794760" cy="365760"/>
          </a:xfrm>
          <a:prstGeom prst="round2SameRect">
            <a:avLst>
              <a:gd name="adj" fmla="val 25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1200" dirty="0"/>
          </a:p>
        </p:txBody>
      </p:sp>
      <p:sp>
        <p:nvSpPr>
          <p:cNvPr id="26" name="TEACHER row 1"/>
          <p:cNvSpPr/>
          <p:nvPr/>
        </p:nvSpPr>
        <p:spPr>
          <a:xfrm>
            <a:off x="685800" y="18105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FR-T1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Reply to doubts, mark solved, verify answers</a:t>
            </a:r>
            <a:endParaRPr lang="en-US" sz="1000" dirty="0"/>
          </a:p>
        </p:txBody>
      </p:sp>
      <p:sp>
        <p:nvSpPr>
          <p:cNvPr id="27" name="TEACHER row 2"/>
          <p:cNvSpPr/>
          <p:nvPr/>
        </p:nvSpPr>
        <p:spPr>
          <a:xfrm>
            <a:off x="685800" y="240487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FR-T2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 class resources</a:t>
            </a:r>
            <a:endParaRPr lang="en-US" sz="1000" dirty="0"/>
          </a:p>
        </p:txBody>
      </p:sp>
      <p:sp>
        <p:nvSpPr>
          <p:cNvPr id="28" name="TEACHER row 3"/>
          <p:cNvSpPr/>
          <p:nvPr/>
        </p:nvSpPr>
        <p:spPr>
          <a:xfrm>
            <a:off x="685800" y="299923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FR-T3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 class performance and a risk list with reasons</a:t>
            </a:r>
            <a:endParaRPr lang="en-US" sz="1000" dirty="0"/>
          </a:p>
        </p:txBody>
      </p:sp>
      <p:sp>
        <p:nvSpPr>
          <p:cNvPr id="29" name="TEACHER row 4"/>
          <p:cNvSpPr/>
          <p:nvPr/>
        </p:nvSpPr>
        <p:spPr>
          <a:xfrm>
            <a:off x="685800" y="359359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FR-T4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Log interventions and track outcomes</a:t>
            </a:r>
            <a:endParaRPr lang="en-US" sz="1000" dirty="0"/>
          </a:p>
        </p:txBody>
      </p:sp>
      <p:sp>
        <p:nvSpPr>
          <p:cNvPr id="30" name="TEACHER row 5"/>
          <p:cNvSpPr/>
          <p:nvPr/>
        </p:nvSpPr>
        <p:spPr>
          <a:xfrm>
            <a:off x="685800" y="418795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FR-T5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Keep private mentee notes and follow-ups</a:t>
            </a:r>
            <a:endParaRPr lang="en-US" sz="1000" dirty="0"/>
          </a:p>
        </p:txBody>
      </p:sp>
      <p:sp>
        <p:nvSpPr>
          <p:cNvPr id="31" name="TEACHER row 6"/>
          <p:cNvSpPr/>
          <p:nvPr/>
        </p:nvSpPr>
        <p:spPr>
          <a:xfrm>
            <a:off x="685800" y="47823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FR-T6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and approve project ideas</a:t>
            </a:r>
            <a:endParaRPr lang="en-US" sz="1000" dirty="0"/>
          </a:p>
        </p:txBody>
      </p:sp>
      <p:sp>
        <p:nvSpPr>
          <p:cNvPr id="32" name="Header ADMIN"/>
          <p:cNvSpPr/>
          <p:nvPr/>
        </p:nvSpPr>
        <p:spPr>
          <a:xfrm>
            <a:off x="4663440" y="1371600"/>
            <a:ext cx="3794760" cy="365760"/>
          </a:xfrm>
          <a:prstGeom prst="round2SameRect">
            <a:avLst>
              <a:gd name="adj" fmla="val 25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1200" dirty="0"/>
          </a:p>
        </p:txBody>
      </p:sp>
      <p:sp>
        <p:nvSpPr>
          <p:cNvPr id="33" name="ADMIN row 1"/>
          <p:cNvSpPr/>
          <p:nvPr/>
        </p:nvSpPr>
        <p:spPr>
          <a:xfrm>
            <a:off x="4663440" y="18105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FR-A1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Analytics dashboard for engagement, risk and tickets</a:t>
            </a:r>
            <a:endParaRPr lang="en-US" sz="1000" dirty="0"/>
          </a:p>
        </p:txBody>
      </p:sp>
      <p:sp>
        <p:nvSpPr>
          <p:cNvPr id="34" name="ADMIN row 2"/>
          <p:cNvSpPr/>
          <p:nvPr/>
        </p:nvSpPr>
        <p:spPr>
          <a:xfrm>
            <a:off x="4663440" y="240487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FR-A2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Monitor model quality over time</a:t>
            </a:r>
            <a:endParaRPr lang="en-US" sz="1000" dirty="0"/>
          </a:p>
        </p:txBody>
      </p:sp>
      <p:sp>
        <p:nvSpPr>
          <p:cNvPr id="35" name="ADMIN row 3"/>
          <p:cNvSpPr/>
          <p:nvPr/>
        </p:nvSpPr>
        <p:spPr>
          <a:xfrm>
            <a:off x="4663440" y="299923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FR-A3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and resolve help tickets</a:t>
            </a:r>
            <a:endParaRPr lang="en-US" sz="1000" dirty="0"/>
          </a:p>
        </p:txBody>
      </p:sp>
      <p:sp>
        <p:nvSpPr>
          <p:cNvPr id="36" name="ADMIN row 4"/>
          <p:cNvSpPr/>
          <p:nvPr/>
        </p:nvSpPr>
        <p:spPr>
          <a:xfrm>
            <a:off x="4663440" y="359359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FR-A4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Moderate reported community posts</a:t>
            </a:r>
            <a:endParaRPr lang="en-US" sz="1000" dirty="0"/>
          </a:p>
        </p:txBody>
      </p:sp>
      <p:sp>
        <p:nvSpPr>
          <p:cNvPr id="37" name="ADMIN row 5"/>
          <p:cNvSpPr/>
          <p:nvPr/>
        </p:nvSpPr>
        <p:spPr>
          <a:xfrm>
            <a:off x="4663440" y="418795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FR-A5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Manage users and roles</a:t>
            </a:r>
            <a:endParaRPr lang="en-US" sz="1000" dirty="0"/>
          </a:p>
        </p:txBody>
      </p:sp>
      <p:sp>
        <p:nvSpPr>
          <p:cNvPr id="38" name="ADMIN row 6"/>
          <p:cNvSpPr/>
          <p:nvPr/>
        </p:nvSpPr>
        <p:spPr>
          <a:xfrm>
            <a:off x="4663440" y="4782312"/>
            <a:ext cx="37947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7DAE1"/>
            </a:solidFill>
          </a:ln>
        </p:spPr>
        <p:txBody>
          <a:bodyPr wrap="square" lIns="128016" tIns="27432" rIns="91440" bIns="27432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FR-A6 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Configure alert thresholds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Quality targets the system is designed and tested against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25</a:t>
            </a:r>
            <a:endParaRPr lang="en-US" sz="900" dirty="0"/>
          </a:p>
        </p:txBody>
      </p:sp>
      <p:sp>
        <p:nvSpPr>
          <p:cNvPr id="25" name="NFR card 1"/>
          <p:cNvSpPr/>
          <p:nvPr/>
        </p:nvSpPr>
        <p:spPr>
          <a:xfrm>
            <a:off x="68580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NFR number 1"/>
          <p:cNvSpPr/>
          <p:nvPr/>
        </p:nvSpPr>
        <p:spPr>
          <a:xfrm>
            <a:off x="850392" y="1536192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NFR title 1"/>
          <p:cNvSpPr/>
          <p:nvPr/>
        </p:nvSpPr>
        <p:spPr>
          <a:xfrm>
            <a:off x="850392" y="202996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8" name="NFR text 1"/>
          <p:cNvSpPr/>
          <p:nvPr/>
        </p:nvSpPr>
        <p:spPr>
          <a:xfrm>
            <a:off x="850392" y="2377440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JWT login, role-based access, rate limits, no secrets in code.</a:t>
            </a:r>
            <a:endParaRPr lang="en-US" sz="1050" dirty="0"/>
          </a:p>
        </p:txBody>
      </p:sp>
      <p:sp>
        <p:nvSpPr>
          <p:cNvPr id="29" name="NFR card 2"/>
          <p:cNvSpPr/>
          <p:nvPr/>
        </p:nvSpPr>
        <p:spPr>
          <a:xfrm>
            <a:off x="333756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0" name="NFR number 2"/>
          <p:cNvSpPr/>
          <p:nvPr/>
        </p:nvSpPr>
        <p:spPr>
          <a:xfrm>
            <a:off x="3502152" y="1536192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NFR title 2"/>
          <p:cNvSpPr/>
          <p:nvPr/>
        </p:nvSpPr>
        <p:spPr>
          <a:xfrm>
            <a:off x="3502152" y="202996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Privacy</a:t>
            </a:r>
            <a:endParaRPr lang="en-US" sz="1400" dirty="0"/>
          </a:p>
        </p:txBody>
      </p:sp>
      <p:sp>
        <p:nvSpPr>
          <p:cNvPr id="32" name="NFR text 2"/>
          <p:cNvSpPr/>
          <p:nvPr/>
        </p:nvSpPr>
        <p:spPr>
          <a:xfrm>
            <a:off x="3502152" y="2377440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Minimum necessary data. Anonymous options. Risk scores visible only to the student and their mentor.</a:t>
            </a:r>
            <a:endParaRPr lang="en-US" sz="1050" dirty="0"/>
          </a:p>
        </p:txBody>
      </p:sp>
      <p:sp>
        <p:nvSpPr>
          <p:cNvPr id="33" name="NFR card 3"/>
          <p:cNvSpPr/>
          <p:nvPr/>
        </p:nvSpPr>
        <p:spPr>
          <a:xfrm>
            <a:off x="5989320" y="1371600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4" name="NFR number 3"/>
          <p:cNvSpPr/>
          <p:nvPr/>
        </p:nvSpPr>
        <p:spPr>
          <a:xfrm>
            <a:off x="6153912" y="1536192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NFR title 3"/>
          <p:cNvSpPr/>
          <p:nvPr/>
        </p:nvSpPr>
        <p:spPr>
          <a:xfrm>
            <a:off x="6153912" y="202996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36" name="NFR text 3"/>
          <p:cNvSpPr/>
          <p:nvPr/>
        </p:nvSpPr>
        <p:spPr>
          <a:xfrm>
            <a:off x="6153912" y="2377440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List pages use a constant number of queries. Target: pages usable in under 2 seconds.</a:t>
            </a:r>
            <a:endParaRPr lang="en-US" sz="1050" dirty="0"/>
          </a:p>
        </p:txBody>
      </p:sp>
      <p:sp>
        <p:nvSpPr>
          <p:cNvPr id="37" name="NFR card 4"/>
          <p:cNvSpPr/>
          <p:nvPr/>
        </p:nvSpPr>
        <p:spPr>
          <a:xfrm>
            <a:off x="68580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NFR number 4"/>
          <p:cNvSpPr/>
          <p:nvPr/>
        </p:nvSpPr>
        <p:spPr>
          <a:xfrm>
            <a:off x="850392" y="3566160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NFR title 4"/>
          <p:cNvSpPr/>
          <p:nvPr/>
        </p:nvSpPr>
        <p:spPr>
          <a:xfrm>
            <a:off x="850392" y="4059936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40" name="NFR text 4"/>
          <p:cNvSpPr/>
          <p:nvPr/>
        </p:nvSpPr>
        <p:spPr>
          <a:xfrm>
            <a:off x="850392" y="4407408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Mobile-friendly, same look and feel as the college portal, minimal training.</a:t>
            </a:r>
            <a:endParaRPr lang="en-US" sz="1050" dirty="0"/>
          </a:p>
        </p:txBody>
      </p:sp>
      <p:sp>
        <p:nvSpPr>
          <p:cNvPr id="41" name="NFR card 5"/>
          <p:cNvSpPr/>
          <p:nvPr/>
        </p:nvSpPr>
        <p:spPr>
          <a:xfrm>
            <a:off x="333756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2" name="NFR number 5"/>
          <p:cNvSpPr/>
          <p:nvPr/>
        </p:nvSpPr>
        <p:spPr>
          <a:xfrm>
            <a:off x="3502152" y="3566160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</a:t>
            </a:r>
            <a:endParaRPr lang="en-US" sz="1400" dirty="0"/>
          </a:p>
        </p:txBody>
      </p:sp>
      <p:sp>
        <p:nvSpPr>
          <p:cNvPr id="43" name="NFR title 5"/>
          <p:cNvSpPr/>
          <p:nvPr/>
        </p:nvSpPr>
        <p:spPr>
          <a:xfrm>
            <a:off x="3502152" y="4059936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44" name="NFR text 5"/>
          <p:cNvSpPr/>
          <p:nvPr/>
        </p:nvSpPr>
        <p:spPr>
          <a:xfrm>
            <a:off x="3502152" y="4407408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Stateless API, Redis cache and PostgreSQL so it can grow with the campus.</a:t>
            </a:r>
            <a:endParaRPr lang="en-US" sz="1050" dirty="0"/>
          </a:p>
        </p:txBody>
      </p:sp>
      <p:sp>
        <p:nvSpPr>
          <p:cNvPr id="45" name="NFR card 6"/>
          <p:cNvSpPr/>
          <p:nvPr/>
        </p:nvSpPr>
        <p:spPr>
          <a:xfrm>
            <a:off x="5989320" y="3401568"/>
            <a:ext cx="2468880" cy="190195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6" name="NFR number 6"/>
          <p:cNvSpPr/>
          <p:nvPr/>
        </p:nvSpPr>
        <p:spPr>
          <a:xfrm>
            <a:off x="6153912" y="3566160"/>
            <a:ext cx="384048" cy="384048"/>
          </a:xfrm>
          <a:prstGeom prst="ellipse">
            <a:avLst/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NFR title 6"/>
          <p:cNvSpPr/>
          <p:nvPr/>
        </p:nvSpPr>
        <p:spPr>
          <a:xfrm>
            <a:off x="6153912" y="4059936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Maintainability</a:t>
            </a:r>
            <a:endParaRPr lang="en-US" sz="1400" dirty="0"/>
          </a:p>
        </p:txBody>
      </p:sp>
      <p:sp>
        <p:nvSpPr>
          <p:cNvPr id="48" name="NFR text 6"/>
          <p:cNvSpPr/>
          <p:nvPr/>
        </p:nvSpPr>
        <p:spPr>
          <a:xfrm>
            <a:off x="6153912" y="4407408"/>
            <a:ext cx="213969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Modular services, automated tests and an API schema for every endpoint.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Use-Case Diagram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Who does what inside Acadex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26</a:t>
            </a:r>
            <a:endParaRPr lang="en-US" sz="900" dirty="0"/>
          </a:p>
        </p:txBody>
      </p:sp>
      <p:sp>
        <p:nvSpPr>
          <p:cNvPr id="25" name="System boundary"/>
          <p:cNvSpPr/>
          <p:nvPr/>
        </p:nvSpPr>
        <p:spPr>
          <a:xfrm>
            <a:off x="2103120" y="1371600"/>
            <a:ext cx="50292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1C3778"/>
            </a:solidFill>
          </a:ln>
        </p:spPr>
      </p:sp>
      <p:sp>
        <p:nvSpPr>
          <p:cNvPr id="26" name="System label"/>
          <p:cNvSpPr/>
          <p:nvPr/>
        </p:nvSpPr>
        <p:spPr>
          <a:xfrm>
            <a:off x="2240280" y="14447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system</a:t>
            </a:r>
            <a:endParaRPr lang="en-US" sz="1050" dirty="0"/>
          </a:p>
        </p:txBody>
      </p:sp>
      <p:sp>
        <p:nvSpPr>
          <p:cNvPr id="27" name="Use case S1"/>
          <p:cNvSpPr/>
          <p:nvPr/>
        </p:nvSpPr>
        <p:spPr>
          <a:xfrm>
            <a:off x="2286000" y="1828800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Ask a doubt</a:t>
            </a:r>
            <a:endParaRPr lang="en-US" sz="1050" dirty="0"/>
          </a:p>
        </p:txBody>
      </p:sp>
      <p:sp>
        <p:nvSpPr>
          <p:cNvPr id="28" name="Use case S2"/>
          <p:cNvSpPr/>
          <p:nvPr/>
        </p:nvSpPr>
        <p:spPr>
          <a:xfrm>
            <a:off x="2286000" y="2432304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Upload notes</a:t>
            </a:r>
            <a:endParaRPr lang="en-US" sz="1050" dirty="0"/>
          </a:p>
        </p:txBody>
      </p:sp>
      <p:sp>
        <p:nvSpPr>
          <p:cNvPr id="29" name="Use case S3"/>
          <p:cNvSpPr/>
          <p:nvPr/>
        </p:nvSpPr>
        <p:spPr>
          <a:xfrm>
            <a:off x="2286000" y="3035808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Plan studies</a:t>
            </a:r>
            <a:endParaRPr lang="en-US" sz="1050" dirty="0"/>
          </a:p>
        </p:txBody>
      </p:sp>
      <p:sp>
        <p:nvSpPr>
          <p:cNvPr id="30" name="Use case S4"/>
          <p:cNvSpPr/>
          <p:nvPr/>
        </p:nvSpPr>
        <p:spPr>
          <a:xfrm>
            <a:off x="2286000" y="3639312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performance</a:t>
            </a:r>
            <a:endParaRPr lang="en-US" sz="1050" dirty="0"/>
          </a:p>
        </p:txBody>
      </p:sp>
      <p:sp>
        <p:nvSpPr>
          <p:cNvPr id="31" name="Use case S5"/>
          <p:cNvSpPr/>
          <p:nvPr/>
        </p:nvSpPr>
        <p:spPr>
          <a:xfrm>
            <a:off x="2286000" y="4242816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Book counselling</a:t>
            </a:r>
            <a:endParaRPr lang="en-US" sz="1050" dirty="0"/>
          </a:p>
        </p:txBody>
      </p:sp>
      <p:sp>
        <p:nvSpPr>
          <p:cNvPr id="32" name="Use case S6"/>
          <p:cNvSpPr/>
          <p:nvPr/>
        </p:nvSpPr>
        <p:spPr>
          <a:xfrm>
            <a:off x="2286000" y="4846320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Join community</a:t>
            </a:r>
            <a:endParaRPr lang="en-US" sz="1050" dirty="0"/>
          </a:p>
        </p:txBody>
      </p:sp>
      <p:sp>
        <p:nvSpPr>
          <p:cNvPr id="33" name="Use case T1"/>
          <p:cNvSpPr/>
          <p:nvPr/>
        </p:nvSpPr>
        <p:spPr>
          <a:xfrm>
            <a:off x="4754880" y="1828800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Answer doubts</a:t>
            </a:r>
            <a:endParaRPr lang="en-US" sz="1050" dirty="0"/>
          </a:p>
        </p:txBody>
      </p:sp>
      <p:sp>
        <p:nvSpPr>
          <p:cNvPr id="34" name="Use case T2"/>
          <p:cNvSpPr/>
          <p:nvPr/>
        </p:nvSpPr>
        <p:spPr>
          <a:xfrm>
            <a:off x="4754880" y="2432304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class risk list</a:t>
            </a:r>
            <a:endParaRPr lang="en-US" sz="1050" dirty="0"/>
          </a:p>
        </p:txBody>
      </p:sp>
      <p:sp>
        <p:nvSpPr>
          <p:cNvPr id="35" name="Use case T3"/>
          <p:cNvSpPr/>
          <p:nvPr/>
        </p:nvSpPr>
        <p:spPr>
          <a:xfrm>
            <a:off x="4754880" y="3035808"/>
            <a:ext cx="2194560" cy="457200"/>
          </a:xfrm>
          <a:prstGeom prst="ellipse">
            <a:avLst/>
          </a:prstGeom>
          <a:solidFill>
            <a:srgbClr val="EEF1F8"/>
          </a:solidFill>
          <a:ln w="9525">
            <a:solidFill>
              <a:srgbClr val="1C3778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1C377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Log intervention</a:t>
            </a:r>
            <a:endParaRPr lang="en-US" sz="1050" dirty="0"/>
          </a:p>
        </p:txBody>
      </p:sp>
      <p:sp>
        <p:nvSpPr>
          <p:cNvPr id="36" name="Use case T4"/>
          <p:cNvSpPr/>
          <p:nvPr/>
        </p:nvSpPr>
        <p:spPr>
          <a:xfrm>
            <a:off x="4754880" y="3639312"/>
            <a:ext cx="2194560" cy="457200"/>
          </a:xfrm>
          <a:prstGeom prst="ellipse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B418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 tickets</a:t>
            </a:r>
            <a:endParaRPr lang="en-US" sz="1050" dirty="0"/>
          </a:p>
        </p:txBody>
      </p:sp>
      <p:sp>
        <p:nvSpPr>
          <p:cNvPr id="37" name="Use case T5"/>
          <p:cNvSpPr/>
          <p:nvPr/>
        </p:nvSpPr>
        <p:spPr>
          <a:xfrm>
            <a:off x="4754880" y="4242816"/>
            <a:ext cx="2194560" cy="457200"/>
          </a:xfrm>
          <a:prstGeom prst="ellipse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B418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Moderate posts</a:t>
            </a:r>
            <a:endParaRPr lang="en-US" sz="1050" dirty="0"/>
          </a:p>
        </p:txBody>
      </p:sp>
      <p:sp>
        <p:nvSpPr>
          <p:cNvPr id="38" name="Use case T6"/>
          <p:cNvSpPr/>
          <p:nvPr/>
        </p:nvSpPr>
        <p:spPr>
          <a:xfrm>
            <a:off x="4754880" y="4846320"/>
            <a:ext cx="2194560" cy="457200"/>
          </a:xfrm>
          <a:prstGeom prst="ellipse">
            <a:avLst/>
          </a:prstGeom>
          <a:solidFill>
            <a:srgbClr val="FBEDEF"/>
          </a:solidFill>
          <a:ln w="9525">
            <a:solidFill>
              <a:srgbClr val="B41837"/>
            </a:solidFill>
          </a:ln>
        </p:spPr>
        <p:txBody>
          <a:bodyPr wrap="square" lIns="45720" tIns="0" rIns="4572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B4183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analytics</a:t>
            </a:r>
            <a:endParaRPr lang="en-US" sz="1050" dirty="0"/>
          </a:p>
        </p:txBody>
      </p:sp>
      <p:cxnSp>
        <p:nvCxnSpPr>
          <p:cNvPr id="39" name="Student link 1"/>
          <p:cNvCxnSpPr/>
          <p:nvPr/>
        </p:nvCxnSpPr>
        <p:spPr>
          <a:xfrm flipV="1">
            <a:off x="1463040" y="2057400"/>
            <a:ext cx="841248" cy="1234440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0" name="Student link 2"/>
          <p:cNvCxnSpPr/>
          <p:nvPr/>
        </p:nvCxnSpPr>
        <p:spPr>
          <a:xfrm flipV="1">
            <a:off x="1463040" y="2660904"/>
            <a:ext cx="841248" cy="630936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1" name="Student link 3"/>
          <p:cNvCxnSpPr/>
          <p:nvPr/>
        </p:nvCxnSpPr>
        <p:spPr>
          <a:xfrm flipV="1">
            <a:off x="1463040" y="3264408"/>
            <a:ext cx="841248" cy="27432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2" name="Student link 4"/>
          <p:cNvCxnSpPr/>
          <p:nvPr/>
        </p:nvCxnSpPr>
        <p:spPr>
          <a:xfrm>
            <a:off x="1463040" y="3291840"/>
            <a:ext cx="841248" cy="576072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3" name="Student link 5"/>
          <p:cNvCxnSpPr/>
          <p:nvPr/>
        </p:nvCxnSpPr>
        <p:spPr>
          <a:xfrm>
            <a:off x="1463040" y="3291840"/>
            <a:ext cx="841248" cy="1179576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4" name="Student link 6"/>
          <p:cNvCxnSpPr/>
          <p:nvPr/>
        </p:nvCxnSpPr>
        <p:spPr>
          <a:xfrm>
            <a:off x="1463040" y="3291840"/>
            <a:ext cx="841248" cy="1783080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5" name="Teacher link 1"/>
          <p:cNvCxnSpPr/>
          <p:nvPr/>
        </p:nvCxnSpPr>
        <p:spPr>
          <a:xfrm flipH="1" flipV="1">
            <a:off x="6931152" y="2057400"/>
            <a:ext cx="658368" cy="182880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6" name="Teacher link 2"/>
          <p:cNvCxnSpPr/>
          <p:nvPr/>
        </p:nvCxnSpPr>
        <p:spPr>
          <a:xfrm flipH="1">
            <a:off x="6931152" y="2240280"/>
            <a:ext cx="658368" cy="420624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7" name="Teacher link 3"/>
          <p:cNvCxnSpPr/>
          <p:nvPr/>
        </p:nvCxnSpPr>
        <p:spPr>
          <a:xfrm flipH="1">
            <a:off x="6931152" y="2240280"/>
            <a:ext cx="658368" cy="1024128"/>
          </a:xfrm>
          <a:prstGeom prst="line">
            <a:avLst/>
          </a:prstGeom>
          <a:ln w="9525">
            <a:solidFill>
              <a:srgbClr val="8A94B8"/>
            </a:solidFill>
          </a:ln>
        </p:spPr>
      </p:cxnSp>
      <p:cxnSp>
        <p:nvCxnSpPr>
          <p:cNvPr id="48" name="Admin link 4"/>
          <p:cNvCxnSpPr/>
          <p:nvPr/>
        </p:nvCxnSpPr>
        <p:spPr>
          <a:xfrm flipH="1" flipV="1">
            <a:off x="6931152" y="3867912"/>
            <a:ext cx="658368" cy="429768"/>
          </a:xfrm>
          <a:prstGeom prst="line">
            <a:avLst/>
          </a:prstGeom>
          <a:ln w="9525">
            <a:solidFill>
              <a:srgbClr val="B87A85"/>
            </a:solidFill>
          </a:ln>
        </p:spPr>
      </p:cxnSp>
      <p:cxnSp>
        <p:nvCxnSpPr>
          <p:cNvPr id="49" name="Admin link 5"/>
          <p:cNvCxnSpPr/>
          <p:nvPr/>
        </p:nvCxnSpPr>
        <p:spPr>
          <a:xfrm flipH="1">
            <a:off x="6931152" y="4297680"/>
            <a:ext cx="658368" cy="173736"/>
          </a:xfrm>
          <a:prstGeom prst="line">
            <a:avLst/>
          </a:prstGeom>
          <a:ln w="9525">
            <a:solidFill>
              <a:srgbClr val="B87A85"/>
            </a:solidFill>
          </a:ln>
        </p:spPr>
      </p:cxnSp>
      <p:cxnSp>
        <p:nvCxnSpPr>
          <p:cNvPr id="50" name="Admin link 6"/>
          <p:cNvCxnSpPr/>
          <p:nvPr/>
        </p:nvCxnSpPr>
        <p:spPr>
          <a:xfrm flipH="1">
            <a:off x="6931152" y="4297680"/>
            <a:ext cx="658368" cy="777240"/>
          </a:xfrm>
          <a:prstGeom prst="line">
            <a:avLst/>
          </a:prstGeom>
          <a:ln w="9525">
            <a:solidFill>
              <a:srgbClr val="B87A85"/>
            </a:solidFill>
          </a:ln>
        </p:spPr>
      </p:cxnSp>
      <p:sp>
        <p:nvSpPr>
          <p:cNvPr id="51" name="Student head"/>
          <p:cNvSpPr/>
          <p:nvPr/>
        </p:nvSpPr>
        <p:spPr>
          <a:xfrm>
            <a:off x="1033272" y="2926080"/>
            <a:ext cx="310896" cy="310896"/>
          </a:xfrm>
          <a:prstGeom prst="ellipse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52" name="Student body"/>
          <p:cNvSpPr/>
          <p:nvPr/>
        </p:nvSpPr>
        <p:spPr>
          <a:xfrm>
            <a:off x="932688" y="3273552"/>
            <a:ext cx="512064" cy="457200"/>
          </a:xfrm>
          <a:prstGeom prst="round2SameRect">
            <a:avLst>
              <a:gd name="adj" fmla="val 40000"/>
            </a:avLst>
          </a:prstGeom>
          <a:solidFill>
            <a:srgbClr val="1C3778"/>
          </a:solidFill>
          <a:ln>
            <a:noFill/>
          </a:ln>
        </p:spPr>
      </p:sp>
      <p:sp>
        <p:nvSpPr>
          <p:cNvPr id="53" name="Student label"/>
          <p:cNvSpPr/>
          <p:nvPr/>
        </p:nvSpPr>
        <p:spPr>
          <a:xfrm>
            <a:off x="548640" y="379476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1100" dirty="0"/>
          </a:p>
        </p:txBody>
      </p:sp>
      <p:sp>
        <p:nvSpPr>
          <p:cNvPr id="54" name="Teacher head"/>
          <p:cNvSpPr/>
          <p:nvPr/>
        </p:nvSpPr>
        <p:spPr>
          <a:xfrm>
            <a:off x="7708392" y="1874520"/>
            <a:ext cx="310896" cy="310896"/>
          </a:xfrm>
          <a:prstGeom prst="ellipse">
            <a:avLst/>
          </a:prstGeom>
          <a:solidFill>
            <a:srgbClr val="1C3778"/>
          </a:solidFill>
          <a:ln>
            <a:noFill/>
          </a:ln>
        </p:spPr>
      </p:sp>
      <p:sp>
        <p:nvSpPr>
          <p:cNvPr id="55" name="Teacher body"/>
          <p:cNvSpPr/>
          <p:nvPr/>
        </p:nvSpPr>
        <p:spPr>
          <a:xfrm>
            <a:off x="7607808" y="2221992"/>
            <a:ext cx="512064" cy="457200"/>
          </a:xfrm>
          <a:prstGeom prst="round2SameRect">
            <a:avLst>
              <a:gd name="adj" fmla="val 40000"/>
            </a:avLst>
          </a:prstGeom>
          <a:solidFill>
            <a:srgbClr val="1C3778"/>
          </a:solidFill>
          <a:ln>
            <a:noFill/>
          </a:ln>
        </p:spPr>
      </p:sp>
      <p:sp>
        <p:nvSpPr>
          <p:cNvPr id="56" name="Teacher label"/>
          <p:cNvSpPr/>
          <p:nvPr/>
        </p:nvSpPr>
        <p:spPr>
          <a:xfrm>
            <a:off x="7223760" y="27432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1100" dirty="0"/>
          </a:p>
        </p:txBody>
      </p:sp>
      <p:sp>
        <p:nvSpPr>
          <p:cNvPr id="57" name="Admin head"/>
          <p:cNvSpPr/>
          <p:nvPr/>
        </p:nvSpPr>
        <p:spPr>
          <a:xfrm>
            <a:off x="7708392" y="3931920"/>
            <a:ext cx="310896" cy="310896"/>
          </a:xfrm>
          <a:prstGeom prst="ellipse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58" name="Admin body"/>
          <p:cNvSpPr/>
          <p:nvPr/>
        </p:nvSpPr>
        <p:spPr>
          <a:xfrm>
            <a:off x="7607808" y="4279392"/>
            <a:ext cx="512064" cy="457200"/>
          </a:xfrm>
          <a:prstGeom prst="round2SameRect">
            <a:avLst>
              <a:gd name="adj" fmla="val 40000"/>
            </a:avLst>
          </a:prstGeom>
          <a:solidFill>
            <a:srgbClr val="B41837"/>
          </a:solidFill>
          <a:ln>
            <a:noFill/>
          </a:ln>
        </p:spPr>
      </p:sp>
      <p:sp>
        <p:nvSpPr>
          <p:cNvPr id="59" name="Admin label"/>
          <p:cNvSpPr/>
          <p:nvPr/>
        </p:nvSpPr>
        <p:spPr>
          <a:xfrm>
            <a:off x="7223760" y="48006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User Stories and Criteria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Each story is complete only when its acceptance test passes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27</a:t>
            </a:r>
            <a:endParaRPr lang="en-US" sz="900" dirty="0"/>
          </a:p>
        </p:txBody>
      </p:sp>
      <p:sp>
        <p:nvSpPr>
          <p:cNvPr id="25" name="Story 1"/>
          <p:cNvSpPr/>
          <p:nvPr/>
        </p:nvSpPr>
        <p:spPr>
          <a:xfrm>
            <a:off x="685800" y="1371600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Story role 1"/>
          <p:cNvSpPr/>
          <p:nvPr/>
        </p:nvSpPr>
        <p:spPr>
          <a:xfrm>
            <a:off x="813816" y="148132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850" dirty="0"/>
          </a:p>
        </p:txBody>
      </p:sp>
      <p:sp>
        <p:nvSpPr>
          <p:cNvPr id="27" name="Story text 1"/>
          <p:cNvSpPr/>
          <p:nvPr/>
        </p:nvSpPr>
        <p:spPr>
          <a:xfrm>
            <a:off x="813816" y="1755648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student,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to ask my teacher a doubt and see if it was already solved, so I don't wait for an answer that already exists.</a:t>
            </a:r>
            <a:endParaRPr lang="en-US" sz="1050" dirty="0"/>
          </a:p>
        </p:txBody>
      </p:sp>
      <p:sp>
        <p:nvSpPr>
          <p:cNvPr id="28" name="Story done 1"/>
          <p:cNvSpPr/>
          <p:nvPr/>
        </p:nvSpPr>
        <p:spPr>
          <a:xfrm>
            <a:off x="813816" y="2286000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solved doubt with the same topic is suggested while I type.</a:t>
            </a:r>
            <a:endParaRPr lang="en-US" sz="950" dirty="0"/>
          </a:p>
        </p:txBody>
      </p:sp>
      <p:sp>
        <p:nvSpPr>
          <p:cNvPr id="29" name="Story 2"/>
          <p:cNvSpPr/>
          <p:nvPr/>
        </p:nvSpPr>
        <p:spPr>
          <a:xfrm>
            <a:off x="4663440" y="1371600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0" name="Story role 2"/>
          <p:cNvSpPr/>
          <p:nvPr/>
        </p:nvSpPr>
        <p:spPr>
          <a:xfrm>
            <a:off x="4791456" y="148132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1C377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850" dirty="0"/>
          </a:p>
        </p:txBody>
      </p:sp>
      <p:sp>
        <p:nvSpPr>
          <p:cNvPr id="31" name="Story text 2"/>
          <p:cNvSpPr/>
          <p:nvPr/>
        </p:nvSpPr>
        <p:spPr>
          <a:xfrm>
            <a:off x="4791456" y="1755648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student,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an alert when my attendance or marks slip, so I can recover before exams.</a:t>
            </a:r>
            <a:endParaRPr lang="en-US" sz="1050" dirty="0"/>
          </a:p>
        </p:txBody>
      </p:sp>
      <p:sp>
        <p:nvSpPr>
          <p:cNvPr id="32" name="Story done 2"/>
          <p:cNvSpPr/>
          <p:nvPr/>
        </p:nvSpPr>
        <p:spPr>
          <a:xfrm>
            <a:off x="4791456" y="2286000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alert names the cause and what to do next.</a:t>
            </a:r>
            <a:endParaRPr lang="en-US" sz="950" dirty="0"/>
          </a:p>
        </p:txBody>
      </p:sp>
      <p:sp>
        <p:nvSpPr>
          <p:cNvPr id="33" name="Story 3"/>
          <p:cNvSpPr/>
          <p:nvPr/>
        </p:nvSpPr>
        <p:spPr>
          <a:xfrm>
            <a:off x="685800" y="2724912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4" name="Story role 3"/>
          <p:cNvSpPr/>
          <p:nvPr/>
        </p:nvSpPr>
        <p:spPr>
          <a:xfrm>
            <a:off x="813816" y="28346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850" dirty="0"/>
          </a:p>
        </p:txBody>
      </p:sp>
      <p:sp>
        <p:nvSpPr>
          <p:cNvPr id="35" name="Story text 3"/>
          <p:cNvSpPr/>
          <p:nvPr/>
        </p:nvSpPr>
        <p:spPr>
          <a:xfrm>
            <a:off x="813816" y="3108960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teacher,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a list of at-risk students with reasons, so I know whom to help first.</a:t>
            </a:r>
            <a:endParaRPr lang="en-US" sz="1050" dirty="0"/>
          </a:p>
        </p:txBody>
      </p:sp>
      <p:sp>
        <p:nvSpPr>
          <p:cNvPr id="36" name="Story done 3"/>
          <p:cNvSpPr/>
          <p:nvPr/>
        </p:nvSpPr>
        <p:spPr>
          <a:xfrm>
            <a:off x="813816" y="3639312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List is sorted by risk and each score shows its top drivers.</a:t>
            </a:r>
            <a:endParaRPr lang="en-US" sz="950" dirty="0"/>
          </a:p>
        </p:txBody>
      </p:sp>
      <p:sp>
        <p:nvSpPr>
          <p:cNvPr id="37" name="Story 4"/>
          <p:cNvSpPr/>
          <p:nvPr/>
        </p:nvSpPr>
        <p:spPr>
          <a:xfrm>
            <a:off x="4663440" y="2724912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8" name="Story role 4"/>
          <p:cNvSpPr/>
          <p:nvPr/>
        </p:nvSpPr>
        <p:spPr>
          <a:xfrm>
            <a:off x="4791456" y="28346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</a:t>
            </a:r>
            <a:endParaRPr lang="en-US" sz="850" dirty="0"/>
          </a:p>
        </p:txBody>
      </p:sp>
      <p:sp>
        <p:nvSpPr>
          <p:cNvPr id="39" name="Story text 4"/>
          <p:cNvSpPr/>
          <p:nvPr/>
        </p:nvSpPr>
        <p:spPr>
          <a:xfrm>
            <a:off x="4791456" y="3108960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teacher,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to log an intervention and see if it helped.</a:t>
            </a:r>
            <a:endParaRPr lang="en-US" sz="1050" dirty="0"/>
          </a:p>
        </p:txBody>
      </p:sp>
      <p:sp>
        <p:nvSpPr>
          <p:cNvPr id="40" name="Story done 4"/>
          <p:cNvSpPr/>
          <p:nvPr/>
        </p:nvSpPr>
        <p:spPr>
          <a:xfrm>
            <a:off x="4791456" y="3639312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action, date and later outcome appear in one tracker.</a:t>
            </a:r>
            <a:endParaRPr lang="en-US" sz="950" dirty="0"/>
          </a:p>
        </p:txBody>
      </p:sp>
      <p:sp>
        <p:nvSpPr>
          <p:cNvPr id="41" name="Story 5"/>
          <p:cNvSpPr/>
          <p:nvPr/>
        </p:nvSpPr>
        <p:spPr>
          <a:xfrm>
            <a:off x="685800" y="4078224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2" name="Story role 5"/>
          <p:cNvSpPr/>
          <p:nvPr/>
        </p:nvSpPr>
        <p:spPr>
          <a:xfrm>
            <a:off x="813816" y="418795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850" dirty="0"/>
          </a:p>
        </p:txBody>
      </p:sp>
      <p:sp>
        <p:nvSpPr>
          <p:cNvPr id="43" name="Story text 5"/>
          <p:cNvSpPr/>
          <p:nvPr/>
        </p:nvSpPr>
        <p:spPr>
          <a:xfrm>
            <a:off x="813816" y="4462272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admin,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help tickets routed to the right department automatically.</a:t>
            </a:r>
            <a:endParaRPr lang="en-US" sz="1050" dirty="0"/>
          </a:p>
        </p:txBody>
      </p:sp>
      <p:sp>
        <p:nvSpPr>
          <p:cNvPr id="44" name="Story done 5"/>
          <p:cNvSpPr/>
          <p:nvPr/>
        </p:nvSpPr>
        <p:spPr>
          <a:xfrm>
            <a:off x="813816" y="4992624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fees ticket reaches Accounts &amp; Fees without manual sorting.</a:t>
            </a:r>
            <a:endParaRPr lang="en-US" sz="950" dirty="0"/>
          </a:p>
        </p:txBody>
      </p:sp>
      <p:sp>
        <p:nvSpPr>
          <p:cNvPr id="45" name="Story 6"/>
          <p:cNvSpPr/>
          <p:nvPr/>
        </p:nvSpPr>
        <p:spPr>
          <a:xfrm>
            <a:off x="4663440" y="4078224"/>
            <a:ext cx="3794760" cy="126187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46" name="Story role 6"/>
          <p:cNvSpPr/>
          <p:nvPr/>
        </p:nvSpPr>
        <p:spPr>
          <a:xfrm>
            <a:off x="4791456" y="418795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850" dirty="0"/>
          </a:p>
        </p:txBody>
      </p:sp>
      <p:sp>
        <p:nvSpPr>
          <p:cNvPr id="47" name="Story text 6"/>
          <p:cNvSpPr/>
          <p:nvPr/>
        </p:nvSpPr>
        <p:spPr>
          <a:xfrm>
            <a:off x="4791456" y="4462272"/>
            <a:ext cx="353872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As a admin, </a:t>
            </a: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 want reported posts hidden until reviewed.</a:t>
            </a:r>
            <a:endParaRPr lang="en-US" sz="1050" dirty="0"/>
          </a:p>
        </p:txBody>
      </p:sp>
      <p:sp>
        <p:nvSpPr>
          <p:cNvPr id="48" name="Story done 6"/>
          <p:cNvSpPr/>
          <p:nvPr/>
        </p:nvSpPr>
        <p:spPr>
          <a:xfrm>
            <a:off x="4791456" y="4992624"/>
            <a:ext cx="353872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Done when: </a:t>
            </a:r>
            <a:r>
              <a:rPr lang="en-US" sz="9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post with 3 reports is hidden and appears in the review queue.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Acadex vs the Current Portal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the College Management System covers today, and what Acadex adds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5" name="Comparison table"/>
          <p:cNvGraphicFramePr>
            <a:graphicFrameLocks noGrp="1"/>
          </p:cNvGraphicFramePr>
          <p:nvPr/>
        </p:nvGraphicFramePr>
        <p:xfrm>
          <a:off x="685800" y="1371600"/>
          <a:ext cx="7772400" cy="3913632"/>
        </p:xfrm>
        <a:graphic>
          <a:graphicData uri="http://schemas.openxmlformats.org/drawingml/2006/table">
            <a:tbl>
              <a:tblPr firstRow="1"/>
              <a:tblGrid>
                <a:gridCol w="3291840"/>
                <a:gridCol w="1097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Capability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Portal today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Acadex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Fees, exams, placements, events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23764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Reused as is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Forums and notices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7791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Basic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Rooms with voting, moderation, anonymity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Doubts answered by faculty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Doubt Desk with past-solution search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Notes summaries and practice MCQs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Smart Notes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Personal study planner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Study Planner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Early warning on attendance and marks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Explainable risk model and alerts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Counselling and mentorship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Booked sessions, senior mentors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One view of at-risk students for staff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Teacher and admin dashboards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Help requests sent to the right department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B41837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Auto-routed tickets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ource note"/>
          <p:cNvSpPr/>
          <p:nvPr/>
        </p:nvSpPr>
        <p:spPr>
          <a:xfrm>
            <a:off x="685800" y="539496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Based on the portal features listed on slide 3. “Basic” = exists but without these features.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Feasibility Study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Can it be built, afforded and used?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29</a:t>
            </a:r>
            <a:endParaRPr lang="en-US" sz="900" dirty="0"/>
          </a:p>
        </p:txBody>
      </p:sp>
      <p:sp>
        <p:nvSpPr>
          <p:cNvPr id="25" name="Feasibility 1"/>
          <p:cNvSpPr/>
          <p:nvPr/>
        </p:nvSpPr>
        <p:spPr>
          <a:xfrm>
            <a:off x="685800" y="137160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26" name="Feasibility tick 1"/>
          <p:cNvSpPr/>
          <p:nvPr/>
        </p:nvSpPr>
        <p:spPr>
          <a:xfrm>
            <a:off x="822960" y="1481328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Feasibility title 1"/>
          <p:cNvSpPr/>
          <p:nvPr/>
        </p:nvSpPr>
        <p:spPr>
          <a:xfrm>
            <a:off x="1188720" y="1481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28" name="Feasibility text 1"/>
          <p:cNvSpPr/>
          <p:nvPr/>
        </p:nvSpPr>
        <p:spPr>
          <a:xfrm>
            <a:off x="850392" y="1874520"/>
            <a:ext cx="213969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Proven stack: Next.js, Tailwind, Django or Express, PostgreSQL, Redis. OULAD is public. A working prototype already exists.</a:t>
            </a:r>
            <a:endParaRPr lang="en-US" sz="1050" dirty="0"/>
          </a:p>
        </p:txBody>
      </p:sp>
      <p:sp>
        <p:nvSpPr>
          <p:cNvPr id="29" name="Feasibility 2"/>
          <p:cNvSpPr/>
          <p:nvPr/>
        </p:nvSpPr>
        <p:spPr>
          <a:xfrm>
            <a:off x="3337560" y="137160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0" name="Feasibility tick 2"/>
          <p:cNvSpPr/>
          <p:nvPr/>
        </p:nvSpPr>
        <p:spPr>
          <a:xfrm>
            <a:off x="3474720" y="1481328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Feasibility title 2"/>
          <p:cNvSpPr/>
          <p:nvPr/>
        </p:nvSpPr>
        <p:spPr>
          <a:xfrm>
            <a:off x="3840480" y="1481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Economic</a:t>
            </a:r>
            <a:endParaRPr lang="en-US" sz="1300" dirty="0"/>
          </a:p>
        </p:txBody>
      </p:sp>
      <p:sp>
        <p:nvSpPr>
          <p:cNvPr id="32" name="Feasibility text 2"/>
          <p:cNvSpPr/>
          <p:nvPr/>
        </p:nvSpPr>
        <p:spPr>
          <a:xfrm>
            <a:off x="3502152" y="1874520"/>
            <a:ext cx="213969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Open-source tools and free tiers. Main optional cost: a language-model API for Smart Notes.</a:t>
            </a:r>
            <a:endParaRPr lang="en-US" sz="1050" dirty="0"/>
          </a:p>
        </p:txBody>
      </p:sp>
      <p:sp>
        <p:nvSpPr>
          <p:cNvPr id="33" name="Feasibility 3"/>
          <p:cNvSpPr/>
          <p:nvPr/>
        </p:nvSpPr>
        <p:spPr>
          <a:xfrm>
            <a:off x="5989320" y="1371600"/>
            <a:ext cx="24688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</p:sp>
      <p:sp>
        <p:nvSpPr>
          <p:cNvPr id="34" name="Feasibility tick 3"/>
          <p:cNvSpPr/>
          <p:nvPr/>
        </p:nvSpPr>
        <p:spPr>
          <a:xfrm>
            <a:off x="6126480" y="1481328"/>
            <a:ext cx="274320" cy="274320"/>
          </a:xfrm>
          <a:prstGeom prst="ellipse">
            <a:avLst/>
          </a:prstGeom>
          <a:solidFill>
            <a:srgbClr val="2376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Feasibility title 3"/>
          <p:cNvSpPr/>
          <p:nvPr/>
        </p:nvSpPr>
        <p:spPr>
          <a:xfrm>
            <a:off x="6492240" y="1481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36" name="Feasibility text 3"/>
          <p:cNvSpPr/>
          <p:nvPr/>
        </p:nvSpPr>
        <p:spPr>
          <a:xfrm>
            <a:off x="6153912" y="1874520"/>
            <a:ext cx="2139696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Fits current workflows, reads data from the college system and needs little training.</a:t>
            </a:r>
            <a:endParaRPr lang="en-US" sz="1050" dirty="0"/>
          </a:p>
        </p:txBody>
      </p:sp>
      <p:sp>
        <p:nvSpPr>
          <p:cNvPr id="37" name="Risk label"/>
          <p:cNvSpPr/>
          <p:nvPr/>
        </p:nvSpPr>
        <p:spPr>
          <a:xfrm>
            <a:off x="685800" y="315468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RISKS AND HOW WE HANDLE THEM</a:t>
            </a:r>
            <a:endParaRPr lang="en-US" sz="1000" dirty="0"/>
          </a:p>
        </p:txBody>
      </p:sp>
      <p:graphicFrame>
        <p:nvGraphicFramePr>
          <p:cNvPr id="38" name="Risk table"/>
          <p:cNvGraphicFramePr>
            <a:graphicFrameLocks noGrp="1"/>
          </p:cNvGraphicFramePr>
          <p:nvPr/>
        </p:nvGraphicFramePr>
        <p:xfrm>
          <a:off x="685800" y="3429000"/>
          <a:ext cx="7772400" cy="1847088"/>
        </p:xfrm>
        <a:graphic>
          <a:graphicData uri="http://schemas.openxmlformats.org/drawingml/2006/table">
            <a:tbl>
              <a:tblPr firstRow="1"/>
              <a:tblGrid>
                <a:gridCol w="2651760"/>
                <a:gridCol w="5120640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Mitigation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Access to college data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Import attendance and marks by CSV or API; start with sample data.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Students not trusting a risk score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SHAP shows the reasons behind every flag.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Privacy concerns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Minimum data, role-based views, anonymous options.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Low adoption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Daily reasons to return: today’s plan, replies, alerts.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How We Will Measure Success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Metrics tied to each goal, read from data Acadex already collects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384"/>
            <a:ext cx="640035" cy="22845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3925" y="5646179"/>
            <a:ext cx="596875" cy="1439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25" name="Success metrics"/>
          <p:cNvGraphicFramePr>
            <a:graphicFrameLocks noGrp="1"/>
          </p:cNvGraphicFramePr>
          <p:nvPr/>
        </p:nvGraphicFramePr>
        <p:xfrm>
          <a:off x="685800" y="1371600"/>
          <a:ext cx="7772400" cy="3493008"/>
        </p:xfrm>
        <a:graphic>
          <a:graphicData uri="http://schemas.openxmlformats.org/drawingml/2006/table">
            <a:tbl>
              <a:tblPr firstRow="1"/>
              <a:tblGrid>
                <a:gridCol w="2103120"/>
                <a:gridCol w="356616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Goal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Measured from</a:t>
                      </a:r>
                      <a:endParaRPr lang="en-US" sz="100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B41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Students return daily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Daily active students, sessions per week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Usage logs (admin dashboard)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Faster academic help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Time to first doubt reply, share of doubts solved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Faculty Doubt Desk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Early detection works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Recall and PR-AUC, warning lead time before exams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Model monitoring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Support is acted on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Intervention uptake, attendance and marks after support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Intervention tracker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Issues resolved quickly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Ticket resolution time by department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Help Center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Community stays healthy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Share of posts answered, time to review reports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Moderation queue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Students feel supported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Satisfaction survey, mentor ratings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5A5A5F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In-app survey, ratings</a:t>
                      </a:r>
                      <a:endParaRPr lang="en-US" sz="1050" dirty="0"/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Pilot note"/>
          <p:cNvSpPr/>
          <p:nvPr/>
        </p:nvSpPr>
        <p:spPr>
          <a:xfrm>
            <a:off x="685800" y="502920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Numeric targets will be agreed with the college after a pilot.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 Overview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exists today in the working prototype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31</a:t>
            </a:r>
            <a:endParaRPr lang="en-US" sz="900" dirty="0"/>
          </a:p>
        </p:txBody>
      </p:sp>
      <p:sp>
        <p:nvSpPr>
          <p:cNvPr id="25" name="Stat 1"/>
          <p:cNvSpPr/>
          <p:nvPr/>
        </p:nvSpPr>
        <p:spPr>
          <a:xfrm>
            <a:off x="685800" y="137160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11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modules built and working end to end</a:t>
            </a:r>
            <a:endParaRPr lang="en-US" sz="1000" dirty="0"/>
          </a:p>
        </p:txBody>
      </p:sp>
      <p:sp>
        <p:nvSpPr>
          <p:cNvPr id="26" name="Stat 2"/>
          <p:cNvSpPr/>
          <p:nvPr/>
        </p:nvSpPr>
        <p:spPr>
          <a:xfrm>
            <a:off x="2682240" y="137160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user roles: student, teacher, admin and department staff</a:t>
            </a:r>
            <a:endParaRPr lang="en-US" sz="1000" dirty="0"/>
          </a:p>
        </p:txBody>
      </p:sp>
      <p:sp>
        <p:nvSpPr>
          <p:cNvPr id="27" name="Stat 3"/>
          <p:cNvSpPr/>
          <p:nvPr/>
        </p:nvSpPr>
        <p:spPr>
          <a:xfrm>
            <a:off x="4678680" y="137160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20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database migrations, applied in order</a:t>
            </a:r>
            <a:endParaRPr lang="en-US" sz="1000" dirty="0"/>
          </a:p>
        </p:txBody>
      </p:sp>
      <p:sp>
        <p:nvSpPr>
          <p:cNvPr id="28" name="Stat 4"/>
          <p:cNvSpPr/>
          <p:nvPr/>
        </p:nvSpPr>
        <p:spPr>
          <a:xfrm>
            <a:off x="6675120" y="137160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23764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169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automated API tests (results on slide 39)</a:t>
            </a:r>
            <a:endParaRPr lang="en-US" sz="1000" dirty="0"/>
          </a:p>
        </p:txBody>
      </p:sp>
      <p:sp>
        <p:nvSpPr>
          <p:cNvPr id="29" name="Stack"/>
          <p:cNvSpPr/>
          <p:nvPr/>
        </p:nvSpPr>
        <p:spPr>
          <a:xfrm>
            <a:off x="685800" y="2743200"/>
            <a:ext cx="3794760" cy="17830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102413" rIns="128016" bIns="7681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Stack in use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Next.js 14 (App Router) with Tailwind CSS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Node.js and Express REST API with JWT login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PostgreSQL 16 for all module data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Redis is optional: shared rate limits and cached summaries</a:t>
            </a:r>
            <a:endParaRPr lang="en-US" sz="1000" dirty="0"/>
          </a:p>
        </p:txBody>
      </p:sp>
      <p:sp>
        <p:nvSpPr>
          <p:cNvPr id="30" name="Beyond"/>
          <p:cNvSpPr/>
          <p:nvPr/>
        </p:nvSpPr>
        <p:spPr>
          <a:xfrm>
            <a:off x="4663440" y="2743200"/>
            <a:ext cx="3794760" cy="17830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28016" tIns="102413" rIns="128016" bIns="7681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Beyond the 11 modules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Courses, attendance, marks and assignments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In-app, email and browser-push notifications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File uploads with preview; OCR for photo doubts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New: mentor approval and the department staff desk</a:t>
            </a:r>
            <a:endParaRPr lang="en-US" sz="1000" dirty="0"/>
          </a:p>
        </p:txBody>
      </p:sp>
      <p:sp>
        <p:nvSpPr>
          <p:cNvPr id="31" name="Source note"/>
          <p:cNvSpPr/>
          <p:nvPr/>
        </p:nvSpPr>
        <p:spPr>
          <a:xfrm>
            <a:off x="685800" y="470916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Counts come from the repository: the migrations folder and the test run shown on slide 39.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How the browser, API, database and helpers fit together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32</a:t>
            </a:r>
            <a:endParaRPr lang="en-US" sz="900" dirty="0"/>
          </a:p>
        </p:txBody>
      </p:sp>
      <p:sp>
        <p:nvSpPr>
          <p:cNvPr id="25" name="Block 1"/>
          <p:cNvSpPr/>
          <p:nvPr/>
        </p:nvSpPr>
        <p:spPr>
          <a:xfrm>
            <a:off x="685800" y="1417320"/>
            <a:ext cx="2103120" cy="12801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Web app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Next.js 14 and Tailwind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Student, teacher, admin and staff portals; a route guard checks the role</a:t>
            </a:r>
            <a:endParaRPr lang="en-US" sz="1000" dirty="0"/>
          </a:p>
        </p:txBody>
      </p:sp>
      <p:sp>
        <p:nvSpPr>
          <p:cNvPr id="26" name="Block 2"/>
          <p:cNvSpPr/>
          <p:nvPr/>
        </p:nvSpPr>
        <p:spPr>
          <a:xfrm>
            <a:off x="3520440" y="1417320"/>
            <a:ext cx="2103120" cy="1280160"/>
          </a:xfrm>
          <a:prstGeom prst="roundRect">
            <a:avLst>
              <a:gd name="adj" fmla="val 6000"/>
            </a:avLst>
          </a:prstGeom>
          <a:solidFill>
            <a:srgbClr val="1C377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API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BEDE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Node.js and Express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JWT login, role guard, input checks and rate limits on every route</a:t>
            </a:r>
            <a:endParaRPr lang="en-US" sz="1000" dirty="0"/>
          </a:p>
        </p:txBody>
      </p:sp>
      <p:sp>
        <p:nvSpPr>
          <p:cNvPr id="27" name="Block 3"/>
          <p:cNvSpPr/>
          <p:nvPr/>
        </p:nvSpPr>
        <p:spPr>
          <a:xfrm>
            <a:off x="6355080" y="1417320"/>
            <a:ext cx="2103120" cy="12801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Database</a:t>
            </a:r>
            <a:endParaRPr lang="en-US" sz="12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PostgreSQL 16</a:t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All module data; 20 migrations keep the schema in order</a:t>
            </a:r>
            <a:endParaRPr lang="en-US" sz="1000" dirty="0"/>
          </a:p>
        </p:txBody>
      </p:sp>
      <p:cxnSp>
        <p:nvCxnSpPr>
          <p:cNvPr id="28" name="Arrow web to api"/>
          <p:cNvCxnSpPr/>
          <p:nvPr/>
        </p:nvCxnSpPr>
        <p:spPr>
          <a:xfrm>
            <a:off x="2880360" y="2057400"/>
            <a:ext cx="548640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cxnSp>
        <p:nvCxnSpPr>
          <p:cNvPr id="29" name="Arrow api to db"/>
          <p:cNvCxnSpPr/>
          <p:nvPr/>
        </p:nvCxnSpPr>
        <p:spPr>
          <a:xfrm>
            <a:off x="5715000" y="2057400"/>
            <a:ext cx="548640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sp>
        <p:nvSpPr>
          <p:cNvPr id="30" name="Supporting label"/>
          <p:cNvSpPr/>
          <p:nvPr/>
        </p:nvSpPr>
        <p:spPr>
          <a:xfrm>
            <a:off x="685800" y="292608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SUPPORTING PARTS</a:t>
            </a:r>
            <a:endParaRPr lang="en-US" sz="1000" dirty="0"/>
          </a:p>
        </p:txBody>
      </p:sp>
      <p:sp>
        <p:nvSpPr>
          <p:cNvPr id="31" name="Part 1"/>
          <p:cNvSpPr/>
          <p:nvPr/>
        </p:nvSpPr>
        <p:spPr>
          <a:xfrm>
            <a:off x="685800" y="32004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18872" tIns="95098" rIns="118872" bIns="71323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Redis (optional)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Shared rate limits and short-lived admin summaries. The app runs without it.</a:t>
            </a:r>
            <a:endParaRPr lang="en-US" sz="1000" dirty="0"/>
          </a:p>
        </p:txBody>
      </p:sp>
      <p:sp>
        <p:nvSpPr>
          <p:cNvPr id="32" name="Part 2"/>
          <p:cNvSpPr/>
          <p:nvPr/>
        </p:nvSpPr>
        <p:spPr>
          <a:xfrm>
            <a:off x="2682240" y="32004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18872" tIns="95098" rIns="118872" bIns="71323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File store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Uploads kept on disk under random names; type checked by content; preview for PDF, images, text.</a:t>
            </a:r>
            <a:endParaRPr lang="en-US" sz="1000" dirty="0"/>
          </a:p>
        </p:txBody>
      </p:sp>
      <p:sp>
        <p:nvSpPr>
          <p:cNvPr id="33" name="Part 3"/>
          <p:cNvSpPr/>
          <p:nvPr/>
        </p:nvSpPr>
        <p:spPr>
          <a:xfrm>
            <a:off x="4678680" y="32004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18872" tIns="95098" rIns="118872" bIns="71323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Notifications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In-app bell, email and browser push. A failing channel never breaks a request.</a:t>
            </a:r>
            <a:endParaRPr lang="en-US" sz="1000" dirty="0"/>
          </a:p>
        </p:txBody>
      </p:sp>
      <p:sp>
        <p:nvSpPr>
          <p:cNvPr id="34" name="Part 4"/>
          <p:cNvSpPr/>
          <p:nvPr/>
        </p:nvSpPr>
        <p:spPr>
          <a:xfrm>
            <a:off x="6675120" y="32004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18872" tIns="95098" rIns="118872" bIns="71323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OCR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tesseract.js reads a photo of a question for the Doubt Desk. The image is not stored.</a:t>
            </a:r>
            <a:endParaRPr lang="en-US" sz="1000" dirty="0"/>
          </a:p>
        </p:txBody>
      </p:sp>
      <p:sp>
        <p:nvSpPr>
          <p:cNvPr id="35" name="Fallback"/>
          <p:cNvSpPr/>
          <p:nvPr/>
        </p:nvSpPr>
        <p:spPr>
          <a:xfrm>
            <a:off x="685800" y="4709160"/>
            <a:ext cx="7772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C3778"/>
            </a:solidFill>
          </a:ln>
        </p:spPr>
        <p:txBody>
          <a:bodyPr wrap="square" lIns="137160" tIns="109728" rIns="137160" bIns="8229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Offline fallback: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if the API cannot be reached, the web app shows sample data with a "Demo data" badge.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Built: Learn and Plan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works today in each module, and its stated limit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25" name="Learn and plan modules"/>
          <p:cNvGraphicFramePr>
            <a:graphicFrameLocks noGrp="1"/>
          </p:cNvGraphicFramePr>
          <p:nvPr/>
        </p:nvGraphicFramePr>
        <p:xfrm>
          <a:off x="685800" y="1371600"/>
          <a:ext cx="7772400" cy="3017520"/>
        </p:xfrm>
        <a:graphic>
          <a:graphicData uri="http://schemas.openxmlformats.org/drawingml/2006/table">
            <a:tbl>
              <a:tblPr firstRow="1"/>
              <a:tblGrid>
                <a:gridCol w="1737360"/>
                <a:gridCol w="393192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Module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What works today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Limit today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Faculty Doubt Desk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Ask the course teacher, upvote same doubts, see similar solved ones, read a photo by OCR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OCR: printed English only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Smart Notes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Paste or load notes; get a summary, key terms, practice questions and a quiz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Text engine, not an AI model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Study Planner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Spreads unfinished topics over the days before each exam; reschedules as topics are ticked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No reminders yet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Performance Analyzer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Attendance, marks and assignments, with classes needed to reach 75%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Fixed 75% and 60% cut-offs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Class Resources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Teachers share notes, links and files; students copy notes into Smart Notes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Office files download only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Assignments and Marks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Set work with due dates, submit text, link or files, grade with feedback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No virus scanning of uploads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6" name="Source note"/>
          <p:cNvSpPr/>
          <p:nvPr/>
        </p:nvSpPr>
        <p:spPr>
          <a:xfrm>
            <a:off x="685800" y="4526280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Source: the project README. Limits are stated as written there.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Built: Support and Growth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Guidance, help, community and alerts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34</a:t>
            </a:r>
            <a:endParaRPr lang="en-US" sz="900" dirty="0"/>
          </a:p>
        </p:txBody>
      </p:sp>
      <p:graphicFrame>
        <p:nvGraphicFramePr>
          <p:cNvPr id="25" name="Support and growth modules"/>
          <p:cNvGraphicFramePr>
            <a:graphicFrameLocks noGrp="1"/>
          </p:cNvGraphicFramePr>
          <p:nvPr/>
        </p:nvGraphicFramePr>
        <p:xfrm>
          <a:off x="685800" y="1371600"/>
          <a:ext cx="7772400" cy="3639312"/>
        </p:xfrm>
        <a:graphic>
          <a:graphicData uri="http://schemas.openxmlformats.org/drawingml/2006/table">
            <a:tbl>
              <a:tblPr firstRow="1"/>
              <a:tblGrid>
                <a:gridCol w="1737360"/>
                <a:gridCol w="393192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Module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What works today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Limit today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Early Warning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Risk score 0-100 from attendance (35), marks (30), overdue work (20) and falling marks (15), with reasons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Rule-based; no trained model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Help Center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Six categories routed to a department; urgent wording raises priority; staff reply and resolve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Six fixed departments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Counselling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Counsellors publish slots; students book up to three, optionally anonymous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Masked, not truly anonymous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Mentorship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Seniors apply, admin approves; juniors ask anonymously and rate answers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No chat or booking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Project and Idea Hub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Post ideas, ask to join, teacher approves, log progress, mentor feedback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No repository link-up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Career Guidance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Skills and interests matched to nine career paths with a twelve-month roadmap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General, not live jobs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Student Community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Course rooms, posts, answers, votes, reports and teacher moderation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No attachments or search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Notifications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In-app bell, email and browser push for events across the modules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Real push needs keys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Roles and Access Control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Four roles, each limited to what it needs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35</a:t>
            </a:r>
            <a:endParaRPr lang="en-US" sz="900" dirty="0"/>
          </a:p>
        </p:txBody>
      </p:sp>
      <p:sp>
        <p:nvSpPr>
          <p:cNvPr id="25" name="Role 1"/>
          <p:cNvSpPr/>
          <p:nvPr/>
        </p:nvSpPr>
        <p:spPr>
          <a:xfrm>
            <a:off x="685800" y="137160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Own courses, attendance, marks, notes and tickets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Can apply as a mentor; listed after approval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Cannot open other students' work</a:t>
            </a:r>
            <a:endParaRPr lang="en-US" sz="1000" dirty="0"/>
          </a:p>
        </p:txBody>
      </p:sp>
      <p:sp>
        <p:nvSpPr>
          <p:cNvPr id="26" name="Role 2"/>
          <p:cNvSpPr/>
          <p:nvPr/>
        </p:nvSpPr>
        <p:spPr>
          <a:xfrm>
            <a:off x="4663440" y="137160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Teacher and counsellor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Own courses: roster, attendance, marks, assignments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Answers doubts for those courses; reviews projects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Counsellor desk only when an admin sets the flag</a:t>
            </a:r>
            <a:endParaRPr lang="en-US" sz="1000" dirty="0"/>
          </a:p>
        </p:txBody>
      </p:sp>
      <p:sp>
        <p:nvSpPr>
          <p:cNvPr id="27" name="Role 3"/>
          <p:cNvSpPr/>
          <p:nvPr/>
        </p:nvSpPr>
        <p:spPr>
          <a:xfrm>
            <a:off x="685800" y="292608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Users, roles, courses, alert rules and analytics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Routes help tickets; approves mentor profiles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Moderates the community</a:t>
            </a:r>
            <a:endParaRPr lang="en-US" sz="1000" dirty="0"/>
          </a:p>
        </p:txBody>
      </p:sp>
      <p:sp>
        <p:nvSpPr>
          <p:cNvPr id="28" name="Role 4"/>
          <p:cNvSpPr/>
          <p:nvPr/>
        </p:nvSpPr>
        <p:spPr>
          <a:xfrm>
            <a:off x="4663440" y="292608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FBEDEF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Department staff (new)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One help-desk department, set by an admin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Sees, replies to and resolves only its tickets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Cannot re-route; other modules refuse the account</a:t>
            </a:r>
            <a:endParaRPr lang="en-US" sz="1000" dirty="0"/>
          </a:p>
        </p:txBody>
      </p:sp>
      <p:sp>
        <p:nvSpPr>
          <p:cNvPr id="29" name="Server checks"/>
          <p:cNvSpPr/>
          <p:nvPr/>
        </p:nvSpPr>
        <p:spPr>
          <a:xfrm>
            <a:off x="685800" y="4572000"/>
            <a:ext cx="77724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C3778"/>
            </a:solidFill>
          </a:ln>
        </p:spPr>
        <p:txBody>
          <a:bodyPr wrap="square" lIns="137160" tIns="109728" rIns="137160" bIns="8229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Checked on the server, not only in the screens.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request carries a signed role token; each module refuses roles it does not serve.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New: Mentor Approval Flow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mentor profile is listed only after an admin approves it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36</a:t>
            </a:r>
            <a:endParaRPr lang="en-US" sz="900" dirty="0"/>
          </a:p>
        </p:txBody>
      </p:sp>
      <p:sp>
        <p:nvSpPr>
          <p:cNvPr id="25" name="Step 1"/>
          <p:cNvSpPr/>
          <p:nvPr/>
        </p:nvSpPr>
        <p:spPr>
          <a:xfrm>
            <a:off x="68580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applies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Headline, year, up to six topics and a bio. The profile starts as pending.</a:t>
            </a:r>
            <a:endParaRPr lang="en-US" sz="1000" dirty="0"/>
          </a:p>
        </p:txBody>
      </p:sp>
      <p:sp>
        <p:nvSpPr>
          <p:cNvPr id="26" name="Step number 1"/>
          <p:cNvSpPr/>
          <p:nvPr/>
        </p:nvSpPr>
        <p:spPr>
          <a:xfrm>
            <a:off x="82296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cxnSp>
        <p:nvCxnSpPr>
          <p:cNvPr id="27" name="Step arrow 1"/>
          <p:cNvCxnSpPr/>
          <p:nvPr/>
        </p:nvCxnSpPr>
        <p:spPr>
          <a:xfrm>
            <a:off x="2496312" y="2194560"/>
            <a:ext cx="158496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sp>
        <p:nvSpPr>
          <p:cNvPr id="28" name="Step 2"/>
          <p:cNvSpPr/>
          <p:nvPr/>
        </p:nvSpPr>
        <p:spPr>
          <a:xfrm>
            <a:off x="268224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1C377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 reviews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Mentor Approvals page lists pending, approved and rejected profiles.</a:t>
            </a:r>
            <a:endParaRPr lang="en-US" sz="1000" dirty="0"/>
          </a:p>
        </p:txBody>
      </p:sp>
      <p:sp>
        <p:nvSpPr>
          <p:cNvPr id="29" name="Step number 2"/>
          <p:cNvSpPr/>
          <p:nvPr/>
        </p:nvSpPr>
        <p:spPr>
          <a:xfrm>
            <a:off x="281940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cxnSp>
        <p:nvCxnSpPr>
          <p:cNvPr id="30" name="Step arrow 2"/>
          <p:cNvCxnSpPr/>
          <p:nvPr/>
        </p:nvCxnSpPr>
        <p:spPr>
          <a:xfrm>
            <a:off x="4492752" y="2194560"/>
            <a:ext cx="158496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sp>
        <p:nvSpPr>
          <p:cNvPr id="31" name="Step 3"/>
          <p:cNvSpPr/>
          <p:nvPr/>
        </p:nvSpPr>
        <p:spPr>
          <a:xfrm>
            <a:off x="467868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Decision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Approve, or send back with a note the mentor can read. The mentor is notified.</a:t>
            </a:r>
            <a:endParaRPr lang="en-US" sz="1000" dirty="0"/>
          </a:p>
        </p:txBody>
      </p:sp>
      <p:sp>
        <p:nvSpPr>
          <p:cNvPr id="32" name="Step number 3"/>
          <p:cNvSpPr/>
          <p:nvPr/>
        </p:nvSpPr>
        <p:spPr>
          <a:xfrm>
            <a:off x="481584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cxnSp>
        <p:nvCxnSpPr>
          <p:cNvPr id="33" name="Step arrow 3"/>
          <p:cNvCxnSpPr/>
          <p:nvPr/>
        </p:nvCxnSpPr>
        <p:spPr>
          <a:xfrm>
            <a:off x="6489192" y="2194560"/>
            <a:ext cx="158496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sp>
        <p:nvSpPr>
          <p:cNvPr id="34" name="Step 4"/>
          <p:cNvSpPr/>
          <p:nvPr/>
        </p:nvSpPr>
        <p:spPr>
          <a:xfrm>
            <a:off x="667512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Listed for juniors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Only approved, active mentors appear and can be asked questions.</a:t>
            </a:r>
            <a:endParaRPr lang="en-US" sz="1000" dirty="0"/>
          </a:p>
        </p:txBody>
      </p:sp>
      <p:sp>
        <p:nvSpPr>
          <p:cNvPr id="35" name="Step number 4"/>
          <p:cNvSpPr/>
          <p:nvPr/>
        </p:nvSpPr>
        <p:spPr>
          <a:xfrm>
            <a:off x="681228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Edits"/>
          <p:cNvSpPr/>
          <p:nvPr/>
        </p:nvSpPr>
        <p:spPr>
          <a:xfrm>
            <a:off x="685800" y="324612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Edits go back to review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Changing the headline, year, topics or bio makes the profile pending again and hides it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Saving it unchanged keeps the earlier decision</a:t>
            </a:r>
            <a:endParaRPr lang="en-US" sz="1000" dirty="0"/>
          </a:p>
        </p:txBody>
      </p:sp>
      <p:sp>
        <p:nvSpPr>
          <p:cNvPr id="37" name="Stale"/>
          <p:cNvSpPr/>
          <p:nvPr/>
        </p:nvSpPr>
        <p:spPr>
          <a:xfrm>
            <a:off x="4663440" y="324612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FBEDEF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Stale approvals are refused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Each decision carries the profile version the admin saw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If the mentor edited since, it is refused and the admin reloads. Added after code review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New: Department Staff Desk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Help-desk tickets handled by the department they belong to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37</a:t>
            </a:r>
            <a:endParaRPr lang="en-US" sz="900" dirty="0"/>
          </a:p>
        </p:txBody>
      </p:sp>
      <p:sp>
        <p:nvSpPr>
          <p:cNvPr id="25" name="Step 1"/>
          <p:cNvSpPr/>
          <p:nvPr/>
        </p:nvSpPr>
        <p:spPr>
          <a:xfrm>
            <a:off x="68580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raises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Picks one of six categories: fees, hostel, library, IT, certificates, academics.</a:t>
            </a:r>
            <a:endParaRPr lang="en-US" sz="1000" dirty="0"/>
          </a:p>
        </p:txBody>
      </p:sp>
      <p:sp>
        <p:nvSpPr>
          <p:cNvPr id="26" name="Step number 1"/>
          <p:cNvSpPr/>
          <p:nvPr/>
        </p:nvSpPr>
        <p:spPr>
          <a:xfrm>
            <a:off x="82296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</a:t>
            </a:r>
            <a:endParaRPr lang="en-US" sz="1000" dirty="0"/>
          </a:p>
        </p:txBody>
      </p:sp>
      <p:cxnSp>
        <p:nvCxnSpPr>
          <p:cNvPr id="27" name="Step arrow 1"/>
          <p:cNvCxnSpPr/>
          <p:nvPr/>
        </p:nvCxnSpPr>
        <p:spPr>
          <a:xfrm>
            <a:off x="2496312" y="2194560"/>
            <a:ext cx="158496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sp>
        <p:nvSpPr>
          <p:cNvPr id="28" name="Step 2"/>
          <p:cNvSpPr/>
          <p:nvPr/>
        </p:nvSpPr>
        <p:spPr>
          <a:xfrm>
            <a:off x="268224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Routed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category sets the department; urgent wording sets high priority.</a:t>
            </a:r>
            <a:endParaRPr lang="en-US" sz="1000" dirty="0"/>
          </a:p>
        </p:txBody>
      </p:sp>
      <p:sp>
        <p:nvSpPr>
          <p:cNvPr id="29" name="Step number 2"/>
          <p:cNvSpPr/>
          <p:nvPr/>
        </p:nvSpPr>
        <p:spPr>
          <a:xfrm>
            <a:off x="281940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1000" dirty="0"/>
          </a:p>
        </p:txBody>
      </p:sp>
      <p:cxnSp>
        <p:nvCxnSpPr>
          <p:cNvPr id="30" name="Step arrow 2"/>
          <p:cNvCxnSpPr/>
          <p:nvPr/>
        </p:nvCxnSpPr>
        <p:spPr>
          <a:xfrm>
            <a:off x="4492752" y="2194560"/>
            <a:ext cx="158496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sp>
        <p:nvSpPr>
          <p:cNvPr id="31" name="Step 3"/>
          <p:cNvSpPr/>
          <p:nvPr/>
        </p:nvSpPr>
        <p:spPr>
          <a:xfrm>
            <a:off x="467868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1C377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Staff handle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Staff of that department and admins are notified; staff reply and set status.</a:t>
            </a:r>
            <a:endParaRPr lang="en-US" sz="1000" dirty="0"/>
          </a:p>
        </p:txBody>
      </p:sp>
      <p:sp>
        <p:nvSpPr>
          <p:cNvPr id="32" name="Step number 3"/>
          <p:cNvSpPr/>
          <p:nvPr/>
        </p:nvSpPr>
        <p:spPr>
          <a:xfrm>
            <a:off x="481584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3</a:t>
            </a:r>
            <a:endParaRPr lang="en-US" sz="1000" dirty="0"/>
          </a:p>
        </p:txBody>
      </p:sp>
      <p:cxnSp>
        <p:nvCxnSpPr>
          <p:cNvPr id="33" name="Step arrow 3"/>
          <p:cNvCxnSpPr/>
          <p:nvPr/>
        </p:nvCxnSpPr>
        <p:spPr>
          <a:xfrm>
            <a:off x="6489192" y="2194560"/>
            <a:ext cx="158496" cy="0"/>
          </a:xfrm>
          <a:prstGeom prst="line">
            <a:avLst/>
          </a:prstGeom>
          <a:ln w="15875">
            <a:solidFill>
              <a:srgbClr val="1C3778"/>
            </a:solidFill>
            <a:tailEnd type="triangle"/>
          </a:ln>
        </p:spPr>
      </p:cxnSp>
      <p:sp>
        <p:nvSpPr>
          <p:cNvPr id="34" name="Step 4"/>
          <p:cNvSpPr/>
          <p:nvPr/>
        </p:nvSpPr>
        <p:spPr>
          <a:xfrm>
            <a:off x="6675120" y="1417320"/>
            <a:ext cx="1783080" cy="16002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/>
            </a:r>
            <a:endParaRPr lang="en-US" sz="1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Student hears back</a:t>
            </a:r>
            <a:endParaRPr lang="en-US" sz="11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reply and status change notifies the student. A reply reopens a resolved ticket.</a:t>
            </a:r>
            <a:endParaRPr lang="en-US" sz="1000" dirty="0"/>
          </a:p>
        </p:txBody>
      </p:sp>
      <p:sp>
        <p:nvSpPr>
          <p:cNvPr id="35" name="Step number 4"/>
          <p:cNvSpPr/>
          <p:nvPr/>
        </p:nvSpPr>
        <p:spPr>
          <a:xfrm>
            <a:off x="6812280" y="1527048"/>
            <a:ext cx="274320" cy="274320"/>
          </a:xfrm>
          <a:prstGeom prst="ellipse">
            <a:avLst/>
          </a:prstGeom>
          <a:solidFill>
            <a:srgbClr val="B4183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Can"/>
          <p:cNvSpPr/>
          <p:nvPr/>
        </p:nvSpPr>
        <p:spPr>
          <a:xfrm>
            <a:off x="685800" y="324612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3764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What staff can do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See only the tickets routed to their own department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Reply, set status and priority, and resolve</a:t>
            </a:r>
            <a:endParaRPr lang="en-US" sz="1000" dirty="0"/>
          </a:p>
        </p:txBody>
      </p:sp>
      <p:sp>
        <p:nvSpPr>
          <p:cNvPr id="37" name="Cannot"/>
          <p:cNvSpPr/>
          <p:nvPr/>
        </p:nvSpPr>
        <p:spPr>
          <a:xfrm>
            <a:off x="4663440" y="3246120"/>
            <a:ext cx="3794760" cy="1371600"/>
          </a:xfrm>
          <a:prstGeom prst="roundRect">
            <a:avLst>
              <a:gd name="adj" fmla="val 6000"/>
            </a:avLst>
          </a:prstGeom>
          <a:solidFill>
            <a:srgbClr val="FBEDEF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What staff cannot do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Re-route a ticket (admins only) or open another department's ticket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Use any other module; the account is refused there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How We Tested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Three independent checks on the same build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38</a:t>
            </a:r>
            <a:endParaRPr lang="en-US" sz="900" dirty="0"/>
          </a:p>
        </p:txBody>
      </p:sp>
      <p:sp>
        <p:nvSpPr>
          <p:cNvPr id="25" name="Check 1"/>
          <p:cNvSpPr/>
          <p:nvPr/>
        </p:nvSpPr>
        <p:spPr>
          <a:xfrm>
            <a:off x="685800" y="1371600"/>
            <a:ext cx="2468880" cy="21488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Automated API tests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169 tests across auth, courses, marks, help desk, mentorship, files and staff access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Run on an in-memory emulator and on real PostgreSQL 16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test starts from a fresh database</a:t>
            </a:r>
            <a:endParaRPr lang="en-US" sz="1000" dirty="0"/>
          </a:p>
        </p:txBody>
      </p:sp>
      <p:sp>
        <p:nvSpPr>
          <p:cNvPr id="26" name="Check 2"/>
          <p:cNvSpPr/>
          <p:nvPr/>
        </p:nvSpPr>
        <p:spPr>
          <a:xfrm>
            <a:off x="3337560" y="1371600"/>
            <a:ext cx="2468880" cy="21488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Browser walkthrough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Real logins as student, teacher, admin and staff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sidebar page opened; page errors, failed requests and Demo-data badges recorded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Five end-to-end flows exercised</a:t>
            </a:r>
            <a:endParaRPr lang="en-US" sz="1000" dirty="0"/>
          </a:p>
        </p:txBody>
      </p:sp>
      <p:sp>
        <p:nvSpPr>
          <p:cNvPr id="27" name="Check 3"/>
          <p:cNvSpPr/>
          <p:nvPr/>
        </p:nvSpPr>
        <p:spPr>
          <a:xfrm>
            <a:off x="5989320" y="1371600"/>
            <a:ext cx="2468880" cy="21488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Independent code review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reviewer read the 33 changed files for security and logic defects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Focus: staff isolation, file preview safety, approval rules, migrations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Findings were fixed and re-tested</a:t>
            </a:r>
            <a:endParaRPr lang="en-US" sz="1000" dirty="0"/>
          </a:p>
        </p:txBody>
      </p:sp>
      <p:sp>
        <p:nvSpPr>
          <p:cNvPr id="28" name="Next"/>
          <p:cNvSpPr/>
          <p:nvPr/>
        </p:nvSpPr>
        <p:spPr>
          <a:xfrm>
            <a:off x="685800" y="3749040"/>
            <a:ext cx="777240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C3778"/>
            </a:solidFill>
          </a:ln>
        </p:spPr>
        <p:txBody>
          <a:bodyPr wrap="square" lIns="137160" tIns="109728" rIns="137160" bIns="8229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Results are on the next slide.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They are run output from this build, not targets.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Test Results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Run output from this build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39</a:t>
            </a:r>
            <a:endParaRPr lang="en-US" sz="900" dirty="0"/>
          </a:p>
        </p:txBody>
      </p:sp>
      <p:sp>
        <p:nvSpPr>
          <p:cNvPr id="25" name="Stat 1"/>
          <p:cNvSpPr/>
          <p:nvPr/>
        </p:nvSpPr>
        <p:spPr>
          <a:xfrm>
            <a:off x="685800" y="13716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23764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167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API tests passed, 0 failed</a:t>
            </a:r>
            <a:endParaRPr lang="en-US" sz="1000" dirty="0"/>
          </a:p>
        </p:txBody>
      </p:sp>
      <p:sp>
        <p:nvSpPr>
          <p:cNvPr id="26" name="Stat 2"/>
          <p:cNvSpPr/>
          <p:nvPr/>
        </p:nvSpPr>
        <p:spPr>
          <a:xfrm>
            <a:off x="2682240" y="13716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2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skipped on purpose: real OCR download and real Redis</a:t>
            </a:r>
            <a:endParaRPr lang="en-US" sz="1000" dirty="0"/>
          </a:p>
        </p:txBody>
      </p:sp>
      <p:sp>
        <p:nvSpPr>
          <p:cNvPr id="27" name="Stat 3"/>
          <p:cNvSpPr/>
          <p:nvPr/>
        </p:nvSpPr>
        <p:spPr>
          <a:xfrm>
            <a:off x="4678680" y="13716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23764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40/40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portal pages loaded; 0 page errors</a:t>
            </a:r>
            <a:endParaRPr lang="en-US" sz="1000" dirty="0"/>
          </a:p>
        </p:txBody>
      </p:sp>
      <p:sp>
        <p:nvSpPr>
          <p:cNvPr id="28" name="Stat 4"/>
          <p:cNvSpPr/>
          <p:nvPr/>
        </p:nvSpPr>
        <p:spPr>
          <a:xfrm>
            <a:off x="6675120" y="1371600"/>
            <a:ext cx="1783080" cy="13258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37160" tIns="109728" rIns="137160" bIns="82296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000" b="1" dirty="0">
                <a:solidFill>
                  <a:srgbClr val="23764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5/5</a:t>
            </a:r>
            <a:endParaRPr lang="en-US" sz="3000" dirty="0"/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end-to-end flows passed</a:t>
            </a:r>
            <a:endParaRPr lang="en-US" sz="1000" dirty="0"/>
          </a:p>
        </p:txBody>
      </p:sp>
      <p:graphicFrame>
        <p:nvGraphicFramePr>
          <p:cNvPr id="29" name="Results table"/>
          <p:cNvGraphicFramePr>
            <a:graphicFrameLocks noGrp="1"/>
          </p:cNvGraphicFramePr>
          <p:nvPr/>
        </p:nvGraphicFramePr>
        <p:xfrm>
          <a:off x="685800" y="2926080"/>
          <a:ext cx="7772400" cy="1810512"/>
        </p:xfrm>
        <a:graphic>
          <a:graphicData uri="http://schemas.openxmlformats.org/drawingml/2006/table">
            <a:tbl>
              <a:tblPr firstRow="1"/>
              <a:tblGrid>
                <a:gridCol w="2103120"/>
                <a:gridCol w="5669280"/>
              </a:tblGrid>
              <a:tr h="2743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Check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Result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1C377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API tests, emulator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167 passed, 0 failed, 2 skipped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API tests, PostgreSQL 16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167 passed, 0 failed, 2 skipped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40 portal pages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16 student, 12 teacher, 11 admin, 1 staff; teacher Counselling logs 4 expected 403s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1C3778"/>
                          </a:solidFill>
                          <a:latin typeface="Tinos Bold" pitchFamily="34" charset="0"/>
                          <a:ea typeface="Tinos Bold" pitchFamily="34" charset="-122"/>
                          <a:cs typeface="Tinos Bold" pitchFamily="34" charset="-120"/>
                        </a:rPr>
                        <a:t>5 end-to-end flows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272525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Staff isolation, help-desk loop, mentor approval, file preview, staff creation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7DAE1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30" name="Scope note"/>
          <p:cNvSpPr/>
          <p:nvPr/>
        </p:nvSpPr>
        <p:spPr>
          <a:xfrm>
            <a:off x="685800" y="4846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i="1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Browser checks ran before the last review fixes; mentor approval was re-checked afterwards. These results cover the web app and API. Risk-model results are on slides 18-20.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7099" y="0"/>
            <a:ext cx="326827" cy="432792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94" y="6356375"/>
            <a:ext cx="1293986" cy="36574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424" y="5986835"/>
            <a:ext cx="404589" cy="617190"/>
          </a:xfrm>
          <a:prstGeom prst="rect">
            <a:avLst/>
          </a:prstGeom>
        </p:spPr>
      </p:pic>
      <p:sp>
        <p:nvSpPr>
          <p:cNvPr id="21" name="Title"/>
          <p:cNvSpPr/>
          <p:nvPr/>
        </p:nvSpPr>
        <p:spPr>
          <a:xfrm>
            <a:off x="777240" y="420624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Remaining Work</a:t>
            </a:r>
            <a:endParaRPr lang="en-US" sz="2400" dirty="0"/>
          </a:p>
        </p:txBody>
      </p:sp>
      <p:sp>
        <p:nvSpPr>
          <p:cNvPr id="22" name="Subtitle"/>
          <p:cNvSpPr/>
          <p:nvPr/>
        </p:nvSpPr>
        <p:spPr>
          <a:xfrm>
            <a:off x="804672" y="1005840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is not built or not finished yet</a:t>
            </a:r>
            <a:endParaRPr lang="en-US" sz="1250" dirty="0"/>
          </a:p>
        </p:txBody>
      </p:sp>
      <p:sp>
        <p:nvSpPr>
          <p:cNvPr id="23" name="Footer rule"/>
          <p:cNvSpPr/>
          <p:nvPr/>
        </p:nvSpPr>
        <p:spPr>
          <a:xfrm>
            <a:off x="685800" y="5742432"/>
            <a:ext cx="640080" cy="22860"/>
          </a:xfrm>
          <a:prstGeom prst="rect">
            <a:avLst/>
          </a:prstGeom>
          <a:solidFill>
            <a:srgbClr val="B41837"/>
          </a:solidFill>
          <a:ln>
            <a:noFill/>
          </a:ln>
        </p:spPr>
      </p:sp>
      <p:sp>
        <p:nvSpPr>
          <p:cNvPr id="24" name="Page number"/>
          <p:cNvSpPr/>
          <p:nvPr/>
        </p:nvSpPr>
        <p:spPr>
          <a:xfrm>
            <a:off x="7470648" y="5641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A5A5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40</a:t>
            </a:r>
            <a:endParaRPr lang="en-US" sz="900" dirty="0"/>
          </a:p>
        </p:txBody>
      </p:sp>
      <p:sp>
        <p:nvSpPr>
          <p:cNvPr id="25" name="Needs input"/>
          <p:cNvSpPr/>
          <p:nvPr/>
        </p:nvSpPr>
        <p:spPr>
          <a:xfrm>
            <a:off x="685800" y="1371600"/>
            <a:ext cx="3794760" cy="2103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Needs a key, a service or data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Vector search for Smart Notes: needs an embedding model key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Trained risk model: needs real student history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Real push and email: need push keys and a mail server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Virus scanning of uploads: needs a ClamAV service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Live job listings: need an external jobs source</a:t>
            </a:r>
            <a:endParaRPr lang="en-US" sz="1000" dirty="0"/>
          </a:p>
        </p:txBody>
      </p:sp>
      <p:sp>
        <p:nvSpPr>
          <p:cNvPr id="26" name="Known issues"/>
          <p:cNvSpPr/>
          <p:nvPr/>
        </p:nvSpPr>
        <p:spPr>
          <a:xfrm>
            <a:off x="4663440" y="1371600"/>
            <a:ext cx="3794760" cy="2103120"/>
          </a:xfrm>
          <a:prstGeom prst="roundRect">
            <a:avLst>
              <a:gd name="adj" fmla="val 6000"/>
            </a:avLst>
          </a:prstGeom>
          <a:solidFill>
            <a:srgbClr val="FBEDEF"/>
          </a:solidFill>
          <a:ln>
            <a:noFill/>
          </a:ln>
        </p:spPr>
        <p:txBody>
          <a:bodyPr wrap="square" lIns="146304" tIns="117043" rIns="146304" bIns="87782" rtlCol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41837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Known issues to fix</a:t>
            </a:r>
            <a:endParaRPr lang="en-US" sz="12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Next.js security advisory: needs a major version upgrade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 API dependency update (body-parser) is available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mentor who steps down cannot rejoin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Role changes apply after up to 15 minutes</a:t>
            </a:r>
            <a:endParaRPr lang="en-US" sz="1000" dirty="0"/>
          </a:p>
          <a:p>
            <a:pPr algn="l" marL="137160" indent="-13716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Teacher Counselling page logs 403 errors for non-counsellors</a:t>
            </a:r>
            <a:endParaRPr lang="en-US" sz="1000" dirty="0"/>
          </a:p>
        </p:txBody>
      </p:sp>
      <p:sp>
        <p:nvSpPr>
          <p:cNvPr id="27" name="Not done"/>
          <p:cNvSpPr/>
          <p:nvPr/>
        </p:nvSpPr>
        <p:spPr>
          <a:xfrm>
            <a:off x="685800" y="3703320"/>
            <a:ext cx="77724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C3778"/>
            </a:solidFill>
          </a:ln>
        </p:spPr>
        <p:txBody>
          <a:bodyPr wrap="square" lIns="137160" tIns="109728" rIns="137160" bIns="82296" rtlCol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C3778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Not done yet: </a:t>
            </a:r>
            <a:r>
              <a:rPr lang="en-US" sz="1000" dirty="0">
                <a:solidFill>
                  <a:srgbClr val="272525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deployment, making the repository private, and checking PDF preview in a real browser.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2026-10-11T18:06:53Z</dcterms:created>
  <dcterms:modified xsi:type="dcterms:W3CDTF">2026-10-11T18:06:53Z</dcterms:modified>
</cp:coreProperties>
</file>