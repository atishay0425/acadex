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01316"/>
    <p:sldId id="278" r:id="rId201317"/>
    <p:sldId id="279" r:id="rId201318"/>
    <p:sldId id="280" r:id="rId201319"/>
    <p:sldId id="281" r:id="rId201320"/>
    <p:sldId id="282" r:id="rId201321"/>
    <p:sldId id="283" r:id="rId201322"/>
    <p:sldId id="284" r:id="rId201323"/>
    <p:sldId id="285" r:id="rId201324"/>
    <p:sldId id="286" r:id="rId201325"/>
    <p:sldId id="276" r:id="rId22"/>
  </p:sldIdLst>
  <p:notesMasterIdLst>
    <p:notesMasterId r:id="rId23"/>
  </p:notesMasterIdLst>
  <p:sldSz cx="9144000" cy="6858000"/>
  <p:notesSz cx="6858000" cy="9144000"/>
  <p:embeddedFontLst>
    <p:embeddedFont>
      <p:font typeface="Tinos"/>
      <p:regular r:id="rId201314"/>
    </p:embeddedFont>
    <p:embeddedFont>
      <p:font typeface="Tino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  <Relationship Id="rId201316" Type="http://schemas.openxmlformats.org/officeDocument/2006/relationships/slide" Target="slides/slide22.xml"/>
  <Relationship Id="rId201317" Type="http://schemas.openxmlformats.org/officeDocument/2006/relationships/slide" Target="slides/slide23.xml"/>
  <Relationship Id="rId201318" Type="http://schemas.openxmlformats.org/officeDocument/2006/relationships/slide" Target="slides/slide24.xml"/>
  <Relationship Id="rId201319" Type="http://schemas.openxmlformats.org/officeDocument/2006/relationships/slide" Target="slides/slide25.xml"/>
  <Relationship Id="rId201320" Type="http://schemas.openxmlformats.org/officeDocument/2006/relationships/slide" Target="slides/slide26.xml"/>
  <Relationship Id="rId201321" Type="http://schemas.openxmlformats.org/officeDocument/2006/relationships/slide" Target="slides/slide27.xml"/>
  <Relationship Id="rId201322" Type="http://schemas.openxmlformats.org/officeDocument/2006/relationships/slide" Target="slides/slide28.xml"/>
  <Relationship Id="rId201323" Type="http://schemas.openxmlformats.org/officeDocument/2006/relationships/slide" Target="slides/slide29.xml"/>
  <Relationship Id="rId201324" Type="http://schemas.openxmlformats.org/officeDocument/2006/relationships/slide" Target="slides/slide30.xml"/>
  <Relationship Id="rId201325" Type="http://schemas.openxmlformats.org/officeDocument/2006/relationships/slide" Target="slides/slide3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45" y="1041350"/>
            <a:ext cx="2363465" cy="6867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5" y="6334720"/>
            <a:ext cx="1293986" cy="3657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5911" y="1790700"/>
            <a:ext cx="71310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STUDENT MANAGEMENT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914326" y="3073718"/>
            <a:ext cx="8229674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Advanced learning, guidance and support features for the College Management System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14326" y="4162133"/>
            <a:ext cx="3648224" cy="271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Learn. Plan. Connect. Grow.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2311747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8339361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College Management System handles campus admin well, but students only open it when they have to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180" y="1417290"/>
            <a:ext cx="1051545" cy="347439"/>
          </a:xfrm>
          <a:prstGeom prst="roundRect">
            <a:avLst>
              <a:gd name="adj" fmla="val 20002"/>
            </a:avLst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7002" y="1489725"/>
            <a:ext cx="129197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GAP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01601" y="1843757"/>
            <a:ext cx="6995145" cy="2761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College Management System already covers fees, classes, exams, placements and events.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Most students open it for a task or a notice, then leave. There is little reason to come back every day.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Doubts, notes and guidance mostly happen on outside apps, not inside the campus system.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attendance or falling marks are often noticed late, close to exams.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and mentors have no single place to see which students need help.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8084269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What College Management Offers Today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711205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current college management features that students already use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6517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Academics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registration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Classes &amp; examinations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 payments &amp; receipts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Assignments &amp; cohorts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6517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Placements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716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Jobs &amp; campus drives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6517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Network &amp; Campus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Forums &amp; people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Events &amp; competitions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Notices &amp; posts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39318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Our Solution: Acadex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998071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 new modules that give students a reason to open Acadex every day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508745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508745"/>
            <a:ext cx="73149" cy="1600200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681460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 Smarter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780" y="2093476"/>
            <a:ext cx="2868960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Doubt Desk and Study Planner.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508745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508745"/>
            <a:ext cx="73149" cy="1600200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380" y="1681460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Stay on Track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663380" y="2093476"/>
            <a:ext cx="2868960" cy="7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Performance Analyzer, Early Warning System and Student Help Center.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3291780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3291780"/>
            <a:ext cx="73149" cy="1600200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05780" y="3464496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Get Guidance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05780" y="3876511"/>
            <a:ext cx="2868960" cy="7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Counselling, Career Guidance and Senior–Junior Mentorship.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43400" y="3291780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3291780"/>
            <a:ext cx="73149" cy="1600200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380" y="3464496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Build Together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663380" y="3876511"/>
            <a:ext cx="2868960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Community and Project &amp; Idea Hub.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2661568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 Smarter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390727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Academic help any time, from AI or from faculty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18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14636" y="1723132"/>
            <a:ext cx="2048545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Faculty Doubt Desk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14636" y="2012826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a specific teacher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Upvote common doubts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Mark as solved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Search past solutions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67783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66840" y="1742405"/>
            <a:ext cx="208694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Notes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66840" y="2032099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Upload PDFs &amp;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 summaries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Important questions &amp; MCQs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from your own notes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6029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8727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14553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Plan and Stay on Track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807446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Turn attendance, marks and deadlines into daily action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Add exams &amp; subjects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Auto-generated schedule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Track completed topics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Performance Analyzer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Attendance + marks + assignments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Finds weak subjects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Shows performance trends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Personal suggestions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Early Warning System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attendance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Falling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Missing assignments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 student &amp; mentor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64061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Guidance and Mentorship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3086993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right advice at the right time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Counselling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Academic, career &amp; personal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Notes &amp; follow-ups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Anonymous option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Career Guidance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Enter interests, skills &amp;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Suggested career paths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Courses &amp; internships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Placement roadmap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Mentorship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Branch-wise mentors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College &amp; career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Anonymous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 ratings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435376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Community and Support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3692128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Learn together and get issues solved fast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Community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&amp; branch rooms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Discuss projects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Upvote useful answers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Project &amp; Idea Hub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Submit project ideas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Find teammates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mentor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Progress tracking &amp; repository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Help Center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Fees, hostel, library, IT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Certificates &amp; academics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Auto-routed to the right department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70557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Students Will Return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85800" y="1325835"/>
            <a:ext cx="3429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325835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780" y="1515294"/>
            <a:ext cx="3109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Reasons to Open Acadex Daily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780" y="1820317"/>
            <a:ext cx="2881685" cy="108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Today's study plan &amp; reminders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Doubts answered by faculty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 on attendance &amp;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Mentors, community &amp; projects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325835"/>
            <a:ext cx="3429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3400" y="1325835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380" y="1515294"/>
            <a:ext cx="3109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380" y="1820317"/>
            <a:ext cx="2881685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 → better learning &amp; support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→ fewer repeated doubts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Mentors → early view of at-risk students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Admin → issues reach the right department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380" y="3623950"/>
            <a:ext cx="2881685" cy="589285"/>
          </a:xfrm>
          <a:prstGeom prst="rect">
            <a:avLst/>
          </a:prstGeom>
          <a:noFill/>
          <a:ln/>
        </p:spPr>
        <p:txBody>
          <a:bodyPr wrap="square" lIns="0" tIns="10160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FROM A PORTAL TO A DAILY COMPANION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370396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Proposed Tech Stack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926559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Simple, widely used tools that a student team can build and maintain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92603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React or Next.js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Tailwind CSS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Mobile-friendly web app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Role-based dashboards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92603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Node.js with Express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PostgreSQL database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Redis for alerts &amp; caching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Secure login with JWT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92603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Integrations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OCR for image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Vector search for Smart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Email &amp; push notifications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16701" y="5646179"/>
            <a:ext cx="57276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65140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744045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Built in phases, starting with what students need most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92603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1: Learning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792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Doubt Desk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Smart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92603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2: Support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Performance Analyzer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Early Warning System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Counselling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Help Center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92603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3: Community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Senior–Junior Mentorship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Community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Project &amp; Idea Hub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Career Guidance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18040" y="5646179"/>
            <a:ext cx="57150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11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Survey: Methods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Eight IEEE / Springer papers: algorithm used, advantages and disadvantages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25" name="Literature table"/>
          <p:cNvGraphicFramePr>
            <a:graphicFrameLocks noGrp="1"/>
          </p:cNvGraphicFramePr>
          <p:nvPr/>
        </p:nvGraphicFramePr>
        <p:xfrm>
          <a:off x="685800" y="1371600"/>
          <a:ext cx="7772400" cy="3931920"/>
        </p:xfrm>
        <a:graphic>
          <a:graphicData uri="http://schemas.openxmlformats.org/drawingml/2006/table">
            <a:tbl>
              <a:tblPr firstRow="1"/>
              <a:tblGrid>
                <a:gridCol w="292608"/>
                <a:gridCol w="1691640"/>
                <a:gridCol w="1828800"/>
                <a:gridCol w="1920240"/>
                <a:gridCol w="2039112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#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Paper / Venue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Algorithm used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Advantage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23764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Disadvantage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Cano &amp; Leonard [1]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Trans. Learning Tech.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Multiview Genetic Programming rule classifier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Transparent rules; targets underrepresented groups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Flags risk but gives no study action; many views needed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Al-Shabandar et al. [2]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RF and Gradient Boosting on MOOC data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Early detection of at-risk learners (GBM up to 0.95)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Black-box output; MOOC-specific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Zhao et al. [3]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AugmentED: LSTM features + ML classifiers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Holistic campus-life view; feedback to students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Small sample (156 students); privacy-heavy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Cui et al. [4]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TNNLS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Tri-branch CNN with top-k focused loss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Accurate ranking of at-risk students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Black-box deep model; predicts but does not recommend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Yanes et al. [5]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ML recommender (multi-label classification)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Suggests improvement actions for courses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Aimed at faculty, not students; no outcome tracking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6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Ma et al. [6]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Trans. Comput. Social Syst.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Knowledge tracing + Transformer, 4-level warning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Early warning tied to course objectives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Deep state models are hard to explain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7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Kord et al. [7]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Springer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14 ML/DL models compared; SVC best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Predicts grades and recommends courses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Only ~78% accuracy; one faculty dataset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Alalawi et al. [8]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Springer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SPPA: course-specific ML + study plans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Tested in a real course; personalised revision plans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Needs course-specific historical data; single cohort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Survey: The Gaps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studies are promising, but six recurring limits leave room for a student-support system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Gap card 1"/>
          <p:cNvSpPr/>
          <p:nvPr/>
        </p:nvSpPr>
        <p:spPr>
          <a:xfrm>
            <a:off x="68580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Gap number 1"/>
          <p:cNvSpPr/>
          <p:nvPr/>
        </p:nvSpPr>
        <p:spPr>
          <a:xfrm>
            <a:off x="85039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Gap title 1"/>
          <p:cNvSpPr/>
          <p:nvPr/>
        </p:nvSpPr>
        <p:spPr>
          <a:xfrm>
            <a:off x="85039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Limited interpretability</a:t>
            </a:r>
            <a:endParaRPr lang="en-US" sz="1400" dirty="0"/>
          </a:p>
        </p:txBody>
      </p:sp>
      <p:sp>
        <p:nvSpPr>
          <p:cNvPr id="28" name="Gap text 1"/>
          <p:cNvSpPr/>
          <p:nvPr/>
        </p:nvSpPr>
        <p:spPr>
          <a:xfrm>
            <a:off x="85039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Accurate predictions are hard for students and faculty to trust.</a:t>
            </a:r>
            <a:endParaRPr lang="en-US" sz="1100" dirty="0"/>
          </a:p>
        </p:txBody>
      </p:sp>
      <p:sp>
        <p:nvSpPr>
          <p:cNvPr id="29" name="Gap refs 1"/>
          <p:cNvSpPr/>
          <p:nvPr/>
        </p:nvSpPr>
        <p:spPr>
          <a:xfrm>
            <a:off x="85039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[2] [4] [6]</a:t>
            </a:r>
            <a:endParaRPr lang="en-US" sz="1000" dirty="0"/>
          </a:p>
        </p:txBody>
      </p:sp>
      <p:sp>
        <p:nvSpPr>
          <p:cNvPr id="30" name="Gap card 2"/>
          <p:cNvSpPr/>
          <p:nvPr/>
        </p:nvSpPr>
        <p:spPr>
          <a:xfrm>
            <a:off x="333756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1" name="Gap number 2"/>
          <p:cNvSpPr/>
          <p:nvPr/>
        </p:nvSpPr>
        <p:spPr>
          <a:xfrm>
            <a:off x="350215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Gap title 2"/>
          <p:cNvSpPr/>
          <p:nvPr/>
        </p:nvSpPr>
        <p:spPr>
          <a:xfrm>
            <a:off x="350215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Narrow signals</a:t>
            </a:r>
            <a:endParaRPr lang="en-US" sz="1400" dirty="0"/>
          </a:p>
        </p:txBody>
      </p:sp>
      <p:sp>
        <p:nvSpPr>
          <p:cNvPr id="33" name="Gap text 2"/>
          <p:cNvSpPr/>
          <p:nvPr/>
        </p:nvSpPr>
        <p:spPr>
          <a:xfrm>
            <a:off x="350215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Many systems rely on one source, one course or a small feature family.</a:t>
            </a:r>
            <a:endParaRPr lang="en-US" sz="1100" dirty="0"/>
          </a:p>
        </p:txBody>
      </p:sp>
      <p:sp>
        <p:nvSpPr>
          <p:cNvPr id="34" name="Gap refs 2"/>
          <p:cNvSpPr/>
          <p:nvPr/>
        </p:nvSpPr>
        <p:spPr>
          <a:xfrm>
            <a:off x="350215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[2] [7] [8]</a:t>
            </a:r>
            <a:endParaRPr lang="en-US" sz="1000" dirty="0"/>
          </a:p>
        </p:txBody>
      </p:sp>
      <p:sp>
        <p:nvSpPr>
          <p:cNvPr id="35" name="Gap card 3"/>
          <p:cNvSpPr/>
          <p:nvPr/>
        </p:nvSpPr>
        <p:spPr>
          <a:xfrm>
            <a:off x="598932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6" name="Gap number 3"/>
          <p:cNvSpPr/>
          <p:nvPr/>
        </p:nvSpPr>
        <p:spPr>
          <a:xfrm>
            <a:off x="615391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Gap title 3"/>
          <p:cNvSpPr/>
          <p:nvPr/>
        </p:nvSpPr>
        <p:spPr>
          <a:xfrm>
            <a:off x="615391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 and cold start</a:t>
            </a:r>
            <a:endParaRPr lang="en-US" sz="1400" dirty="0"/>
          </a:p>
        </p:txBody>
      </p:sp>
      <p:sp>
        <p:nvSpPr>
          <p:cNvPr id="38" name="Gap text 3"/>
          <p:cNvSpPr/>
          <p:nvPr/>
        </p:nvSpPr>
        <p:spPr>
          <a:xfrm>
            <a:off x="615391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Rare at-risk cases and brand-new learners are difficult to model fairly.</a:t>
            </a:r>
            <a:endParaRPr lang="en-US" sz="1100" dirty="0"/>
          </a:p>
        </p:txBody>
      </p:sp>
      <p:sp>
        <p:nvSpPr>
          <p:cNvPr id="39" name="Gap refs 3"/>
          <p:cNvSpPr/>
          <p:nvPr/>
        </p:nvSpPr>
        <p:spPr>
          <a:xfrm>
            <a:off x="615391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[3] [5]</a:t>
            </a:r>
            <a:endParaRPr lang="en-US" sz="1000" dirty="0"/>
          </a:p>
        </p:txBody>
      </p:sp>
      <p:sp>
        <p:nvSpPr>
          <p:cNvPr id="40" name="Gap card 4"/>
          <p:cNvSpPr/>
          <p:nvPr/>
        </p:nvSpPr>
        <p:spPr>
          <a:xfrm>
            <a:off x="68580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1" name="Gap number 4"/>
          <p:cNvSpPr/>
          <p:nvPr/>
        </p:nvSpPr>
        <p:spPr>
          <a:xfrm>
            <a:off x="85039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Gap title 4"/>
          <p:cNvSpPr/>
          <p:nvPr/>
        </p:nvSpPr>
        <p:spPr>
          <a:xfrm>
            <a:off x="85039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without action</a:t>
            </a:r>
            <a:endParaRPr lang="en-US" sz="1400" dirty="0"/>
          </a:p>
        </p:txBody>
      </p:sp>
      <p:sp>
        <p:nvSpPr>
          <p:cNvPr id="43" name="Gap text 4"/>
          <p:cNvSpPr/>
          <p:nvPr/>
        </p:nvSpPr>
        <p:spPr>
          <a:xfrm>
            <a:off x="85039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risk flag is not yet a study plan, an outreach step or a support loop.</a:t>
            </a:r>
            <a:endParaRPr lang="en-US" sz="1100" dirty="0"/>
          </a:p>
        </p:txBody>
      </p:sp>
      <p:sp>
        <p:nvSpPr>
          <p:cNvPr id="44" name="Gap refs 4"/>
          <p:cNvSpPr/>
          <p:nvPr/>
        </p:nvSpPr>
        <p:spPr>
          <a:xfrm>
            <a:off x="85039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[1] [4]</a:t>
            </a:r>
            <a:endParaRPr lang="en-US" sz="1000" dirty="0"/>
          </a:p>
        </p:txBody>
      </p:sp>
      <p:sp>
        <p:nvSpPr>
          <p:cNvPr id="45" name="Gap card 5"/>
          <p:cNvSpPr/>
          <p:nvPr/>
        </p:nvSpPr>
        <p:spPr>
          <a:xfrm>
            <a:off x="333756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6" name="Gap number 5"/>
          <p:cNvSpPr/>
          <p:nvPr/>
        </p:nvSpPr>
        <p:spPr>
          <a:xfrm>
            <a:off x="350215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Gap title 5"/>
          <p:cNvSpPr/>
          <p:nvPr/>
        </p:nvSpPr>
        <p:spPr>
          <a:xfrm>
            <a:off x="350215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Weak generalisation</a:t>
            </a:r>
            <a:endParaRPr lang="en-US" sz="1400" dirty="0"/>
          </a:p>
        </p:txBody>
      </p:sp>
      <p:sp>
        <p:nvSpPr>
          <p:cNvPr id="48" name="Gap text 5"/>
          <p:cNvSpPr/>
          <p:nvPr/>
        </p:nvSpPr>
        <p:spPr>
          <a:xfrm>
            <a:off x="350215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Models may not transfer across cohorts, courses or campuses.</a:t>
            </a:r>
            <a:endParaRPr lang="en-US" sz="1100" dirty="0"/>
          </a:p>
        </p:txBody>
      </p:sp>
      <p:sp>
        <p:nvSpPr>
          <p:cNvPr id="49" name="Gap refs 5"/>
          <p:cNvSpPr/>
          <p:nvPr/>
        </p:nvSpPr>
        <p:spPr>
          <a:xfrm>
            <a:off x="350215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[3] [7] [8]</a:t>
            </a:r>
            <a:endParaRPr lang="en-US" sz="1000" dirty="0"/>
          </a:p>
        </p:txBody>
      </p:sp>
      <p:sp>
        <p:nvSpPr>
          <p:cNvPr id="50" name="Gap card 6"/>
          <p:cNvSpPr/>
          <p:nvPr/>
        </p:nvSpPr>
        <p:spPr>
          <a:xfrm>
            <a:off x="598932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51" name="Gap number 6"/>
          <p:cNvSpPr/>
          <p:nvPr/>
        </p:nvSpPr>
        <p:spPr>
          <a:xfrm>
            <a:off x="615391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Gap title 6"/>
          <p:cNvSpPr/>
          <p:nvPr/>
        </p:nvSpPr>
        <p:spPr>
          <a:xfrm>
            <a:off x="615391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Unmeasured impact</a:t>
            </a:r>
            <a:endParaRPr lang="en-US" sz="1400" dirty="0"/>
          </a:p>
        </p:txBody>
      </p:sp>
      <p:sp>
        <p:nvSpPr>
          <p:cNvPr id="53" name="Gap text 6"/>
          <p:cNvSpPr/>
          <p:nvPr/>
        </p:nvSpPr>
        <p:spPr>
          <a:xfrm>
            <a:off x="615391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 change are measured far less often than prediction.</a:t>
            </a:r>
            <a:endParaRPr lang="en-US" sz="1100" dirty="0"/>
          </a:p>
        </p:txBody>
      </p:sp>
      <p:sp>
        <p:nvSpPr>
          <p:cNvPr id="54" name="Gap refs 6"/>
          <p:cNvSpPr/>
          <p:nvPr/>
        </p:nvSpPr>
        <p:spPr>
          <a:xfrm>
            <a:off x="615391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[5]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Objective: Prediction to Support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limitation found in the literature gets a specific answer in Acadex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14</a:t>
            </a:r>
            <a:endParaRPr lang="en-US" sz="900" dirty="0"/>
          </a:p>
        </p:txBody>
      </p:sp>
      <p:sp>
        <p:nvSpPr>
          <p:cNvPr id="25" name="Col head gap"/>
          <p:cNvSpPr/>
          <p:nvPr/>
        </p:nvSpPr>
        <p:spPr>
          <a:xfrm>
            <a:off x="685800" y="13258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GAP</a:t>
            </a:r>
            <a:endParaRPr lang="en-US" sz="1000" dirty="0"/>
          </a:p>
        </p:txBody>
      </p:sp>
      <p:sp>
        <p:nvSpPr>
          <p:cNvPr id="26" name="Col head sol"/>
          <p:cNvSpPr/>
          <p:nvPr/>
        </p:nvSpPr>
        <p:spPr>
          <a:xfrm>
            <a:off x="3611880" y="132588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 ANSWER</a:t>
            </a:r>
            <a:endParaRPr lang="en-US" sz="1000" dirty="0"/>
          </a:p>
        </p:txBody>
      </p:sp>
      <p:sp>
        <p:nvSpPr>
          <p:cNvPr id="27" name="Gap 1"/>
          <p:cNvSpPr/>
          <p:nvPr/>
        </p:nvSpPr>
        <p:spPr>
          <a:xfrm>
            <a:off x="685800" y="157276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Limited interpretability</a:t>
            </a:r>
            <a:endParaRPr lang="en-US" sz="1200" dirty="0"/>
          </a:p>
        </p:txBody>
      </p:sp>
      <p:cxnSp>
        <p:nvCxnSpPr>
          <p:cNvPr id="28" name="Arrow 1"/>
          <p:cNvCxnSpPr/>
          <p:nvPr/>
        </p:nvCxnSpPr>
        <p:spPr>
          <a:xfrm>
            <a:off x="3227832" y="1801368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29" name="Answer 1"/>
          <p:cNvSpPr/>
          <p:nvPr/>
        </p:nvSpPr>
        <p:spPr>
          <a:xfrm>
            <a:off x="3611880" y="157276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Explainable risk scores: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XGBoost with SHAP shows the drivers behind every flag.</a:t>
            </a:r>
            <a:endParaRPr lang="en-US" sz="1100" dirty="0"/>
          </a:p>
        </p:txBody>
      </p:sp>
      <p:sp>
        <p:nvSpPr>
          <p:cNvPr id="30" name="Gap 2"/>
          <p:cNvSpPr/>
          <p:nvPr/>
        </p:nvSpPr>
        <p:spPr>
          <a:xfrm>
            <a:off x="685800" y="211226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Narrow signals</a:t>
            </a:r>
            <a:endParaRPr lang="en-US" sz="1200" dirty="0"/>
          </a:p>
        </p:txBody>
      </p:sp>
      <p:cxnSp>
        <p:nvCxnSpPr>
          <p:cNvPr id="31" name="Arrow 2"/>
          <p:cNvCxnSpPr/>
          <p:nvPr/>
        </p:nvCxnSpPr>
        <p:spPr>
          <a:xfrm>
            <a:off x="3227832" y="2340864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2" name="Answer 2"/>
          <p:cNvSpPr/>
          <p:nvPr/>
        </p:nvSpPr>
        <p:spPr>
          <a:xfrm>
            <a:off x="3611880" y="2112264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Multimodal student signals: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Engagement, assessment, attendance-style and planning data combined.</a:t>
            </a:r>
            <a:endParaRPr lang="en-US" sz="1100" dirty="0"/>
          </a:p>
        </p:txBody>
      </p:sp>
      <p:sp>
        <p:nvSpPr>
          <p:cNvPr id="33" name="Gap 3"/>
          <p:cNvSpPr/>
          <p:nvPr/>
        </p:nvSpPr>
        <p:spPr>
          <a:xfrm>
            <a:off x="685800" y="26517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 and cold start</a:t>
            </a:r>
            <a:endParaRPr lang="en-US" sz="1200" dirty="0"/>
          </a:p>
        </p:txBody>
      </p:sp>
      <p:cxnSp>
        <p:nvCxnSpPr>
          <p:cNvPr id="34" name="Arrow 3"/>
          <p:cNvCxnSpPr/>
          <p:nvPr/>
        </p:nvCxnSpPr>
        <p:spPr>
          <a:xfrm>
            <a:off x="3227832" y="2880360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5" name="Answer 3"/>
          <p:cNvSpPr/>
          <p:nvPr/>
        </p:nvSpPr>
        <p:spPr>
          <a:xfrm>
            <a:off x="3611880" y="265176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Imbalance-aware modelling: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 weights, threshold tuning, PR-AUC; early-term features for new learners.</a:t>
            </a:r>
            <a:endParaRPr lang="en-US" sz="1100" dirty="0"/>
          </a:p>
        </p:txBody>
      </p:sp>
      <p:sp>
        <p:nvSpPr>
          <p:cNvPr id="36" name="Gap 4"/>
          <p:cNvSpPr/>
          <p:nvPr/>
        </p:nvSpPr>
        <p:spPr>
          <a:xfrm>
            <a:off x="685800" y="319125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without action</a:t>
            </a:r>
            <a:endParaRPr lang="en-US" sz="1200" dirty="0"/>
          </a:p>
        </p:txBody>
      </p:sp>
      <p:cxnSp>
        <p:nvCxnSpPr>
          <p:cNvPr id="37" name="Arrow 4"/>
          <p:cNvCxnSpPr/>
          <p:nvPr/>
        </p:nvCxnSpPr>
        <p:spPr>
          <a:xfrm>
            <a:off x="3227832" y="3419856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8" name="Answer 4"/>
          <p:cNvSpPr/>
          <p:nvPr/>
        </p:nvSpPr>
        <p:spPr>
          <a:xfrm>
            <a:off x="3611880" y="319125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Personalised study actions: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Recommends a next step, not only a probability.</a:t>
            </a:r>
            <a:endParaRPr lang="en-US" sz="1100" dirty="0"/>
          </a:p>
        </p:txBody>
      </p:sp>
      <p:sp>
        <p:nvSpPr>
          <p:cNvPr id="39" name="Gap 5"/>
          <p:cNvSpPr/>
          <p:nvPr/>
        </p:nvSpPr>
        <p:spPr>
          <a:xfrm>
            <a:off x="685800" y="373075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Weak generalisation</a:t>
            </a:r>
            <a:endParaRPr lang="en-US" sz="1200" dirty="0"/>
          </a:p>
        </p:txBody>
      </p:sp>
      <p:cxnSp>
        <p:nvCxnSpPr>
          <p:cNvPr id="40" name="Arrow 5"/>
          <p:cNvCxnSpPr/>
          <p:nvPr/>
        </p:nvCxnSpPr>
        <p:spPr>
          <a:xfrm>
            <a:off x="3227832" y="3959352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1" name="Answer 5"/>
          <p:cNvSpPr/>
          <p:nvPr/>
        </p:nvSpPr>
        <p:spPr>
          <a:xfrm>
            <a:off x="3611880" y="373075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Common feature contract: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OULAD-trained, with cohort-wise validation and a mapped Acadex schema.</a:t>
            </a:r>
            <a:endParaRPr lang="en-US" sz="1100" dirty="0"/>
          </a:p>
        </p:txBody>
      </p:sp>
      <p:sp>
        <p:nvSpPr>
          <p:cNvPr id="42" name="Gap 6"/>
          <p:cNvSpPr/>
          <p:nvPr/>
        </p:nvSpPr>
        <p:spPr>
          <a:xfrm>
            <a:off x="685800" y="42702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Unmeasured impact</a:t>
            </a:r>
            <a:endParaRPr lang="en-US" sz="1200" dirty="0"/>
          </a:p>
        </p:txBody>
      </p:sp>
      <p:cxnSp>
        <p:nvCxnSpPr>
          <p:cNvPr id="43" name="Arrow 6"/>
          <p:cNvCxnSpPr/>
          <p:nvPr/>
        </p:nvCxnSpPr>
        <p:spPr>
          <a:xfrm>
            <a:off x="3227832" y="4498848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4" name="Answer 6"/>
          <p:cNvSpPr/>
          <p:nvPr/>
        </p:nvSpPr>
        <p:spPr>
          <a:xfrm>
            <a:off x="3611880" y="427024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Intervention tracking: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 logged; faculty escalation with minimum-data privacy.</a:t>
            </a:r>
            <a:endParaRPr lang="en-US" sz="1100" dirty="0"/>
          </a:p>
        </p:txBody>
      </p:sp>
      <p:sp>
        <p:nvSpPr>
          <p:cNvPr id="45" name="Tagline"/>
          <p:cNvSpPr/>
          <p:nvPr/>
        </p:nvSpPr>
        <p:spPr>
          <a:xfrm>
            <a:off x="685800" y="4828032"/>
            <a:ext cx="7772400" cy="420624"/>
          </a:xfrm>
          <a:prstGeom prst="roundRect">
            <a:avLst>
              <a:gd name="adj" fmla="val 20000"/>
            </a:avLst>
          </a:prstGeom>
          <a:solidFill>
            <a:srgbClr val="1C3778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SEE RISK.   EXPLAIN IT.   ACT EARLY.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Proposed System Block Diagram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 explainable left-to-right pipeline with a feedback loop into student support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Block 1"/>
          <p:cNvSpPr/>
          <p:nvPr/>
        </p:nvSpPr>
        <p:spPr>
          <a:xfrm>
            <a:off x="68580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 tables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+ Acadex activity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IDs, scores, clicks,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deadlines, support use</a:t>
            </a:r>
            <a:endParaRPr lang="en-US" sz="1000" dirty="0"/>
          </a:p>
        </p:txBody>
      </p:sp>
      <p:sp>
        <p:nvSpPr>
          <p:cNvPr id="26" name="Block 1 number"/>
          <p:cNvSpPr/>
          <p:nvPr/>
        </p:nvSpPr>
        <p:spPr>
          <a:xfrm>
            <a:off x="79552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Block 2"/>
          <p:cNvSpPr/>
          <p:nvPr/>
        </p:nvSpPr>
        <p:spPr>
          <a:xfrm>
            <a:off x="269748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1C377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Preprocessing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Schema audit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De-duplication · nulls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Encode · scale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Leakage check · split</a:t>
            </a:r>
            <a:endParaRPr lang="en-US" sz="1000" dirty="0"/>
          </a:p>
        </p:txBody>
      </p:sp>
      <p:sp>
        <p:nvSpPr>
          <p:cNvPr id="28" name="Block 2 number"/>
          <p:cNvSpPr/>
          <p:nvPr/>
        </p:nvSpPr>
        <p:spPr>
          <a:xfrm>
            <a:off x="280720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Block 1 tag"/>
          <p:cNvSpPr/>
          <p:nvPr/>
        </p:nvSpPr>
        <p:spPr>
          <a:xfrm>
            <a:off x="2807208" y="2688336"/>
            <a:ext cx="1517904" cy="201168"/>
          </a:xfrm>
          <a:prstGeom prst="roundRect">
            <a:avLst>
              <a:gd name="adj" fmla="val 50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BLOCK 1 · SLIDES 18–20</a:t>
            </a:r>
            <a:endParaRPr lang="en-US" sz="800" dirty="0"/>
          </a:p>
        </p:txBody>
      </p:sp>
      <p:sp>
        <p:nvSpPr>
          <p:cNvPr id="30" name="Block 3"/>
          <p:cNvSpPr/>
          <p:nvPr/>
        </p:nvSpPr>
        <p:spPr>
          <a:xfrm>
            <a:off x="470916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Engineering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Aggregate to a cutoff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Assessment trend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On-time ratio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Recent activity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Feature selection</a:t>
            </a:r>
            <a:endParaRPr lang="en-US" sz="1000" dirty="0"/>
          </a:p>
        </p:txBody>
      </p:sp>
      <p:sp>
        <p:nvSpPr>
          <p:cNvPr id="31" name="Block 3 number"/>
          <p:cNvSpPr/>
          <p:nvPr/>
        </p:nvSpPr>
        <p:spPr>
          <a:xfrm>
            <a:off x="481888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Block 4"/>
          <p:cNvSpPr/>
          <p:nvPr/>
        </p:nvSpPr>
        <p:spPr>
          <a:xfrm>
            <a:off x="672084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XGBoost Classifier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Gradient-boosted trees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 weights for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imbalance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Tuned on validation set</a:t>
            </a:r>
            <a:endParaRPr lang="en-US" sz="1000" dirty="0"/>
          </a:p>
        </p:txBody>
      </p:sp>
      <p:sp>
        <p:nvSpPr>
          <p:cNvPr id="33" name="Block 4 number"/>
          <p:cNvSpPr/>
          <p:nvPr/>
        </p:nvSpPr>
        <p:spPr>
          <a:xfrm>
            <a:off x="683056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Block 5"/>
          <p:cNvSpPr/>
          <p:nvPr/>
        </p:nvSpPr>
        <p:spPr>
          <a:xfrm>
            <a:off x="68580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SHAP Explainer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Per-student driver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contributions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Global feature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importance</a:t>
            </a:r>
            <a:endParaRPr lang="en-US" sz="1000" dirty="0"/>
          </a:p>
        </p:txBody>
      </p:sp>
      <p:sp>
        <p:nvSpPr>
          <p:cNvPr id="35" name="Block 5 number"/>
          <p:cNvSpPr/>
          <p:nvPr/>
        </p:nvSpPr>
        <p:spPr>
          <a:xfrm>
            <a:off x="79552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Block 6"/>
          <p:cNvSpPr/>
          <p:nvPr/>
        </p:nvSpPr>
        <p:spPr>
          <a:xfrm>
            <a:off x="269748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Risk Level + Action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/ medium / high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Mapped to a next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action</a:t>
            </a:r>
            <a:endParaRPr lang="en-US" sz="1000" dirty="0"/>
          </a:p>
        </p:txBody>
      </p:sp>
      <p:sp>
        <p:nvSpPr>
          <p:cNvPr id="37" name="Block 6 number"/>
          <p:cNvSpPr/>
          <p:nvPr/>
        </p:nvSpPr>
        <p:spPr>
          <a:xfrm>
            <a:off x="280720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Block 7"/>
          <p:cNvSpPr/>
          <p:nvPr/>
        </p:nvSpPr>
        <p:spPr>
          <a:xfrm>
            <a:off x="470916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Dashboard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view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&amp; mentor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39" name="Block 7 number"/>
          <p:cNvSpPr/>
          <p:nvPr/>
        </p:nvSpPr>
        <p:spPr>
          <a:xfrm>
            <a:off x="481888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Block 8"/>
          <p:cNvSpPr/>
          <p:nvPr/>
        </p:nvSpPr>
        <p:spPr>
          <a:xfrm>
            <a:off x="672084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Evaluation + Feedback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Recall · PR-AUC · F1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feed back to retrain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41" name="Block 8 number"/>
          <p:cNvSpPr/>
          <p:nvPr/>
        </p:nvSpPr>
        <p:spPr>
          <a:xfrm>
            <a:off x="683056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8</a:t>
            </a:r>
            <a:endParaRPr lang="en-US" sz="1100" dirty="0"/>
          </a:p>
        </p:txBody>
      </p:sp>
      <p:cxnSp>
        <p:nvCxnSpPr>
          <p:cNvPr id="42" name="Arrow r1-0"/>
          <p:cNvCxnSpPr/>
          <p:nvPr/>
        </p:nvCxnSpPr>
        <p:spPr>
          <a:xfrm>
            <a:off x="245059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3" name="Arrow r2-0"/>
          <p:cNvCxnSpPr/>
          <p:nvPr/>
        </p:nvCxnSpPr>
        <p:spPr>
          <a:xfrm>
            <a:off x="245059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4" name="Arrow r1-1"/>
          <p:cNvCxnSpPr/>
          <p:nvPr/>
        </p:nvCxnSpPr>
        <p:spPr>
          <a:xfrm>
            <a:off x="446227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5" name="Arrow r2-1"/>
          <p:cNvCxnSpPr/>
          <p:nvPr/>
        </p:nvCxnSpPr>
        <p:spPr>
          <a:xfrm>
            <a:off x="446227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6" name="Arrow r1-2"/>
          <p:cNvCxnSpPr/>
          <p:nvPr/>
        </p:nvCxnSpPr>
        <p:spPr>
          <a:xfrm>
            <a:off x="647395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7" name="Arrow r2-2"/>
          <p:cNvCxnSpPr/>
          <p:nvPr/>
        </p:nvCxnSpPr>
        <p:spPr>
          <a:xfrm>
            <a:off x="647395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8" name="Link down"/>
          <p:cNvCxnSpPr/>
          <p:nvPr/>
        </p:nvCxnSpPr>
        <p:spPr>
          <a:xfrm>
            <a:off x="7589520" y="2962656"/>
            <a:ext cx="0" cy="164592"/>
          </a:xfrm>
          <a:prstGeom prst="line">
            <a:avLst/>
          </a:prstGeom>
          <a:ln w="19050">
            <a:solidFill>
              <a:srgbClr val="1C3778"/>
            </a:solidFill>
          </a:ln>
        </p:spPr>
      </p:cxnSp>
      <p:cxnSp>
        <p:nvCxnSpPr>
          <p:cNvPr id="49" name="Link across"/>
          <p:cNvCxnSpPr/>
          <p:nvPr/>
        </p:nvCxnSpPr>
        <p:spPr>
          <a:xfrm flipH="1">
            <a:off x="1554480" y="3127248"/>
            <a:ext cx="6035040" cy="0"/>
          </a:xfrm>
          <a:prstGeom prst="line">
            <a:avLst/>
          </a:prstGeom>
          <a:ln w="19050">
            <a:solidFill>
              <a:srgbClr val="1C3778"/>
            </a:solidFill>
          </a:ln>
        </p:spPr>
      </p:cxnSp>
      <p:cxnSp>
        <p:nvCxnSpPr>
          <p:cNvPr id="50" name="Link into row 2"/>
          <p:cNvCxnSpPr/>
          <p:nvPr/>
        </p:nvCxnSpPr>
        <p:spPr>
          <a:xfrm>
            <a:off x="1554480" y="3127248"/>
            <a:ext cx="0" cy="146304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51" name="Feedback strip"/>
          <p:cNvSpPr/>
          <p:nvPr/>
        </p:nvSpPr>
        <p:spPr>
          <a:xfrm>
            <a:off x="685800" y="5010912"/>
            <a:ext cx="777240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Feedback loop: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action → uptake → outcome → model and support review</a:t>
            </a: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      Privacy-aware: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minimum necessary data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Inputs, Features and Evaluation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Choose signals available early enough to support a student, not just to explain the past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16</a:t>
            </a:r>
            <a:endParaRPr lang="en-US" sz="900" dirty="0"/>
          </a:p>
        </p:txBody>
      </p:sp>
      <p:sp>
        <p:nvSpPr>
          <p:cNvPr id="25" name="Column INPUTS"/>
          <p:cNvSpPr/>
          <p:nvPr/>
        </p:nvSpPr>
        <p:spPr>
          <a:xfrm>
            <a:off x="685800" y="1371600"/>
            <a:ext cx="178308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6" name="Header INPUTS"/>
          <p:cNvSpPr/>
          <p:nvPr/>
        </p:nvSpPr>
        <p:spPr>
          <a:xfrm>
            <a:off x="685800" y="1371600"/>
            <a:ext cx="1783080" cy="384048"/>
          </a:xfrm>
          <a:prstGeom prst="round2SameRect">
            <a:avLst>
              <a:gd name="adj" fmla="val 22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</a:t>
            </a:r>
            <a:endParaRPr lang="en-US" sz="1200" dirty="0"/>
          </a:p>
        </p:txBody>
      </p:sp>
      <p:sp>
        <p:nvSpPr>
          <p:cNvPr id="27" name="Column FEATURES · WHY"/>
          <p:cNvSpPr/>
          <p:nvPr/>
        </p:nvSpPr>
        <p:spPr>
          <a:xfrm>
            <a:off x="2606040" y="1371600"/>
            <a:ext cx="292608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8" name="Header FEATURES · WHY"/>
          <p:cNvSpPr/>
          <p:nvPr/>
        </p:nvSpPr>
        <p:spPr>
          <a:xfrm>
            <a:off x="2606040" y="1371600"/>
            <a:ext cx="2926080" cy="384048"/>
          </a:xfrm>
          <a:prstGeom prst="round2SameRect">
            <a:avLst>
              <a:gd name="adj" fmla="val 22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FEATURES · WHY</a:t>
            </a:r>
            <a:endParaRPr lang="en-US" sz="1200" dirty="0"/>
          </a:p>
        </p:txBody>
      </p:sp>
      <p:sp>
        <p:nvSpPr>
          <p:cNvPr id="29" name="Column EVALUATION · WHY"/>
          <p:cNvSpPr/>
          <p:nvPr/>
        </p:nvSpPr>
        <p:spPr>
          <a:xfrm>
            <a:off x="5669280" y="1371600"/>
            <a:ext cx="278892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0" name="Header EVALUATION · WHY"/>
          <p:cNvSpPr/>
          <p:nvPr/>
        </p:nvSpPr>
        <p:spPr>
          <a:xfrm>
            <a:off x="5669280" y="1371600"/>
            <a:ext cx="2788920" cy="384048"/>
          </a:xfrm>
          <a:prstGeom prst="round2SameRect">
            <a:avLst>
              <a:gd name="adj" fmla="val 22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EVALUATION · WHY</a:t>
            </a:r>
            <a:endParaRPr lang="en-US" sz="1200" dirty="0"/>
          </a:p>
        </p:txBody>
      </p:sp>
      <p:sp>
        <p:nvSpPr>
          <p:cNvPr id="31" name="Input 1"/>
          <p:cNvSpPr/>
          <p:nvPr/>
        </p:nvSpPr>
        <p:spPr>
          <a:xfrm>
            <a:off x="795528" y="1883664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/ course ID</a:t>
            </a:r>
            <a:endParaRPr lang="en-US" sz="1050" dirty="0"/>
          </a:p>
        </p:txBody>
      </p:sp>
      <p:sp>
        <p:nvSpPr>
          <p:cNvPr id="32" name="Input 2"/>
          <p:cNvSpPr/>
          <p:nvPr/>
        </p:nvSpPr>
        <p:spPr>
          <a:xfrm>
            <a:off x="795528" y="2368296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Assessment scores</a:t>
            </a:r>
            <a:endParaRPr lang="en-US" sz="1050" dirty="0"/>
          </a:p>
        </p:txBody>
      </p:sp>
      <p:sp>
        <p:nvSpPr>
          <p:cNvPr id="33" name="Input 3"/>
          <p:cNvSpPr/>
          <p:nvPr/>
        </p:nvSpPr>
        <p:spPr>
          <a:xfrm>
            <a:off x="795528" y="2852928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Submission timing</a:t>
            </a:r>
            <a:endParaRPr lang="en-US" sz="1050" dirty="0"/>
          </a:p>
        </p:txBody>
      </p:sp>
      <p:sp>
        <p:nvSpPr>
          <p:cNvPr id="34" name="Input 4"/>
          <p:cNvSpPr/>
          <p:nvPr/>
        </p:nvSpPr>
        <p:spPr>
          <a:xfrm>
            <a:off x="795528" y="3337560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Clicks &amp; activity</a:t>
            </a:r>
            <a:endParaRPr lang="en-US" sz="1050" dirty="0"/>
          </a:p>
        </p:txBody>
      </p:sp>
      <p:sp>
        <p:nvSpPr>
          <p:cNvPr id="35" name="Input 5"/>
          <p:cNvSpPr/>
          <p:nvPr/>
        </p:nvSpPr>
        <p:spPr>
          <a:xfrm>
            <a:off x="795528" y="3822192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Attendance-style signal</a:t>
            </a:r>
            <a:endParaRPr lang="en-US" sz="1050" dirty="0"/>
          </a:p>
        </p:txBody>
      </p:sp>
      <p:sp>
        <p:nvSpPr>
          <p:cNvPr id="36" name="Input 6"/>
          <p:cNvSpPr/>
          <p:nvPr/>
        </p:nvSpPr>
        <p:spPr>
          <a:xfrm>
            <a:off x="795528" y="4306824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Deadlines &amp; plan status</a:t>
            </a:r>
            <a:endParaRPr lang="en-US" sz="1050" dirty="0"/>
          </a:p>
        </p:txBody>
      </p:sp>
      <p:sp>
        <p:nvSpPr>
          <p:cNvPr id="37" name="Input 7"/>
          <p:cNvSpPr/>
          <p:nvPr/>
        </p:nvSpPr>
        <p:spPr>
          <a:xfrm>
            <a:off x="795528" y="4791456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Support interactions</a:t>
            </a:r>
            <a:endParaRPr lang="en-US" sz="1050" dirty="0"/>
          </a:p>
        </p:txBody>
      </p:sp>
      <p:sp>
        <p:nvSpPr>
          <p:cNvPr id="38" name="Feature 1"/>
          <p:cNvSpPr/>
          <p:nvPr/>
        </p:nvSpPr>
        <p:spPr>
          <a:xfrm>
            <a:off x="2715768" y="19385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Feature text 1"/>
          <p:cNvSpPr/>
          <p:nvPr/>
        </p:nvSpPr>
        <p:spPr>
          <a:xfrm>
            <a:off x="3081528" y="19019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Assessment trend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Shows the learning trajectory.</a:t>
            </a:r>
            <a:endParaRPr lang="en-US" sz="1050" dirty="0"/>
          </a:p>
        </p:txBody>
      </p:sp>
      <p:sp>
        <p:nvSpPr>
          <p:cNvPr id="40" name="Feature 2"/>
          <p:cNvSpPr/>
          <p:nvPr/>
        </p:nvSpPr>
        <p:spPr>
          <a:xfrm>
            <a:off x="2715768" y="26243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Feature text 2"/>
          <p:cNvSpPr/>
          <p:nvPr/>
        </p:nvSpPr>
        <p:spPr>
          <a:xfrm>
            <a:off x="3081528" y="25877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On-time ratio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Captures execution risk from late submissions.</a:t>
            </a:r>
            <a:endParaRPr lang="en-US" sz="1050" dirty="0"/>
          </a:p>
        </p:txBody>
      </p:sp>
      <p:sp>
        <p:nvSpPr>
          <p:cNvPr id="42" name="Feature 3"/>
          <p:cNvSpPr/>
          <p:nvPr/>
        </p:nvSpPr>
        <p:spPr>
          <a:xfrm>
            <a:off x="2715768" y="33101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Feature text 3"/>
          <p:cNvSpPr/>
          <p:nvPr/>
        </p:nvSpPr>
        <p:spPr>
          <a:xfrm>
            <a:off x="3081528" y="32735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Recent engagement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Identifies disengagement early.</a:t>
            </a:r>
            <a:endParaRPr lang="en-US" sz="1050" dirty="0"/>
          </a:p>
        </p:txBody>
      </p:sp>
      <p:sp>
        <p:nvSpPr>
          <p:cNvPr id="44" name="Feature 4"/>
          <p:cNvSpPr/>
          <p:nvPr/>
        </p:nvSpPr>
        <p:spPr>
          <a:xfrm>
            <a:off x="2715768" y="39959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Feature text 4"/>
          <p:cNvSpPr/>
          <p:nvPr/>
        </p:nvSpPr>
        <p:spPr>
          <a:xfrm>
            <a:off x="3081528" y="39593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Days since activity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Supports timely outreach.</a:t>
            </a:r>
            <a:endParaRPr lang="en-US" sz="1050" dirty="0"/>
          </a:p>
        </p:txBody>
      </p:sp>
      <p:sp>
        <p:nvSpPr>
          <p:cNvPr id="46" name="Feature 5"/>
          <p:cNvSpPr/>
          <p:nvPr/>
        </p:nvSpPr>
        <p:spPr>
          <a:xfrm>
            <a:off x="2715768" y="46817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Feature text 5"/>
          <p:cNvSpPr/>
          <p:nvPr/>
        </p:nvSpPr>
        <p:spPr>
          <a:xfrm>
            <a:off x="3081528" y="46451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Planning / support use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Links each risk flag to an action.</a:t>
            </a:r>
            <a:endParaRPr lang="en-US" sz="1050" dirty="0"/>
          </a:p>
        </p:txBody>
      </p:sp>
      <p:sp>
        <p:nvSpPr>
          <p:cNvPr id="48" name="Metric 1"/>
          <p:cNvSpPr/>
          <p:nvPr/>
        </p:nvSpPr>
        <p:spPr>
          <a:xfrm>
            <a:off x="5797296" y="188366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Recall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catch every at-risk student</a:t>
            </a:r>
            <a:endParaRPr lang="en-US" sz="1050" dirty="0"/>
          </a:p>
        </p:txBody>
      </p:sp>
      <p:sp>
        <p:nvSpPr>
          <p:cNvPr id="49" name="Metric 2"/>
          <p:cNvSpPr/>
          <p:nvPr/>
        </p:nvSpPr>
        <p:spPr>
          <a:xfrm>
            <a:off x="5797296" y="2313432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Precision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limit false alarms</a:t>
            </a:r>
            <a:endParaRPr lang="en-US" sz="1050" dirty="0"/>
          </a:p>
        </p:txBody>
      </p:sp>
      <p:sp>
        <p:nvSpPr>
          <p:cNvPr id="50" name="Metric 3"/>
          <p:cNvSpPr/>
          <p:nvPr/>
        </p:nvSpPr>
        <p:spPr>
          <a:xfrm>
            <a:off x="5797296" y="2743200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F1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balance of recall and precision</a:t>
            </a:r>
            <a:endParaRPr lang="en-US" sz="1050" dirty="0"/>
          </a:p>
        </p:txBody>
      </p:sp>
      <p:sp>
        <p:nvSpPr>
          <p:cNvPr id="51" name="Metric 4"/>
          <p:cNvSpPr/>
          <p:nvPr/>
        </p:nvSpPr>
        <p:spPr>
          <a:xfrm>
            <a:off x="5797296" y="3172968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PR-AUC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fair under class imbalance</a:t>
            </a:r>
            <a:endParaRPr lang="en-US" sz="1050" dirty="0"/>
          </a:p>
        </p:txBody>
      </p:sp>
      <p:sp>
        <p:nvSpPr>
          <p:cNvPr id="52" name="Metric 5"/>
          <p:cNvSpPr/>
          <p:nvPr/>
        </p:nvSpPr>
        <p:spPr>
          <a:xfrm>
            <a:off x="5797296" y="3602736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ROC-AUC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ranking quality at any threshold</a:t>
            </a:r>
            <a:endParaRPr lang="en-US" sz="1050" dirty="0"/>
          </a:p>
        </p:txBody>
      </p:sp>
      <p:sp>
        <p:nvSpPr>
          <p:cNvPr id="53" name="Metric 6"/>
          <p:cNvSpPr/>
          <p:nvPr/>
        </p:nvSpPr>
        <p:spPr>
          <a:xfrm>
            <a:off x="5797296" y="403250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Calibration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probabilities can be trusted</a:t>
            </a:r>
            <a:endParaRPr lang="en-US" sz="1050" dirty="0"/>
          </a:p>
        </p:txBody>
      </p:sp>
      <p:sp>
        <p:nvSpPr>
          <p:cNvPr id="54" name="Metric 7"/>
          <p:cNvSpPr/>
          <p:nvPr/>
        </p:nvSpPr>
        <p:spPr>
          <a:xfrm>
            <a:off x="5797296" y="4462272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Accuracy · confusion matrix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baseline and error types</a:t>
            </a:r>
            <a:endParaRPr lang="en-US" sz="1050" dirty="0"/>
          </a:p>
        </p:txBody>
      </p:sp>
      <p:sp>
        <p:nvSpPr>
          <p:cNvPr id="55" name="Metric 8"/>
          <p:cNvSpPr/>
          <p:nvPr/>
        </p:nvSpPr>
        <p:spPr>
          <a:xfrm>
            <a:off x="5797296" y="4892040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Intervention uptake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did the support actually help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Database and Preprocessing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 is the training database; Acadex inputs map to the same feature contract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17</a:t>
            </a:r>
            <a:endParaRPr lang="en-US" sz="900" dirty="0"/>
          </a:p>
        </p:txBody>
      </p:sp>
      <p:sp>
        <p:nvSpPr>
          <p:cNvPr id="25" name="OULAD card"/>
          <p:cNvSpPr/>
          <p:nvPr/>
        </p:nvSpPr>
        <p:spPr>
          <a:xfrm>
            <a:off x="685800" y="1371600"/>
            <a:ext cx="2331720" cy="4041648"/>
          </a:xfrm>
          <a:prstGeom prst="roundRect">
            <a:avLst>
              <a:gd name="adj" fmla="val 4000"/>
            </a:avLst>
          </a:prstGeom>
          <a:solidFill>
            <a:srgbClr val="1C3778"/>
          </a:solidFill>
          <a:ln>
            <a:noFill/>
          </a:ln>
        </p:spPr>
      </p:sp>
      <p:sp>
        <p:nvSpPr>
          <p:cNvPr id="26" name="OULAD name"/>
          <p:cNvSpPr/>
          <p:nvPr/>
        </p:nvSpPr>
        <p:spPr>
          <a:xfrm>
            <a:off x="868680" y="150876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OULAD</a:t>
            </a:r>
            <a:endParaRPr lang="en-US" sz="2400" dirty="0"/>
          </a:p>
        </p:txBody>
      </p:sp>
      <p:sp>
        <p:nvSpPr>
          <p:cNvPr id="27" name="OULAD full"/>
          <p:cNvSpPr/>
          <p:nvPr/>
        </p:nvSpPr>
        <p:spPr>
          <a:xfrm>
            <a:off x="868680" y="19202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Open University Learning Analytics Dataset</a:t>
            </a:r>
            <a:endParaRPr lang="en-US" sz="1000" dirty="0"/>
          </a:p>
        </p:txBody>
      </p:sp>
      <p:sp>
        <p:nvSpPr>
          <p:cNvPr id="28" name="Stat 1"/>
          <p:cNvSpPr/>
          <p:nvPr/>
        </p:nvSpPr>
        <p:spPr>
          <a:xfrm>
            <a:off x="868680" y="23774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32,593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9" name="Stat 2"/>
          <p:cNvSpPr/>
          <p:nvPr/>
        </p:nvSpPr>
        <p:spPr>
          <a:xfrm>
            <a:off x="868680" y="2944368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22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presentations</a:t>
            </a:r>
            <a:endParaRPr lang="en-US" sz="1000" dirty="0"/>
          </a:p>
        </p:txBody>
      </p:sp>
      <p:sp>
        <p:nvSpPr>
          <p:cNvPr id="30" name="Stat 3"/>
          <p:cNvSpPr/>
          <p:nvPr/>
        </p:nvSpPr>
        <p:spPr>
          <a:xfrm>
            <a:off x="868680" y="3511296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10.6M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VLE click records</a:t>
            </a:r>
            <a:endParaRPr lang="en-US" sz="1000" dirty="0"/>
          </a:p>
        </p:txBody>
      </p:sp>
      <p:sp>
        <p:nvSpPr>
          <p:cNvPr id="31" name="Tables label"/>
          <p:cNvSpPr/>
          <p:nvPr/>
        </p:nvSpPr>
        <p:spPr>
          <a:xfrm>
            <a:off x="868680" y="4114800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F2A7B6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 TABLES</a:t>
            </a:r>
            <a:endParaRPr lang="en-US" sz="950" dirty="0"/>
          </a:p>
        </p:txBody>
      </p:sp>
      <p:sp>
        <p:nvSpPr>
          <p:cNvPr id="32" name="Tables list"/>
          <p:cNvSpPr/>
          <p:nvPr/>
        </p:nvSpPr>
        <p:spPr>
          <a:xfrm>
            <a:off x="868680" y="4315968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courses · assessments · vle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studentInfo · studentRegistration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studentAssessment · studentVle</a:t>
            </a:r>
            <a:endParaRPr lang="en-US" sz="1000" dirty="0"/>
          </a:p>
        </p:txBody>
      </p:sp>
      <p:sp>
        <p:nvSpPr>
          <p:cNvPr id="33" name="OULAD source"/>
          <p:cNvSpPr/>
          <p:nvPr/>
        </p:nvSpPr>
        <p:spPr>
          <a:xfrm>
            <a:off x="868680" y="5120640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Kuzilek et al., Scientific Data, 2017</a:t>
            </a:r>
            <a:endParaRPr lang="en-US" sz="900" dirty="0"/>
          </a:p>
        </p:txBody>
      </p:sp>
      <p:sp>
        <p:nvSpPr>
          <p:cNvPr id="34" name="Pipeline label"/>
          <p:cNvSpPr/>
          <p:nvPr/>
        </p:nvSpPr>
        <p:spPr>
          <a:xfrm>
            <a:off x="3291840" y="137160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PREPROCESSING PIPELINE</a:t>
            </a:r>
            <a:endParaRPr lang="en-US" sz="1050" dirty="0"/>
          </a:p>
        </p:txBody>
      </p:sp>
      <p:sp>
        <p:nvSpPr>
          <p:cNvPr id="35" name="Step row 1"/>
          <p:cNvSpPr/>
          <p:nvPr/>
        </p:nvSpPr>
        <p:spPr>
          <a:xfrm>
            <a:off x="3291840" y="16642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6" name="Step 1"/>
          <p:cNvSpPr/>
          <p:nvPr/>
        </p:nvSpPr>
        <p:spPr>
          <a:xfrm>
            <a:off x="3383280" y="17282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Step text 1"/>
          <p:cNvSpPr/>
          <p:nvPr/>
        </p:nvSpPr>
        <p:spPr>
          <a:xfrm>
            <a:off x="3767328" y="16642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Schema audit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Check tables, keys and types across the 7 CSV files.</a:t>
            </a:r>
            <a:endParaRPr lang="en-US" sz="1100" dirty="0"/>
          </a:p>
        </p:txBody>
      </p:sp>
      <p:sp>
        <p:nvSpPr>
          <p:cNvPr id="38" name="Step row 2"/>
          <p:cNvSpPr/>
          <p:nvPr/>
        </p:nvSpPr>
        <p:spPr>
          <a:xfrm>
            <a:off x="3291840" y="21214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9" name="Step 2"/>
          <p:cNvSpPr/>
          <p:nvPr/>
        </p:nvSpPr>
        <p:spPr>
          <a:xfrm>
            <a:off x="3383280" y="21854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Step text 2"/>
          <p:cNvSpPr/>
          <p:nvPr/>
        </p:nvSpPr>
        <p:spPr>
          <a:xfrm>
            <a:off x="3767328" y="21214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Clean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Remove duplicates; document and handle missing values.</a:t>
            </a:r>
            <a:endParaRPr lang="en-US" sz="1100" dirty="0"/>
          </a:p>
        </p:txBody>
      </p:sp>
      <p:sp>
        <p:nvSpPr>
          <p:cNvPr id="41" name="Step row 3"/>
          <p:cNvSpPr/>
          <p:nvPr/>
        </p:nvSpPr>
        <p:spPr>
          <a:xfrm>
            <a:off x="3291840" y="25786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2" name="Step 3"/>
          <p:cNvSpPr/>
          <p:nvPr/>
        </p:nvSpPr>
        <p:spPr>
          <a:xfrm>
            <a:off x="3383280" y="26426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50" dirty="0"/>
          </a:p>
        </p:txBody>
      </p:sp>
      <p:sp>
        <p:nvSpPr>
          <p:cNvPr id="43" name="Step text 3"/>
          <p:cNvSpPr/>
          <p:nvPr/>
        </p:nvSpPr>
        <p:spPr>
          <a:xfrm>
            <a:off x="3767328" y="25786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Encode &amp; scale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Encode categories; scale only where a model needs it.</a:t>
            </a:r>
            <a:endParaRPr lang="en-US" sz="1100" dirty="0"/>
          </a:p>
        </p:txBody>
      </p:sp>
      <p:sp>
        <p:nvSpPr>
          <p:cNvPr id="44" name="Step row 4"/>
          <p:cNvSpPr/>
          <p:nvPr/>
        </p:nvSpPr>
        <p:spPr>
          <a:xfrm>
            <a:off x="3291840" y="30358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5" name="Step 4"/>
          <p:cNvSpPr/>
          <p:nvPr/>
        </p:nvSpPr>
        <p:spPr>
          <a:xfrm>
            <a:off x="3383280" y="30998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Step text 4"/>
          <p:cNvSpPr/>
          <p:nvPr/>
        </p:nvSpPr>
        <p:spPr>
          <a:xfrm>
            <a:off x="3767328" y="30358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Aggregate by cutoff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Roll clicks and scores into per-student features.</a:t>
            </a:r>
            <a:endParaRPr lang="en-US" sz="1100" dirty="0"/>
          </a:p>
        </p:txBody>
      </p:sp>
      <p:sp>
        <p:nvSpPr>
          <p:cNvPr id="47" name="Step row 5"/>
          <p:cNvSpPr/>
          <p:nvPr/>
        </p:nvSpPr>
        <p:spPr>
          <a:xfrm>
            <a:off x="3291840" y="34930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8" name="Step 5"/>
          <p:cNvSpPr/>
          <p:nvPr/>
        </p:nvSpPr>
        <p:spPr>
          <a:xfrm>
            <a:off x="3383280" y="35570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50" dirty="0"/>
          </a:p>
        </p:txBody>
      </p:sp>
      <p:sp>
        <p:nvSpPr>
          <p:cNvPr id="49" name="Step text 5"/>
          <p:cNvSpPr/>
          <p:nvPr/>
        </p:nvSpPr>
        <p:spPr>
          <a:xfrm>
            <a:off x="3767328" y="34930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Leakage check &amp; split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Time-based, stratified train / validation / test split.</a:t>
            </a:r>
            <a:endParaRPr lang="en-US" sz="1100" dirty="0"/>
          </a:p>
        </p:txBody>
      </p:sp>
      <p:sp>
        <p:nvSpPr>
          <p:cNvPr id="50" name="Principle 1"/>
          <p:cNvSpPr/>
          <p:nvPr/>
        </p:nvSpPr>
        <p:spPr>
          <a:xfrm>
            <a:off x="329184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Output contract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student–course row at a cutoff date, using only data available by then.</a:t>
            </a:r>
            <a:endParaRPr lang="en-US" sz="1000" dirty="0"/>
          </a:p>
        </p:txBody>
      </p:sp>
      <p:sp>
        <p:nvSpPr>
          <p:cNvPr id="51" name="Principle 2"/>
          <p:cNvSpPr/>
          <p:nvPr/>
        </p:nvSpPr>
        <p:spPr>
          <a:xfrm>
            <a:off x="505968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Quality gates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 never act as predictors. Missingness, windows and split logic are versioned.</a:t>
            </a:r>
            <a:endParaRPr lang="en-US" sz="1000" dirty="0"/>
          </a:p>
        </p:txBody>
      </p:sp>
      <p:sp>
        <p:nvSpPr>
          <p:cNvPr id="52" name="Principle 3"/>
          <p:cNvSpPr/>
          <p:nvPr/>
        </p:nvSpPr>
        <p:spPr>
          <a:xfrm>
            <a:off x="682752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Privacy principle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Keep only the minimum data needed to explain risk and suggest support.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1: Data Audit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First output of Block 1: the seven OULAD tables audited before any cleaning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tat chip 1"/>
          <p:cNvSpPr/>
          <p:nvPr/>
        </p:nvSpPr>
        <p:spPr>
          <a:xfrm>
            <a:off x="68580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tables</a:t>
            </a:r>
            <a:endParaRPr lang="en-US" sz="1000" dirty="0"/>
          </a:p>
        </p:txBody>
      </p:sp>
      <p:sp>
        <p:nvSpPr>
          <p:cNvPr id="26" name="Stat chip 2"/>
          <p:cNvSpPr/>
          <p:nvPr/>
        </p:nvSpPr>
        <p:spPr>
          <a:xfrm>
            <a:off x="248412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32,593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7" name="Stat chip 3"/>
          <p:cNvSpPr/>
          <p:nvPr/>
        </p:nvSpPr>
        <p:spPr>
          <a:xfrm>
            <a:off x="428244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10.6M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click records</a:t>
            </a:r>
            <a:endParaRPr lang="en-US" sz="1000" dirty="0"/>
          </a:p>
        </p:txBody>
      </p:sp>
      <p:graphicFrame>
        <p:nvGraphicFramePr>
          <p:cNvPr id="28" name="Audit table"/>
          <p:cNvGraphicFramePr>
            <a:graphicFrameLocks noGrp="1"/>
          </p:cNvGraphicFramePr>
          <p:nvPr/>
        </p:nvGraphicFramePr>
        <p:xfrm>
          <a:off x="685800" y="2176272"/>
          <a:ext cx="5257800" cy="3236976"/>
        </p:xfrm>
        <a:graphic>
          <a:graphicData uri="http://schemas.openxmlformats.org/drawingml/2006/table">
            <a:tbl>
              <a:tblPr firstRow="1"/>
              <a:tblGrid>
                <a:gridCol w="1691640"/>
                <a:gridCol w="960120"/>
                <a:gridCol w="260604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Table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Raw records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Audit focus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courses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22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One row per module presentation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assessments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206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Missing due dates on some exams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6,364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Activity-type lookup for clicks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studentInfo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32,593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Missing IMD band; keep as a flag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studentRegistration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32,593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Empty unregistration date = stayed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studentAssessment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173,912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Score and submission-date gaps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studentVle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10,655,280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Very large table; check duplicate rows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un log card"/>
          <p:cNvSpPr/>
          <p:nvPr/>
        </p:nvSpPr>
        <p:spPr>
          <a:xfrm>
            <a:off x="6172200" y="1371600"/>
            <a:ext cx="2286000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</p:sp>
      <p:sp>
        <p:nvSpPr>
          <p:cNvPr id="30" name="Run log title"/>
          <p:cNvSpPr/>
          <p:nvPr/>
        </p:nvSpPr>
        <p:spPr>
          <a:xfrm>
            <a:off x="6336792" y="1499616"/>
            <a:ext cx="19568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Pipeline run log</a:t>
            </a:r>
            <a:endParaRPr lang="en-US" sz="1300" dirty="0"/>
          </a:p>
        </p:txBody>
      </p:sp>
      <p:sp>
        <p:nvSpPr>
          <p:cNvPr id="31" name="Run log note"/>
          <p:cNvSpPr/>
          <p:nvPr/>
        </p:nvSpPr>
        <p:spPr>
          <a:xfrm>
            <a:off x="6336792" y="1801368"/>
            <a:ext cx="19568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Record after the first run</a:t>
            </a:r>
            <a:endParaRPr lang="en-US" sz="1000" dirty="0"/>
          </a:p>
        </p:txBody>
      </p:sp>
      <p:sp>
        <p:nvSpPr>
          <p:cNvPr id="32" name="Log field 1"/>
          <p:cNvSpPr/>
          <p:nvPr/>
        </p:nvSpPr>
        <p:spPr>
          <a:xfrm>
            <a:off x="6336792" y="2212848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Rows before</a:t>
            </a:r>
            <a:endParaRPr lang="en-US" sz="1050" dirty="0"/>
          </a:p>
        </p:txBody>
      </p:sp>
      <p:cxnSp>
        <p:nvCxnSpPr>
          <p:cNvPr id="33" name="Log blank 1"/>
          <p:cNvCxnSpPr/>
          <p:nvPr/>
        </p:nvCxnSpPr>
        <p:spPr>
          <a:xfrm>
            <a:off x="6336792" y="2633472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4" name="Log field 2"/>
          <p:cNvSpPr/>
          <p:nvPr/>
        </p:nvSpPr>
        <p:spPr>
          <a:xfrm>
            <a:off x="6336792" y="2743200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Rows after</a:t>
            </a:r>
            <a:endParaRPr lang="en-US" sz="1050" dirty="0"/>
          </a:p>
        </p:txBody>
      </p:sp>
      <p:cxnSp>
        <p:nvCxnSpPr>
          <p:cNvPr id="35" name="Log blank 2"/>
          <p:cNvCxnSpPr/>
          <p:nvPr/>
        </p:nvCxnSpPr>
        <p:spPr>
          <a:xfrm>
            <a:off x="6336792" y="3163824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6" name="Log field 3"/>
          <p:cNvSpPr/>
          <p:nvPr/>
        </p:nvSpPr>
        <p:spPr>
          <a:xfrm>
            <a:off x="6336792" y="3273552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Null cells</a:t>
            </a:r>
            <a:endParaRPr lang="en-US" sz="1050" dirty="0"/>
          </a:p>
        </p:txBody>
      </p:sp>
      <p:cxnSp>
        <p:nvCxnSpPr>
          <p:cNvPr id="37" name="Log blank 3"/>
          <p:cNvCxnSpPr/>
          <p:nvPr/>
        </p:nvCxnSpPr>
        <p:spPr>
          <a:xfrm>
            <a:off x="6336792" y="3694176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8" name="Log field 4"/>
          <p:cNvSpPr/>
          <p:nvPr/>
        </p:nvSpPr>
        <p:spPr>
          <a:xfrm>
            <a:off x="6336792" y="3803904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Duplicate rows</a:t>
            </a:r>
            <a:endParaRPr lang="en-US" sz="1050" dirty="0"/>
          </a:p>
        </p:txBody>
      </p:sp>
      <p:cxnSp>
        <p:nvCxnSpPr>
          <p:cNvPr id="39" name="Log blank 4"/>
          <p:cNvCxnSpPr/>
          <p:nvPr/>
        </p:nvCxnSpPr>
        <p:spPr>
          <a:xfrm>
            <a:off x="6336792" y="4224528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0" name="Log field 5"/>
          <p:cNvSpPr/>
          <p:nvPr/>
        </p:nvSpPr>
        <p:spPr>
          <a:xfrm>
            <a:off x="6336792" y="4334256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Orphan keys</a:t>
            </a:r>
            <a:endParaRPr lang="en-US" sz="1050" dirty="0"/>
          </a:p>
        </p:txBody>
      </p:sp>
      <p:cxnSp>
        <p:nvCxnSpPr>
          <p:cNvPr id="41" name="Log blank 5"/>
          <p:cNvCxnSpPr/>
          <p:nvPr/>
        </p:nvCxnSpPr>
        <p:spPr>
          <a:xfrm>
            <a:off x="6336792" y="4754880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2" name="Log field 6"/>
          <p:cNvSpPr/>
          <p:nvPr/>
        </p:nvSpPr>
        <p:spPr>
          <a:xfrm>
            <a:off x="6336792" y="4864608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Audit timestamp</a:t>
            </a:r>
            <a:endParaRPr lang="en-US" sz="1050" dirty="0"/>
          </a:p>
        </p:txBody>
      </p:sp>
      <p:cxnSp>
        <p:nvCxnSpPr>
          <p:cNvPr id="43" name="Log blank 6"/>
          <p:cNvCxnSpPr/>
          <p:nvPr/>
        </p:nvCxnSpPr>
        <p:spPr>
          <a:xfrm>
            <a:off x="6336792" y="5285232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4" name="Source note"/>
          <p:cNvSpPr/>
          <p:nvPr/>
        </p:nvSpPr>
        <p:spPr>
          <a:xfrm>
            <a:off x="685800" y="5440680"/>
            <a:ext cx="52578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Record counts: published OULAD statistics.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2: Cleaned Feature Set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Raw signals become cleaned, cutoff-safe features, each with a reason to exist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19</a:t>
            </a:r>
            <a:endParaRPr lang="en-US" sz="900" dirty="0"/>
          </a:p>
        </p:txBody>
      </p:sp>
      <p:sp>
        <p:nvSpPr>
          <p:cNvPr id="25" name="Head 1"/>
          <p:cNvSpPr/>
          <p:nvPr/>
        </p:nvSpPr>
        <p:spPr>
          <a:xfrm>
            <a:off x="685800" y="137160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RAW SIGNAL</a:t>
            </a:r>
            <a:endParaRPr lang="en-US" sz="1000" dirty="0"/>
          </a:p>
        </p:txBody>
      </p:sp>
      <p:sp>
        <p:nvSpPr>
          <p:cNvPr id="26" name="Head 2"/>
          <p:cNvSpPr/>
          <p:nvPr/>
        </p:nvSpPr>
        <p:spPr>
          <a:xfrm>
            <a:off x="3337560" y="13716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CLEANED / AGGREGATED FEATURE</a:t>
            </a:r>
            <a:endParaRPr lang="en-US" sz="1000" dirty="0"/>
          </a:p>
        </p:txBody>
      </p:sp>
      <p:sp>
        <p:nvSpPr>
          <p:cNvPr id="27" name="Head 3"/>
          <p:cNvSpPr/>
          <p:nvPr/>
        </p:nvSpPr>
        <p:spPr>
          <a:xfrm>
            <a:off x="5943600" y="13716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8" name="Raw 1"/>
          <p:cNvSpPr/>
          <p:nvPr/>
        </p:nvSpPr>
        <p:spPr>
          <a:xfrm>
            <a:off x="685800" y="1645920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Assessment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studentAssessment + assessments: score, due date, submission date</a:t>
            </a:r>
            <a:endParaRPr lang="en-US" sz="1000" dirty="0"/>
          </a:p>
        </p:txBody>
      </p:sp>
      <p:cxnSp>
        <p:nvCxnSpPr>
          <p:cNvPr id="29" name="Arrow 1"/>
          <p:cNvCxnSpPr/>
          <p:nvPr/>
        </p:nvCxnSpPr>
        <p:spPr>
          <a:xfrm>
            <a:off x="3026664" y="2011680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0" name="Features 1"/>
          <p:cNvSpPr/>
          <p:nvPr/>
        </p:nvSpPr>
        <p:spPr>
          <a:xfrm>
            <a:off x="3337560" y="1645920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assessment_mean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score_trend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late_ratio</a:t>
            </a:r>
            <a:endParaRPr lang="en-US" sz="1050" dirty="0"/>
          </a:p>
        </p:txBody>
      </p:sp>
      <p:sp>
        <p:nvSpPr>
          <p:cNvPr id="31" name="Why 1"/>
          <p:cNvSpPr/>
          <p:nvPr/>
        </p:nvSpPr>
        <p:spPr>
          <a:xfrm>
            <a:off x="5943600" y="16459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Learning trajectory and execution risk</a:t>
            </a:r>
            <a:endParaRPr lang="en-US" sz="1100" dirty="0"/>
          </a:p>
        </p:txBody>
      </p:sp>
      <p:sp>
        <p:nvSpPr>
          <p:cNvPr id="32" name="Raw 2"/>
          <p:cNvSpPr/>
          <p:nvPr/>
        </p:nvSpPr>
        <p:spPr>
          <a:xfrm>
            <a:off x="685800" y="2459736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Engagement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studentVle: clicks per day per activity</a:t>
            </a:r>
            <a:endParaRPr lang="en-US" sz="1000" dirty="0"/>
          </a:p>
        </p:txBody>
      </p:sp>
      <p:cxnSp>
        <p:nvCxnSpPr>
          <p:cNvPr id="33" name="Arrow 2"/>
          <p:cNvCxnSpPr/>
          <p:nvPr/>
        </p:nvCxnSpPr>
        <p:spPr>
          <a:xfrm>
            <a:off x="3026664" y="2825496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4" name="Features 2"/>
          <p:cNvSpPr/>
          <p:nvPr/>
        </p:nvSpPr>
        <p:spPr>
          <a:xfrm>
            <a:off x="3337560" y="2459736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active_days_7d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events_14d</a:t>
            </a:r>
            <a:endParaRPr lang="en-US" sz="1050" dirty="0"/>
          </a:p>
        </p:txBody>
      </p:sp>
      <p:sp>
        <p:nvSpPr>
          <p:cNvPr id="35" name="Why 2"/>
          <p:cNvSpPr/>
          <p:nvPr/>
        </p:nvSpPr>
        <p:spPr>
          <a:xfrm>
            <a:off x="5943600" y="2459736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Recent participation and recency of study</a:t>
            </a:r>
            <a:endParaRPr lang="en-US" sz="1100" dirty="0"/>
          </a:p>
        </p:txBody>
      </p:sp>
      <p:sp>
        <p:nvSpPr>
          <p:cNvPr id="36" name="Raw 3"/>
          <p:cNvSpPr/>
          <p:nvPr/>
        </p:nvSpPr>
        <p:spPr>
          <a:xfrm>
            <a:off x="685800" y="3273552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Attendance-style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VLE session dates</a:t>
            </a:r>
            <a:endParaRPr lang="en-US" sz="1000" dirty="0"/>
          </a:p>
        </p:txBody>
      </p:sp>
      <p:cxnSp>
        <p:nvCxnSpPr>
          <p:cNvPr id="37" name="Arrow 3"/>
          <p:cNvCxnSpPr/>
          <p:nvPr/>
        </p:nvCxnSpPr>
        <p:spPr>
          <a:xfrm>
            <a:off x="3026664" y="3639312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8" name="Features 3"/>
          <p:cNvSpPr/>
          <p:nvPr/>
        </p:nvSpPr>
        <p:spPr>
          <a:xfrm>
            <a:off x="3337560" y="3273552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attendance_proxy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days_since_activity</a:t>
            </a:r>
            <a:endParaRPr lang="en-US" sz="1050" dirty="0"/>
          </a:p>
        </p:txBody>
      </p:sp>
      <p:sp>
        <p:nvSpPr>
          <p:cNvPr id="39" name="Why 3"/>
          <p:cNvSpPr/>
          <p:nvPr/>
        </p:nvSpPr>
        <p:spPr>
          <a:xfrm>
            <a:off x="5943600" y="327355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Disengagement alert without overclaiming attendance</a:t>
            </a:r>
            <a:endParaRPr lang="en-US" sz="1100" dirty="0"/>
          </a:p>
        </p:txBody>
      </p:sp>
      <p:sp>
        <p:nvSpPr>
          <p:cNvPr id="40" name="Raw 4"/>
          <p:cNvSpPr/>
          <p:nvPr/>
        </p:nvSpPr>
        <p:spPr>
          <a:xfrm>
            <a:off x="685800" y="4087368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Context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studentInfo: prior attempts, credits, education, IMD band</a:t>
            </a:r>
            <a:endParaRPr lang="en-US" sz="1000" dirty="0"/>
          </a:p>
        </p:txBody>
      </p:sp>
      <p:cxnSp>
        <p:nvCxnSpPr>
          <p:cNvPr id="41" name="Arrow 4"/>
          <p:cNvCxnSpPr/>
          <p:nvPr/>
        </p:nvCxnSpPr>
        <p:spPr>
          <a:xfrm>
            <a:off x="3026664" y="4453128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2" name="Features 4"/>
          <p:cNvSpPr/>
          <p:nvPr/>
        </p:nvSpPr>
        <p:spPr>
          <a:xfrm>
            <a:off x="3337560" y="4087368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prev_attempts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studied_credits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encoded categoricals</a:t>
            </a:r>
            <a:endParaRPr lang="en-US" sz="1050" dirty="0"/>
          </a:p>
        </p:txBody>
      </p:sp>
      <p:sp>
        <p:nvSpPr>
          <p:cNvPr id="43" name="Why 4"/>
          <p:cNvSpPr/>
          <p:nvPr/>
        </p:nvSpPr>
        <p:spPr>
          <a:xfrm>
            <a:off x="5943600" y="4087368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Baseline risk; missing IMD kept as a flag</a:t>
            </a:r>
            <a:endParaRPr lang="en-US" sz="1100" dirty="0"/>
          </a:p>
        </p:txBody>
      </p:sp>
      <p:sp>
        <p:nvSpPr>
          <p:cNvPr id="44" name="Dictionary strip"/>
          <p:cNvSpPr/>
          <p:nvPr/>
        </p:nvSpPr>
        <p:spPr>
          <a:xfrm>
            <a:off x="685800" y="5029200"/>
            <a:ext cx="7772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  <p:txBody>
          <a:bodyPr wrap="square" lIns="109728" tIns="91440" rIns="109728" bIns="9144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dictionary: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name · source table · cutoff window · type · missingness rule · rationale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3: Leakage and Imbalance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model must see the past, not the answer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20</a:t>
            </a:r>
            <a:endParaRPr lang="en-US" sz="900" dirty="0"/>
          </a:p>
        </p:txBody>
      </p:sp>
      <p:sp>
        <p:nvSpPr>
          <p:cNvPr id="25" name="Feature window"/>
          <p:cNvSpPr/>
          <p:nvPr/>
        </p:nvSpPr>
        <p:spPr>
          <a:xfrm>
            <a:off x="685800" y="1481328"/>
            <a:ext cx="4434840" cy="457200"/>
          </a:xfrm>
          <a:prstGeom prst="rect">
            <a:avLst/>
          </a:prstGeom>
          <a:solidFill>
            <a:srgbClr val="1C3778"/>
          </a:solidFill>
          <a:ln>
            <a:noFill/>
          </a:ln>
        </p:spPr>
        <p:txBody>
          <a:bodyPr wrap="square" lIns="91440" tIns="54864" rIns="91440" bIns="54864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window: data up to the cutoff</a:t>
            </a:r>
            <a:endParaRPr lang="en-US" sz="1100" dirty="0"/>
          </a:p>
        </p:txBody>
      </p:sp>
      <p:sp>
        <p:nvSpPr>
          <p:cNvPr id="26" name="Outcome window"/>
          <p:cNvSpPr/>
          <p:nvPr/>
        </p:nvSpPr>
        <p:spPr>
          <a:xfrm>
            <a:off x="5120640" y="1481328"/>
            <a:ext cx="3337560" cy="457200"/>
          </a:xfrm>
          <a:prstGeom prst="rect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91440" tIns="54864" rIns="91440" bIns="54864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Outcome window: held out</a:t>
            </a:r>
            <a:endParaRPr lang="en-US" sz="1100" dirty="0"/>
          </a:p>
        </p:txBody>
      </p:sp>
      <p:sp>
        <p:nvSpPr>
          <p:cNvPr id="27" name="Cutoff marker"/>
          <p:cNvSpPr/>
          <p:nvPr/>
        </p:nvSpPr>
        <p:spPr>
          <a:xfrm>
            <a:off x="5106924" y="1371600"/>
            <a:ext cx="27432" cy="6766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8" name="Course start"/>
          <p:cNvSpPr/>
          <p:nvPr/>
        </p:nvSpPr>
        <p:spPr>
          <a:xfrm>
            <a:off x="685800" y="202996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start</a:t>
            </a:r>
            <a:endParaRPr lang="en-US" sz="1000" dirty="0"/>
          </a:p>
        </p:txBody>
      </p:sp>
      <p:sp>
        <p:nvSpPr>
          <p:cNvPr id="29" name="Cutoff label"/>
          <p:cNvSpPr/>
          <p:nvPr/>
        </p:nvSpPr>
        <p:spPr>
          <a:xfrm>
            <a:off x="4114800" y="202996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cutoff</a:t>
            </a:r>
            <a:endParaRPr lang="en-US" sz="1000" dirty="0"/>
          </a:p>
        </p:txBody>
      </p:sp>
      <p:sp>
        <p:nvSpPr>
          <p:cNvPr id="30" name="Course end"/>
          <p:cNvSpPr/>
          <p:nvPr/>
        </p:nvSpPr>
        <p:spPr>
          <a:xfrm>
            <a:off x="6812280" y="202996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end · final_result</a:t>
            </a:r>
            <a:endParaRPr lang="en-US" sz="1000" dirty="0"/>
          </a:p>
        </p:txBody>
      </p:sp>
      <p:sp>
        <p:nvSpPr>
          <p:cNvPr id="31" name="Leakage card"/>
          <p:cNvSpPr/>
          <p:nvPr/>
        </p:nvSpPr>
        <p:spPr>
          <a:xfrm>
            <a:off x="685800" y="2423160"/>
            <a:ext cx="3840480" cy="2990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2" name="Leakage title"/>
          <p:cNvSpPr/>
          <p:nvPr/>
        </p:nvSpPr>
        <p:spPr>
          <a:xfrm>
            <a:off x="850392" y="2551176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Leakage checks</a:t>
            </a:r>
            <a:endParaRPr lang="en-US" sz="1300" dirty="0"/>
          </a:p>
        </p:txBody>
      </p:sp>
      <p:sp>
        <p:nvSpPr>
          <p:cNvPr id="33" name="Check 1"/>
          <p:cNvSpPr/>
          <p:nvPr/>
        </p:nvSpPr>
        <p:spPr>
          <a:xfrm>
            <a:off x="850392" y="2999232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Check text 1"/>
          <p:cNvSpPr/>
          <p:nvPr/>
        </p:nvSpPr>
        <p:spPr>
          <a:xfrm>
            <a:off x="1252728" y="295351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Target-derived fields removed (final_result, date_unregistration)</a:t>
            </a:r>
            <a:endParaRPr lang="en-US" sz="1100" dirty="0"/>
          </a:p>
        </p:txBody>
      </p:sp>
      <p:sp>
        <p:nvSpPr>
          <p:cNvPr id="35" name="Check 2"/>
          <p:cNvSpPr/>
          <p:nvPr/>
        </p:nvSpPr>
        <p:spPr>
          <a:xfrm>
            <a:off x="850392" y="3602736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Check text 2"/>
          <p:cNvSpPr/>
          <p:nvPr/>
        </p:nvSpPr>
        <p:spPr>
          <a:xfrm>
            <a:off x="1252728" y="3557016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 events after the cutoff are used</a:t>
            </a:r>
            <a:endParaRPr lang="en-US" sz="1100" dirty="0"/>
          </a:p>
        </p:txBody>
      </p:sp>
      <p:sp>
        <p:nvSpPr>
          <p:cNvPr id="37" name="Check 3"/>
          <p:cNvSpPr/>
          <p:nvPr/>
        </p:nvSpPr>
        <p:spPr>
          <a:xfrm>
            <a:off x="850392" y="4206240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Check text 3"/>
          <p:cNvSpPr/>
          <p:nvPr/>
        </p:nvSpPr>
        <p:spPr>
          <a:xfrm>
            <a:off x="1252728" y="41605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 are never used as predictors</a:t>
            </a:r>
            <a:endParaRPr lang="en-US" sz="1100" dirty="0"/>
          </a:p>
        </p:txBody>
      </p:sp>
      <p:sp>
        <p:nvSpPr>
          <p:cNvPr id="39" name="Check 4"/>
          <p:cNvSpPr/>
          <p:nvPr/>
        </p:nvSpPr>
        <p:spPr>
          <a:xfrm>
            <a:off x="850392" y="4809744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Check text 4"/>
          <p:cNvSpPr/>
          <p:nvPr/>
        </p:nvSpPr>
        <p:spPr>
          <a:xfrm>
            <a:off x="1252728" y="476402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student–course pair never sits in both train and test</a:t>
            </a:r>
            <a:endParaRPr lang="en-US" sz="1100" dirty="0"/>
          </a:p>
        </p:txBody>
      </p:sp>
      <p:sp>
        <p:nvSpPr>
          <p:cNvPr id="41" name="Distribution card"/>
          <p:cNvSpPr/>
          <p:nvPr/>
        </p:nvSpPr>
        <p:spPr>
          <a:xfrm>
            <a:off x="4709160" y="2423160"/>
            <a:ext cx="3749040" cy="2990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2" name="Distribution title"/>
          <p:cNvSpPr/>
          <p:nvPr/>
        </p:nvSpPr>
        <p:spPr>
          <a:xfrm>
            <a:off x="4873752" y="2551176"/>
            <a:ext cx="34198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Target distribution (final_result)</a:t>
            </a:r>
            <a:endParaRPr lang="en-US" sz="1300" dirty="0"/>
          </a:p>
        </p:txBody>
      </p:sp>
      <p:sp>
        <p:nvSpPr>
          <p:cNvPr id="43" name="Bar label 1"/>
          <p:cNvSpPr/>
          <p:nvPr/>
        </p:nvSpPr>
        <p:spPr>
          <a:xfrm>
            <a:off x="4873752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Pass</a:t>
            </a:r>
            <a:endParaRPr lang="en-US" sz="1050" dirty="0"/>
          </a:p>
        </p:txBody>
      </p:sp>
      <p:sp>
        <p:nvSpPr>
          <p:cNvPr id="44" name="Bar 1"/>
          <p:cNvSpPr/>
          <p:nvPr/>
        </p:nvSpPr>
        <p:spPr>
          <a:xfrm>
            <a:off x="5806440" y="2999232"/>
            <a:ext cx="1545336" cy="219456"/>
          </a:xfrm>
          <a:prstGeom prst="rect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45" name="Bar value 1"/>
          <p:cNvSpPr/>
          <p:nvPr/>
        </p:nvSpPr>
        <p:spPr>
          <a:xfrm>
            <a:off x="7424928" y="29718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12,361  37.9%</a:t>
            </a:r>
            <a:endParaRPr lang="en-US" sz="950" dirty="0"/>
          </a:p>
        </p:txBody>
      </p:sp>
      <p:sp>
        <p:nvSpPr>
          <p:cNvPr id="46" name="Bar label 2"/>
          <p:cNvSpPr/>
          <p:nvPr/>
        </p:nvSpPr>
        <p:spPr>
          <a:xfrm>
            <a:off x="4873752" y="33375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Withdrawn</a:t>
            </a:r>
            <a:endParaRPr lang="en-US" sz="1050" dirty="0"/>
          </a:p>
        </p:txBody>
      </p:sp>
      <p:sp>
        <p:nvSpPr>
          <p:cNvPr id="47" name="Bar 2"/>
          <p:cNvSpPr/>
          <p:nvPr/>
        </p:nvSpPr>
        <p:spPr>
          <a:xfrm>
            <a:off x="5806440" y="3364992"/>
            <a:ext cx="1269673" cy="2194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48" name="Bar value 2"/>
          <p:cNvSpPr/>
          <p:nvPr/>
        </p:nvSpPr>
        <p:spPr>
          <a:xfrm>
            <a:off x="7149265" y="33375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10,156  31.2%</a:t>
            </a:r>
            <a:endParaRPr lang="en-US" sz="950" dirty="0"/>
          </a:p>
        </p:txBody>
      </p:sp>
      <p:sp>
        <p:nvSpPr>
          <p:cNvPr id="49" name="Bar label 3"/>
          <p:cNvSpPr/>
          <p:nvPr/>
        </p:nvSpPr>
        <p:spPr>
          <a:xfrm>
            <a:off x="4873752" y="37033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Fail</a:t>
            </a:r>
            <a:endParaRPr lang="en-US" sz="1050" dirty="0"/>
          </a:p>
        </p:txBody>
      </p:sp>
      <p:sp>
        <p:nvSpPr>
          <p:cNvPr id="50" name="Bar 3"/>
          <p:cNvSpPr/>
          <p:nvPr/>
        </p:nvSpPr>
        <p:spPr>
          <a:xfrm>
            <a:off x="5806440" y="3730752"/>
            <a:ext cx="881620" cy="2194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51" name="Bar value 3"/>
          <p:cNvSpPr/>
          <p:nvPr/>
        </p:nvSpPr>
        <p:spPr>
          <a:xfrm>
            <a:off x="6761212" y="3703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7,052  21.6%</a:t>
            </a:r>
            <a:endParaRPr lang="en-US" sz="950" dirty="0"/>
          </a:p>
        </p:txBody>
      </p:sp>
      <p:sp>
        <p:nvSpPr>
          <p:cNvPr id="52" name="Bar label 4"/>
          <p:cNvSpPr/>
          <p:nvPr/>
        </p:nvSpPr>
        <p:spPr>
          <a:xfrm>
            <a:off x="4873752" y="4069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Distinction</a:t>
            </a:r>
            <a:endParaRPr lang="en-US" sz="1050" dirty="0"/>
          </a:p>
        </p:txBody>
      </p:sp>
      <p:sp>
        <p:nvSpPr>
          <p:cNvPr id="53" name="Bar 4"/>
          <p:cNvSpPr/>
          <p:nvPr/>
        </p:nvSpPr>
        <p:spPr>
          <a:xfrm>
            <a:off x="5806440" y="4096512"/>
            <a:ext cx="378052" cy="219456"/>
          </a:xfrm>
          <a:prstGeom prst="rect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54" name="Bar value 4"/>
          <p:cNvSpPr/>
          <p:nvPr/>
        </p:nvSpPr>
        <p:spPr>
          <a:xfrm>
            <a:off x="6257644" y="40690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3,024  9.3%</a:t>
            </a:r>
            <a:endParaRPr lang="en-US" sz="950" dirty="0"/>
          </a:p>
        </p:txBody>
      </p:sp>
      <p:sp>
        <p:nvSpPr>
          <p:cNvPr id="55" name="At-risk callout"/>
          <p:cNvSpPr/>
          <p:nvPr/>
        </p:nvSpPr>
        <p:spPr>
          <a:xfrm>
            <a:off x="4873752" y="4480560"/>
            <a:ext cx="3419856" cy="365760"/>
          </a:xfrm>
          <a:prstGeom prst="roundRect">
            <a:avLst>
              <a:gd name="adj" fmla="val 20000"/>
            </a:avLst>
          </a:prstGeom>
          <a:solidFill>
            <a:srgbClr val="FBEDEF"/>
          </a:solidFill>
          <a:ln>
            <a:noFill/>
          </a:ln>
        </p:spPr>
        <p:txBody>
          <a:bodyPr wrap="square" lIns="109728" tIns="91440" rIns="109728" bIns="9144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At-risk = Fail + Withdrawn: </a:t>
            </a:r>
            <a:r>
              <a:rPr lang="en-US" sz="100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17,208 (52.8%)</a:t>
            </a:r>
            <a:endParaRPr lang="en-US" sz="1000" dirty="0"/>
          </a:p>
        </p:txBody>
      </p:sp>
      <p:sp>
        <p:nvSpPr>
          <p:cNvPr id="56" name="Mitigation"/>
          <p:cNvSpPr/>
          <p:nvPr/>
        </p:nvSpPr>
        <p:spPr>
          <a:xfrm>
            <a:off x="4873752" y="4910328"/>
            <a:ext cx="34198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Mitigation: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stratified splits, class weights, threshold tuning; report recall and PR-AUC.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Literature base for the Acadex student-support project · IEEE and Springer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31</a:t>
            </a:r>
            <a:endParaRPr lang="en-US" sz="900" dirty="0"/>
          </a:p>
        </p:txBody>
      </p:sp>
      <p:sp>
        <p:nvSpPr>
          <p:cNvPr id="25" name="Reference card 1"/>
          <p:cNvSpPr/>
          <p:nvPr/>
        </p:nvSpPr>
        <p:spPr>
          <a:xfrm>
            <a:off x="685800" y="137160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Reference number 1"/>
          <p:cNvSpPr/>
          <p:nvPr/>
        </p:nvSpPr>
        <p:spPr>
          <a:xfrm>
            <a:off x="777240" y="146304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Reference text 1"/>
          <p:cNvSpPr/>
          <p:nvPr/>
        </p:nvSpPr>
        <p:spPr>
          <a:xfrm>
            <a:off x="1143000" y="142646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Cano &amp; Leonard.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“Interpretable Multiview Early Warning System Adapted to Underrepresented Student Populations.”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Learning Technologies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ieeexplore.ieee.org/document/8691619</a:t>
            </a:r>
            <a:endParaRPr lang="en-US" sz="800" dirty="0"/>
          </a:p>
        </p:txBody>
      </p:sp>
      <p:sp>
        <p:nvSpPr>
          <p:cNvPr id="28" name="Reference card 2"/>
          <p:cNvSpPr/>
          <p:nvPr/>
        </p:nvSpPr>
        <p:spPr>
          <a:xfrm>
            <a:off x="685800" y="237744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9" name="Reference number 2"/>
          <p:cNvSpPr/>
          <p:nvPr/>
        </p:nvSpPr>
        <p:spPr>
          <a:xfrm>
            <a:off x="777240" y="24688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Reference text 2"/>
          <p:cNvSpPr/>
          <p:nvPr/>
        </p:nvSpPr>
        <p:spPr>
          <a:xfrm>
            <a:off x="1143000" y="243230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Al-Shabandar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“Detecting At-Risk Students With Early Interventions Using Machine Learning Techniques.”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 · DOI 10.1109/ACCESS.2019.2943351</a:t>
            </a:r>
            <a:endParaRPr lang="en-US" sz="850" dirty="0"/>
          </a:p>
        </p:txBody>
      </p:sp>
      <p:sp>
        <p:nvSpPr>
          <p:cNvPr id="31" name="Reference card 3"/>
          <p:cNvSpPr/>
          <p:nvPr/>
        </p:nvSpPr>
        <p:spPr>
          <a:xfrm>
            <a:off x="685800" y="338328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2" name="Reference number 3"/>
          <p:cNvSpPr/>
          <p:nvPr/>
        </p:nvSpPr>
        <p:spPr>
          <a:xfrm>
            <a:off x="777240" y="347472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Reference text 3"/>
          <p:cNvSpPr/>
          <p:nvPr/>
        </p:nvSpPr>
        <p:spPr>
          <a:xfrm>
            <a:off x="1143000" y="343814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Zhao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“Academic Performance Prediction Based on Multisource, Multifeature Behavioral Data.”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ieeexplore.ieee.org/document/9118933</a:t>
            </a:r>
            <a:endParaRPr lang="en-US" sz="800" dirty="0"/>
          </a:p>
        </p:txBody>
      </p:sp>
      <p:sp>
        <p:nvSpPr>
          <p:cNvPr id="34" name="Reference card 4"/>
          <p:cNvSpPr/>
          <p:nvPr/>
        </p:nvSpPr>
        <p:spPr>
          <a:xfrm>
            <a:off x="685800" y="438912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5" name="Reference number 4"/>
          <p:cNvSpPr/>
          <p:nvPr/>
        </p:nvSpPr>
        <p:spPr>
          <a:xfrm>
            <a:off x="777240" y="448056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Reference text 4"/>
          <p:cNvSpPr/>
          <p:nvPr/>
        </p:nvSpPr>
        <p:spPr>
          <a:xfrm>
            <a:off x="1143000" y="444398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Cui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“Tri-Branch Convolutional Neural Networks for Top-k Focused Academic Performance Prediction.”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Neural Networks and Learning Systems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ieeexplore.ieee.org/document/9779126</a:t>
            </a:r>
            <a:endParaRPr lang="en-US" sz="800" dirty="0"/>
          </a:p>
        </p:txBody>
      </p:sp>
      <p:sp>
        <p:nvSpPr>
          <p:cNvPr id="37" name="Reference card 5"/>
          <p:cNvSpPr/>
          <p:nvPr/>
        </p:nvSpPr>
        <p:spPr>
          <a:xfrm>
            <a:off x="4663440" y="137160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Reference number 5"/>
          <p:cNvSpPr/>
          <p:nvPr/>
        </p:nvSpPr>
        <p:spPr>
          <a:xfrm>
            <a:off x="4754880" y="146304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Reference text 5"/>
          <p:cNvSpPr/>
          <p:nvPr/>
        </p:nvSpPr>
        <p:spPr>
          <a:xfrm>
            <a:off x="5120640" y="142646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Yanes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 Machine Learning-Based Recommender System for Improving Students Learning Experiences.”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ieeexplore.ieee.org/document/9249379</a:t>
            </a:r>
            <a:endParaRPr lang="en-US" sz="800" dirty="0"/>
          </a:p>
        </p:txBody>
      </p:sp>
      <p:sp>
        <p:nvSpPr>
          <p:cNvPr id="40" name="Reference card 6"/>
          <p:cNvSpPr/>
          <p:nvPr/>
        </p:nvSpPr>
        <p:spPr>
          <a:xfrm>
            <a:off x="4663440" y="237744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1" name="Reference number 6"/>
          <p:cNvSpPr/>
          <p:nvPr/>
        </p:nvSpPr>
        <p:spPr>
          <a:xfrm>
            <a:off x="4754880" y="24688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Reference text 6"/>
          <p:cNvSpPr/>
          <p:nvPr/>
        </p:nvSpPr>
        <p:spPr>
          <a:xfrm>
            <a:off x="5120640" y="243230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Ma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“Learning Early Warning Guided by Course Objective Achievement via Knowledge State and Learning State Modeling.”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Computational Social Systems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ieeexplore.ieee.org/document/11387756</a:t>
            </a:r>
            <a:endParaRPr lang="en-US" sz="800" dirty="0"/>
          </a:p>
        </p:txBody>
      </p:sp>
      <p:sp>
        <p:nvSpPr>
          <p:cNvPr id="43" name="Reference card 7"/>
          <p:cNvSpPr/>
          <p:nvPr/>
        </p:nvSpPr>
        <p:spPr>
          <a:xfrm>
            <a:off x="4663440" y="338328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4" name="Reference number 7"/>
          <p:cNvSpPr/>
          <p:nvPr/>
        </p:nvSpPr>
        <p:spPr>
          <a:xfrm>
            <a:off x="4754880" y="347472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Reference text 7"/>
          <p:cNvSpPr/>
          <p:nvPr/>
        </p:nvSpPr>
        <p:spPr>
          <a:xfrm>
            <a:off x="5120640" y="343814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Kord, Aboelfetouh &amp; Shohieb.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“Academic course planning recommendation and students’ performance prediction multi-modal based on educational data mining techniques.”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J. Computing in Higher Education, Springer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link.springer.com/article/10.1007/s12528-024-09426-0</a:t>
            </a:r>
            <a:endParaRPr lang="en-US" sz="800" dirty="0"/>
          </a:p>
        </p:txBody>
      </p:sp>
      <p:sp>
        <p:nvSpPr>
          <p:cNvPr id="46" name="Reference card 8"/>
          <p:cNvSpPr/>
          <p:nvPr/>
        </p:nvSpPr>
        <p:spPr>
          <a:xfrm>
            <a:off x="4663440" y="438912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7" name="Reference number 8"/>
          <p:cNvSpPr/>
          <p:nvPr/>
        </p:nvSpPr>
        <p:spPr>
          <a:xfrm>
            <a:off x="4754880" y="448056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Reference text 8"/>
          <p:cNvSpPr/>
          <p:nvPr/>
        </p:nvSpPr>
        <p:spPr>
          <a:xfrm>
            <a:off x="5120640" y="444398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Alalawi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“Evaluating the student performance prediction and action framework through a learning analytics intervention study.”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Education and Information Technologies, Springer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link.springer.com/article/10.1007/s10639-024-12923-5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Project Objectives and Scope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Acadex sets out to do, and where it stops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21</a:t>
            </a:r>
            <a:endParaRPr lang="en-US" sz="900" dirty="0"/>
          </a:p>
        </p:txBody>
      </p:sp>
      <p:sp>
        <p:nvSpPr>
          <p:cNvPr id="25" name="Objective 1"/>
          <p:cNvSpPr/>
          <p:nvPr/>
        </p:nvSpPr>
        <p:spPr>
          <a:xfrm>
            <a:off x="685800" y="1371600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Objective number 1"/>
          <p:cNvSpPr/>
          <p:nvPr/>
        </p:nvSpPr>
        <p:spPr>
          <a:xfrm>
            <a:off x="795528" y="1508760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Objective text 1"/>
          <p:cNvSpPr/>
          <p:nvPr/>
        </p:nvSpPr>
        <p:spPr>
          <a:xfrm>
            <a:off x="1252728" y="1371600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Daily value: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Give students a reason to open the campus system every day.</a:t>
            </a:r>
            <a:endParaRPr lang="en-US" sz="1150" dirty="0"/>
          </a:p>
        </p:txBody>
      </p:sp>
      <p:sp>
        <p:nvSpPr>
          <p:cNvPr id="28" name="Objective 2"/>
          <p:cNvSpPr/>
          <p:nvPr/>
        </p:nvSpPr>
        <p:spPr>
          <a:xfrm>
            <a:off x="685800" y="2048256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9" name="Objective number 2"/>
          <p:cNvSpPr/>
          <p:nvPr/>
        </p:nvSpPr>
        <p:spPr>
          <a:xfrm>
            <a:off x="795528" y="2185416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Objective text 2"/>
          <p:cNvSpPr/>
          <p:nvPr/>
        </p:nvSpPr>
        <p:spPr>
          <a:xfrm>
            <a:off x="1252728" y="2048256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 smarter: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Faculty-backed doubts, smart notes and a study planner.</a:t>
            </a:r>
            <a:endParaRPr lang="en-US" sz="1150" dirty="0"/>
          </a:p>
        </p:txBody>
      </p:sp>
      <p:sp>
        <p:nvSpPr>
          <p:cNvPr id="31" name="Objective 3"/>
          <p:cNvSpPr/>
          <p:nvPr/>
        </p:nvSpPr>
        <p:spPr>
          <a:xfrm>
            <a:off x="685800" y="2724912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2" name="Objective number 3"/>
          <p:cNvSpPr/>
          <p:nvPr/>
        </p:nvSpPr>
        <p:spPr>
          <a:xfrm>
            <a:off x="795528" y="2862072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Objective text 3"/>
          <p:cNvSpPr/>
          <p:nvPr/>
        </p:nvSpPr>
        <p:spPr>
          <a:xfrm>
            <a:off x="1252728" y="2724912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Stay on track: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Explainable early warning from attendance, marks and deadlines.</a:t>
            </a:r>
            <a:endParaRPr lang="en-US" sz="1150" dirty="0"/>
          </a:p>
        </p:txBody>
      </p:sp>
      <p:sp>
        <p:nvSpPr>
          <p:cNvPr id="34" name="Objective 4"/>
          <p:cNvSpPr/>
          <p:nvPr/>
        </p:nvSpPr>
        <p:spPr>
          <a:xfrm>
            <a:off x="685800" y="3401568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5" name="Objective number 4"/>
          <p:cNvSpPr/>
          <p:nvPr/>
        </p:nvSpPr>
        <p:spPr>
          <a:xfrm>
            <a:off x="795528" y="3538728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Objective text 4"/>
          <p:cNvSpPr/>
          <p:nvPr/>
        </p:nvSpPr>
        <p:spPr>
          <a:xfrm>
            <a:off x="1252728" y="3401568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Get guidance: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Counselling, career guidance and senior–junior mentorship.</a:t>
            </a:r>
            <a:endParaRPr lang="en-US" sz="1150" dirty="0"/>
          </a:p>
        </p:txBody>
      </p:sp>
      <p:sp>
        <p:nvSpPr>
          <p:cNvPr id="37" name="Objective 5"/>
          <p:cNvSpPr/>
          <p:nvPr/>
        </p:nvSpPr>
        <p:spPr>
          <a:xfrm>
            <a:off x="685800" y="4078224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Objective number 5"/>
          <p:cNvSpPr/>
          <p:nvPr/>
        </p:nvSpPr>
        <p:spPr>
          <a:xfrm>
            <a:off x="795528" y="4215384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Objective text 5"/>
          <p:cNvSpPr/>
          <p:nvPr/>
        </p:nvSpPr>
        <p:spPr>
          <a:xfrm>
            <a:off x="1252728" y="4078224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Build together: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Community rooms and a project and idea hub.</a:t>
            </a:r>
            <a:endParaRPr lang="en-US" sz="1150" dirty="0"/>
          </a:p>
        </p:txBody>
      </p:sp>
      <p:sp>
        <p:nvSpPr>
          <p:cNvPr id="40" name="Objective 6"/>
          <p:cNvSpPr/>
          <p:nvPr/>
        </p:nvSpPr>
        <p:spPr>
          <a:xfrm>
            <a:off x="685800" y="4754880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1" name="Objective number 6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Objective text 6"/>
          <p:cNvSpPr/>
          <p:nvPr/>
        </p:nvSpPr>
        <p:spPr>
          <a:xfrm>
            <a:off x="1252728" y="4754880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Faster support: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help requests to the right department automatically.</a:t>
            </a:r>
            <a:endParaRPr lang="en-US" sz="1150" dirty="0"/>
          </a:p>
        </p:txBody>
      </p:sp>
      <p:sp>
        <p:nvSpPr>
          <p:cNvPr id="43" name="In scope"/>
          <p:cNvSpPr/>
          <p:nvPr/>
        </p:nvSpPr>
        <p:spPr>
          <a:xfrm>
            <a:off x="5212080" y="1371600"/>
            <a:ext cx="32461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3764F"/>
            </a:solidFill>
          </a:ln>
        </p:spPr>
        <p:txBody>
          <a:bodyPr wrap="square" lIns="137160" tIns="109728" rIns="109728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3764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 SCOPE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11 modules for students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Student, teacher and admin portals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Mobile-friendly web app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Risk model trained on OULAD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Reads attendance and marks from the college system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Analytics for staff and admins</a:t>
            </a:r>
            <a:endParaRPr lang="en-US" sz="1050" dirty="0"/>
          </a:p>
        </p:txBody>
      </p:sp>
      <p:sp>
        <p:nvSpPr>
          <p:cNvPr id="44" name="Out of scope"/>
          <p:cNvSpPr/>
          <p:nvPr/>
        </p:nvSpPr>
        <p:spPr>
          <a:xfrm>
            <a:off x="5212080" y="3767328"/>
            <a:ext cx="32461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41837"/>
            </a:solidFill>
          </a:ln>
        </p:spPr>
        <p:txBody>
          <a:bodyPr wrap="square" lIns="137160" tIns="109728" rIns="109728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OUT OF SCOPE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Replacing fees, exams or placements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Native mobile apps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Live video calls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Production-scale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Stakeholders and User Roles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Three portals, each built around what that person needs to do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22</a:t>
            </a:r>
            <a:endParaRPr lang="en-US" sz="900" dirty="0"/>
          </a:p>
        </p:txBody>
      </p:sp>
      <p:sp>
        <p:nvSpPr>
          <p:cNvPr id="25" name="Role card 1"/>
          <p:cNvSpPr/>
          <p:nvPr/>
        </p:nvSpPr>
        <p:spPr>
          <a:xfrm>
            <a:off x="685800" y="137160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6" name="Role header 1"/>
          <p:cNvSpPr/>
          <p:nvPr/>
        </p:nvSpPr>
        <p:spPr>
          <a:xfrm>
            <a:off x="685800" y="1371600"/>
            <a:ext cx="2468880" cy="731520"/>
          </a:xfrm>
          <a:prstGeom prst="round2SameRect">
            <a:avLst>
              <a:gd name="adj" fmla="val 14000"/>
            </a:avLst>
          </a:prstGeom>
          <a:solidFill>
            <a:srgbClr val="1C3778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15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DE3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Learn, plan and get help</a:t>
            </a:r>
            <a:endParaRPr lang="en-US" sz="1050" dirty="0"/>
          </a:p>
        </p:txBody>
      </p:sp>
      <p:sp>
        <p:nvSpPr>
          <p:cNvPr id="27" name="Role actions 1"/>
          <p:cNvSpPr/>
          <p:nvPr/>
        </p:nvSpPr>
        <p:spPr>
          <a:xfrm>
            <a:off x="850392" y="2240280"/>
            <a:ext cx="2139696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faculty and search past doubts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Plan exams, track topics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 own performance and alerts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Seek guidance, join community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Get warned before exams</a:t>
            </a:r>
            <a:endParaRPr lang="en-US" sz="1100" dirty="0"/>
          </a:p>
        </p:txBody>
      </p:sp>
      <p:sp>
        <p:nvSpPr>
          <p:cNvPr id="28" name="Role card 2"/>
          <p:cNvSpPr/>
          <p:nvPr/>
        </p:nvSpPr>
        <p:spPr>
          <a:xfrm>
            <a:off x="3337560" y="137160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9" name="Role header 2"/>
          <p:cNvSpPr/>
          <p:nvPr/>
        </p:nvSpPr>
        <p:spPr>
          <a:xfrm>
            <a:off x="3337560" y="1371600"/>
            <a:ext cx="2468880" cy="731520"/>
          </a:xfrm>
          <a:prstGeom prst="round2SameRect">
            <a:avLst>
              <a:gd name="adj" fmla="val 14000"/>
            </a:avLst>
          </a:prstGeom>
          <a:solidFill>
            <a:srgbClr val="B41837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 / Mentor</a:t>
            </a:r>
            <a:endParaRPr lang="en-US" sz="15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DE3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Teach and support</a:t>
            </a:r>
            <a:endParaRPr lang="en-US" sz="1050" dirty="0"/>
          </a:p>
        </p:txBody>
      </p:sp>
      <p:sp>
        <p:nvSpPr>
          <p:cNvPr id="30" name="Role actions 2"/>
          <p:cNvSpPr/>
          <p:nvPr/>
        </p:nvSpPr>
        <p:spPr>
          <a:xfrm>
            <a:off x="3502152" y="2240280"/>
            <a:ext cx="2139696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Answer and verify doubts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 class performance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Act on at-risk students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 projects, keep mentee notes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 class resources</a:t>
            </a:r>
            <a:endParaRPr lang="en-US" sz="1100" dirty="0"/>
          </a:p>
        </p:txBody>
      </p:sp>
      <p:sp>
        <p:nvSpPr>
          <p:cNvPr id="31" name="Role card 3"/>
          <p:cNvSpPr/>
          <p:nvPr/>
        </p:nvSpPr>
        <p:spPr>
          <a:xfrm>
            <a:off x="5989320" y="137160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2" name="Role header 3"/>
          <p:cNvSpPr/>
          <p:nvPr/>
        </p:nvSpPr>
        <p:spPr>
          <a:xfrm>
            <a:off x="5989320" y="1371600"/>
            <a:ext cx="2468880" cy="731520"/>
          </a:xfrm>
          <a:prstGeom prst="round2SameRect">
            <a:avLst>
              <a:gd name="adj" fmla="val 14000"/>
            </a:avLst>
          </a:prstGeom>
          <a:solidFill>
            <a:srgbClr val="1C3778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15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DE3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Run and improve</a:t>
            </a:r>
            <a:endParaRPr lang="en-US" sz="1050" dirty="0"/>
          </a:p>
        </p:txBody>
      </p:sp>
      <p:sp>
        <p:nvSpPr>
          <p:cNvPr id="33" name="Role actions 3"/>
          <p:cNvSpPr/>
          <p:nvPr/>
        </p:nvSpPr>
        <p:spPr>
          <a:xfrm>
            <a:off x="6153912" y="2240280"/>
            <a:ext cx="2139696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Analytics dashboard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tickets to departments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Moderate the community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Manage users and alert rules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Monitor model quality</a:t>
            </a:r>
            <a:endParaRPr lang="en-US" sz="1100" dirty="0"/>
          </a:p>
        </p:txBody>
      </p:sp>
      <p:sp>
        <p:nvSpPr>
          <p:cNvPr id="34" name="Also label"/>
          <p:cNvSpPr/>
          <p:nvPr/>
        </p:nvSpPr>
        <p:spPr>
          <a:xfrm>
            <a:off x="685800" y="448056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ALSO INVOLVED</a:t>
            </a:r>
            <a:endParaRPr lang="en-US" sz="1000" dirty="0"/>
          </a:p>
        </p:txBody>
      </p:sp>
      <p:sp>
        <p:nvSpPr>
          <p:cNvPr id="35" name="Secondary 1"/>
          <p:cNvSpPr/>
          <p:nvPr/>
        </p:nvSpPr>
        <p:spPr>
          <a:xfrm>
            <a:off x="685800" y="4736592"/>
            <a:ext cx="2468880" cy="640080"/>
          </a:xfrm>
          <a:prstGeom prst="roundRect">
            <a:avLst>
              <a:gd name="adj" fmla="val 14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Counsellors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Handle booked sessions and follow-ups</a:t>
            </a:r>
            <a:endParaRPr lang="en-US" sz="1000" dirty="0"/>
          </a:p>
        </p:txBody>
      </p:sp>
      <p:sp>
        <p:nvSpPr>
          <p:cNvPr id="36" name="Secondary 2"/>
          <p:cNvSpPr/>
          <p:nvPr/>
        </p:nvSpPr>
        <p:spPr>
          <a:xfrm>
            <a:off x="3337560" y="4736592"/>
            <a:ext cx="2468880" cy="640080"/>
          </a:xfrm>
          <a:prstGeom prst="roundRect">
            <a:avLst>
              <a:gd name="adj" fmla="val 14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Senior mentors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Answer college and career questions</a:t>
            </a:r>
            <a:endParaRPr lang="en-US" sz="1000" dirty="0"/>
          </a:p>
        </p:txBody>
      </p:sp>
      <p:sp>
        <p:nvSpPr>
          <p:cNvPr id="37" name="Secondary 3"/>
          <p:cNvSpPr/>
          <p:nvPr/>
        </p:nvSpPr>
        <p:spPr>
          <a:xfrm>
            <a:off x="5989320" y="4736592"/>
            <a:ext cx="2468880" cy="640080"/>
          </a:xfrm>
          <a:prstGeom prst="roundRect">
            <a:avLst>
              <a:gd name="adj" fmla="val 14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Department staff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Resolve routed help tickets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Requirements: Student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a student must be able to do in each module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5" name="Student requirements"/>
          <p:cNvGraphicFramePr>
            <a:graphicFrameLocks noGrp="1"/>
          </p:cNvGraphicFramePr>
          <p:nvPr/>
        </p:nvGraphicFramePr>
        <p:xfrm>
          <a:off x="685800" y="1371600"/>
          <a:ext cx="7772400" cy="3895344"/>
        </p:xfrm>
        <a:graphic>
          <a:graphicData uri="http://schemas.openxmlformats.org/drawingml/2006/table">
            <a:tbl>
              <a:tblPr firstRow="1"/>
              <a:tblGrid>
                <a:gridCol w="640080"/>
                <a:gridCol w="466344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ID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Requirement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Module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FR-S1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Ask a chosen teacher a doubt and search past solutions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Faculty Doubt Desk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FR-S2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Upload notes and get a summary, key questions and MCQs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Smart Notes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FR-S3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Add exams; get an auto schedule and track topics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Study Planner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FR-S4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View attendance, marks and assignments with trends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Performance Analyzer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FR-S5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Receive alerts for low attendance and falling marks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Early Warning System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FR-S6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Raise a ticket routed to the right department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Help Center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FR-S7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Book a counselling session, optionally anonymous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Counselling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FR-S8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Get career paths, courses and a placement roadmap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Career Guidance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FR-S9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Ask seniors questions and rate mentors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Mentorship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FR-S10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Post, answer, vote and report in rooms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Community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FR-S11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Submit ideas, find teammates, track progress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Project &amp; Idea Hub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Requirements: Teacher and Admin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Tools that let staff act on what students need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24</a:t>
            </a:r>
            <a:endParaRPr lang="en-US" sz="900" dirty="0"/>
          </a:p>
        </p:txBody>
      </p:sp>
      <p:sp>
        <p:nvSpPr>
          <p:cNvPr id="25" name="Header TEACHER"/>
          <p:cNvSpPr/>
          <p:nvPr/>
        </p:nvSpPr>
        <p:spPr>
          <a:xfrm>
            <a:off x="685800" y="1371600"/>
            <a:ext cx="3794760" cy="365760"/>
          </a:xfrm>
          <a:prstGeom prst="round2SameRect">
            <a:avLst>
              <a:gd name="adj" fmla="val 25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</a:t>
            </a:r>
            <a:endParaRPr lang="en-US" sz="1200" dirty="0"/>
          </a:p>
        </p:txBody>
      </p:sp>
      <p:sp>
        <p:nvSpPr>
          <p:cNvPr id="26" name="TEACHER row 1"/>
          <p:cNvSpPr/>
          <p:nvPr/>
        </p:nvSpPr>
        <p:spPr>
          <a:xfrm>
            <a:off x="685800" y="181051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FR-T1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Reply to doubts, mark solved, verify answers</a:t>
            </a:r>
            <a:endParaRPr lang="en-US" sz="1000" dirty="0"/>
          </a:p>
        </p:txBody>
      </p:sp>
      <p:sp>
        <p:nvSpPr>
          <p:cNvPr id="27" name="TEACHER row 2"/>
          <p:cNvSpPr/>
          <p:nvPr/>
        </p:nvSpPr>
        <p:spPr>
          <a:xfrm>
            <a:off x="685800" y="240487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FR-T2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 class resources</a:t>
            </a:r>
            <a:endParaRPr lang="en-US" sz="1000" dirty="0"/>
          </a:p>
        </p:txBody>
      </p:sp>
      <p:sp>
        <p:nvSpPr>
          <p:cNvPr id="28" name="TEACHER row 3"/>
          <p:cNvSpPr/>
          <p:nvPr/>
        </p:nvSpPr>
        <p:spPr>
          <a:xfrm>
            <a:off x="685800" y="299923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FR-T3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 class performance and a risk list with reasons</a:t>
            </a:r>
            <a:endParaRPr lang="en-US" sz="1000" dirty="0"/>
          </a:p>
        </p:txBody>
      </p:sp>
      <p:sp>
        <p:nvSpPr>
          <p:cNvPr id="29" name="TEACHER row 4"/>
          <p:cNvSpPr/>
          <p:nvPr/>
        </p:nvSpPr>
        <p:spPr>
          <a:xfrm>
            <a:off x="685800" y="359359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FR-T4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Log interventions and track outcomes</a:t>
            </a:r>
            <a:endParaRPr lang="en-US" sz="1000" dirty="0"/>
          </a:p>
        </p:txBody>
      </p:sp>
      <p:sp>
        <p:nvSpPr>
          <p:cNvPr id="30" name="TEACHER row 5"/>
          <p:cNvSpPr/>
          <p:nvPr/>
        </p:nvSpPr>
        <p:spPr>
          <a:xfrm>
            <a:off x="685800" y="418795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FR-T5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Keep private mentee notes and follow-ups</a:t>
            </a:r>
            <a:endParaRPr lang="en-US" sz="1000" dirty="0"/>
          </a:p>
        </p:txBody>
      </p:sp>
      <p:sp>
        <p:nvSpPr>
          <p:cNvPr id="31" name="TEACHER row 6"/>
          <p:cNvSpPr/>
          <p:nvPr/>
        </p:nvSpPr>
        <p:spPr>
          <a:xfrm>
            <a:off x="685800" y="478231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FR-T6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 and approve project ideas</a:t>
            </a:r>
            <a:endParaRPr lang="en-US" sz="1000" dirty="0"/>
          </a:p>
        </p:txBody>
      </p:sp>
      <p:sp>
        <p:nvSpPr>
          <p:cNvPr id="32" name="Header ADMIN"/>
          <p:cNvSpPr/>
          <p:nvPr/>
        </p:nvSpPr>
        <p:spPr>
          <a:xfrm>
            <a:off x="4663440" y="1371600"/>
            <a:ext cx="3794760" cy="365760"/>
          </a:xfrm>
          <a:prstGeom prst="round2SameRect">
            <a:avLst>
              <a:gd name="adj" fmla="val 25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1200" dirty="0"/>
          </a:p>
        </p:txBody>
      </p:sp>
      <p:sp>
        <p:nvSpPr>
          <p:cNvPr id="33" name="ADMIN row 1"/>
          <p:cNvSpPr/>
          <p:nvPr/>
        </p:nvSpPr>
        <p:spPr>
          <a:xfrm>
            <a:off x="4663440" y="181051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FR-A1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Analytics dashboard for engagement, risk and tickets</a:t>
            </a:r>
            <a:endParaRPr lang="en-US" sz="1000" dirty="0"/>
          </a:p>
        </p:txBody>
      </p:sp>
      <p:sp>
        <p:nvSpPr>
          <p:cNvPr id="34" name="ADMIN row 2"/>
          <p:cNvSpPr/>
          <p:nvPr/>
        </p:nvSpPr>
        <p:spPr>
          <a:xfrm>
            <a:off x="4663440" y="240487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FR-A2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Monitor model quality over time</a:t>
            </a:r>
            <a:endParaRPr lang="en-US" sz="1000" dirty="0"/>
          </a:p>
        </p:txBody>
      </p:sp>
      <p:sp>
        <p:nvSpPr>
          <p:cNvPr id="35" name="ADMIN row 3"/>
          <p:cNvSpPr/>
          <p:nvPr/>
        </p:nvSpPr>
        <p:spPr>
          <a:xfrm>
            <a:off x="4663440" y="299923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FR-A3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and resolve help tickets</a:t>
            </a:r>
            <a:endParaRPr lang="en-US" sz="1000" dirty="0"/>
          </a:p>
        </p:txBody>
      </p:sp>
      <p:sp>
        <p:nvSpPr>
          <p:cNvPr id="36" name="ADMIN row 4"/>
          <p:cNvSpPr/>
          <p:nvPr/>
        </p:nvSpPr>
        <p:spPr>
          <a:xfrm>
            <a:off x="4663440" y="359359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FR-A4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Moderate reported community posts</a:t>
            </a:r>
            <a:endParaRPr lang="en-US" sz="1000" dirty="0"/>
          </a:p>
        </p:txBody>
      </p:sp>
      <p:sp>
        <p:nvSpPr>
          <p:cNvPr id="37" name="ADMIN row 5"/>
          <p:cNvSpPr/>
          <p:nvPr/>
        </p:nvSpPr>
        <p:spPr>
          <a:xfrm>
            <a:off x="4663440" y="418795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FR-A5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Manage users and roles</a:t>
            </a:r>
            <a:endParaRPr lang="en-US" sz="1000" dirty="0"/>
          </a:p>
        </p:txBody>
      </p:sp>
      <p:sp>
        <p:nvSpPr>
          <p:cNvPr id="38" name="ADMIN row 6"/>
          <p:cNvSpPr/>
          <p:nvPr/>
        </p:nvSpPr>
        <p:spPr>
          <a:xfrm>
            <a:off x="4663440" y="478231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FR-A6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Configure alert thresholds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Quality targets the system is designed and tested against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25</a:t>
            </a:r>
            <a:endParaRPr lang="en-US" sz="900" dirty="0"/>
          </a:p>
        </p:txBody>
      </p:sp>
      <p:sp>
        <p:nvSpPr>
          <p:cNvPr id="25" name="NFR card 1"/>
          <p:cNvSpPr/>
          <p:nvPr/>
        </p:nvSpPr>
        <p:spPr>
          <a:xfrm>
            <a:off x="68580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NFR number 1"/>
          <p:cNvSpPr/>
          <p:nvPr/>
        </p:nvSpPr>
        <p:spPr>
          <a:xfrm>
            <a:off x="850392" y="1536192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NFR title 1"/>
          <p:cNvSpPr/>
          <p:nvPr/>
        </p:nvSpPr>
        <p:spPr>
          <a:xfrm>
            <a:off x="850392" y="202996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8" name="NFR text 1"/>
          <p:cNvSpPr/>
          <p:nvPr/>
        </p:nvSpPr>
        <p:spPr>
          <a:xfrm>
            <a:off x="850392" y="2377440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JWT login, role-based access, rate limits, no secrets in code.</a:t>
            </a:r>
            <a:endParaRPr lang="en-US" sz="1050" dirty="0"/>
          </a:p>
        </p:txBody>
      </p:sp>
      <p:sp>
        <p:nvSpPr>
          <p:cNvPr id="29" name="NFR card 2"/>
          <p:cNvSpPr/>
          <p:nvPr/>
        </p:nvSpPr>
        <p:spPr>
          <a:xfrm>
            <a:off x="333756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0" name="NFR number 2"/>
          <p:cNvSpPr/>
          <p:nvPr/>
        </p:nvSpPr>
        <p:spPr>
          <a:xfrm>
            <a:off x="3502152" y="1536192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NFR title 2"/>
          <p:cNvSpPr/>
          <p:nvPr/>
        </p:nvSpPr>
        <p:spPr>
          <a:xfrm>
            <a:off x="3502152" y="202996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Privacy</a:t>
            </a:r>
            <a:endParaRPr lang="en-US" sz="1400" dirty="0"/>
          </a:p>
        </p:txBody>
      </p:sp>
      <p:sp>
        <p:nvSpPr>
          <p:cNvPr id="32" name="NFR text 2"/>
          <p:cNvSpPr/>
          <p:nvPr/>
        </p:nvSpPr>
        <p:spPr>
          <a:xfrm>
            <a:off x="3502152" y="2377440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Minimum necessary data. Anonymous options. Risk scores visible only to the student and their mentor.</a:t>
            </a:r>
            <a:endParaRPr lang="en-US" sz="1050" dirty="0"/>
          </a:p>
        </p:txBody>
      </p:sp>
      <p:sp>
        <p:nvSpPr>
          <p:cNvPr id="33" name="NFR card 3"/>
          <p:cNvSpPr/>
          <p:nvPr/>
        </p:nvSpPr>
        <p:spPr>
          <a:xfrm>
            <a:off x="598932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4" name="NFR number 3"/>
          <p:cNvSpPr/>
          <p:nvPr/>
        </p:nvSpPr>
        <p:spPr>
          <a:xfrm>
            <a:off x="6153912" y="1536192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NFR title 3"/>
          <p:cNvSpPr/>
          <p:nvPr/>
        </p:nvSpPr>
        <p:spPr>
          <a:xfrm>
            <a:off x="6153912" y="202996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36" name="NFR text 3"/>
          <p:cNvSpPr/>
          <p:nvPr/>
        </p:nvSpPr>
        <p:spPr>
          <a:xfrm>
            <a:off x="6153912" y="2377440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List pages use a constant number of queries. Target: pages usable in under 2 seconds.</a:t>
            </a:r>
            <a:endParaRPr lang="en-US" sz="1050" dirty="0"/>
          </a:p>
        </p:txBody>
      </p:sp>
      <p:sp>
        <p:nvSpPr>
          <p:cNvPr id="37" name="NFR card 4"/>
          <p:cNvSpPr/>
          <p:nvPr/>
        </p:nvSpPr>
        <p:spPr>
          <a:xfrm>
            <a:off x="68580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NFR number 4"/>
          <p:cNvSpPr/>
          <p:nvPr/>
        </p:nvSpPr>
        <p:spPr>
          <a:xfrm>
            <a:off x="850392" y="3566160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NFR title 4"/>
          <p:cNvSpPr/>
          <p:nvPr/>
        </p:nvSpPr>
        <p:spPr>
          <a:xfrm>
            <a:off x="850392" y="4059936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40" name="NFR text 4"/>
          <p:cNvSpPr/>
          <p:nvPr/>
        </p:nvSpPr>
        <p:spPr>
          <a:xfrm>
            <a:off x="850392" y="4407408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Mobile-friendly, same look and feel as the college portal, minimal training.</a:t>
            </a:r>
            <a:endParaRPr lang="en-US" sz="1050" dirty="0"/>
          </a:p>
        </p:txBody>
      </p:sp>
      <p:sp>
        <p:nvSpPr>
          <p:cNvPr id="41" name="NFR card 5"/>
          <p:cNvSpPr/>
          <p:nvPr/>
        </p:nvSpPr>
        <p:spPr>
          <a:xfrm>
            <a:off x="333756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2" name="NFR number 5"/>
          <p:cNvSpPr/>
          <p:nvPr/>
        </p:nvSpPr>
        <p:spPr>
          <a:xfrm>
            <a:off x="3502152" y="3566160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NFR title 5"/>
          <p:cNvSpPr/>
          <p:nvPr/>
        </p:nvSpPr>
        <p:spPr>
          <a:xfrm>
            <a:off x="3502152" y="4059936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44" name="NFR text 5"/>
          <p:cNvSpPr/>
          <p:nvPr/>
        </p:nvSpPr>
        <p:spPr>
          <a:xfrm>
            <a:off x="3502152" y="4407408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Stateless API, Redis cache and PostgreSQL so it can grow with the campus.</a:t>
            </a:r>
            <a:endParaRPr lang="en-US" sz="1050" dirty="0"/>
          </a:p>
        </p:txBody>
      </p:sp>
      <p:sp>
        <p:nvSpPr>
          <p:cNvPr id="45" name="NFR card 6"/>
          <p:cNvSpPr/>
          <p:nvPr/>
        </p:nvSpPr>
        <p:spPr>
          <a:xfrm>
            <a:off x="598932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6" name="NFR number 6"/>
          <p:cNvSpPr/>
          <p:nvPr/>
        </p:nvSpPr>
        <p:spPr>
          <a:xfrm>
            <a:off x="6153912" y="3566160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NFR title 6"/>
          <p:cNvSpPr/>
          <p:nvPr/>
        </p:nvSpPr>
        <p:spPr>
          <a:xfrm>
            <a:off x="6153912" y="4059936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48" name="NFR text 6"/>
          <p:cNvSpPr/>
          <p:nvPr/>
        </p:nvSpPr>
        <p:spPr>
          <a:xfrm>
            <a:off x="6153912" y="4407408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Modular services, automated tests and an API schema for every endpoint.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Use-Case Diagram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Who does what inside Acadex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26</a:t>
            </a:r>
            <a:endParaRPr lang="en-US" sz="900" dirty="0"/>
          </a:p>
        </p:txBody>
      </p:sp>
      <p:sp>
        <p:nvSpPr>
          <p:cNvPr id="25" name="System boundary"/>
          <p:cNvSpPr/>
          <p:nvPr/>
        </p:nvSpPr>
        <p:spPr>
          <a:xfrm>
            <a:off x="2103120" y="1371600"/>
            <a:ext cx="50292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1C3778"/>
            </a:solidFill>
          </a:ln>
        </p:spPr>
      </p:sp>
      <p:sp>
        <p:nvSpPr>
          <p:cNvPr id="26" name="System label"/>
          <p:cNvSpPr/>
          <p:nvPr/>
        </p:nvSpPr>
        <p:spPr>
          <a:xfrm>
            <a:off x="2240280" y="1444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 system</a:t>
            </a:r>
            <a:endParaRPr lang="en-US" sz="1050" dirty="0"/>
          </a:p>
        </p:txBody>
      </p:sp>
      <p:sp>
        <p:nvSpPr>
          <p:cNvPr id="27" name="Use case S1"/>
          <p:cNvSpPr/>
          <p:nvPr/>
        </p:nvSpPr>
        <p:spPr>
          <a:xfrm>
            <a:off x="2286000" y="1828800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a doubt</a:t>
            </a:r>
            <a:endParaRPr lang="en-US" sz="1050" dirty="0"/>
          </a:p>
        </p:txBody>
      </p:sp>
      <p:sp>
        <p:nvSpPr>
          <p:cNvPr id="28" name="Use case S2"/>
          <p:cNvSpPr/>
          <p:nvPr/>
        </p:nvSpPr>
        <p:spPr>
          <a:xfrm>
            <a:off x="2286000" y="2432304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Upload notes</a:t>
            </a:r>
            <a:endParaRPr lang="en-US" sz="1050" dirty="0"/>
          </a:p>
        </p:txBody>
      </p:sp>
      <p:sp>
        <p:nvSpPr>
          <p:cNvPr id="29" name="Use case S3"/>
          <p:cNvSpPr/>
          <p:nvPr/>
        </p:nvSpPr>
        <p:spPr>
          <a:xfrm>
            <a:off x="2286000" y="3035808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Plan studies</a:t>
            </a:r>
            <a:endParaRPr lang="en-US" sz="1050" dirty="0"/>
          </a:p>
        </p:txBody>
      </p:sp>
      <p:sp>
        <p:nvSpPr>
          <p:cNvPr id="30" name="Use case S4"/>
          <p:cNvSpPr/>
          <p:nvPr/>
        </p:nvSpPr>
        <p:spPr>
          <a:xfrm>
            <a:off x="2286000" y="3639312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performance</a:t>
            </a:r>
            <a:endParaRPr lang="en-US" sz="1050" dirty="0"/>
          </a:p>
        </p:txBody>
      </p:sp>
      <p:sp>
        <p:nvSpPr>
          <p:cNvPr id="31" name="Use case S5"/>
          <p:cNvSpPr/>
          <p:nvPr/>
        </p:nvSpPr>
        <p:spPr>
          <a:xfrm>
            <a:off x="2286000" y="4242816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Book counselling</a:t>
            </a:r>
            <a:endParaRPr lang="en-US" sz="1050" dirty="0"/>
          </a:p>
        </p:txBody>
      </p:sp>
      <p:sp>
        <p:nvSpPr>
          <p:cNvPr id="32" name="Use case S6"/>
          <p:cNvSpPr/>
          <p:nvPr/>
        </p:nvSpPr>
        <p:spPr>
          <a:xfrm>
            <a:off x="2286000" y="4846320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Join community</a:t>
            </a:r>
            <a:endParaRPr lang="en-US" sz="1050" dirty="0"/>
          </a:p>
        </p:txBody>
      </p:sp>
      <p:sp>
        <p:nvSpPr>
          <p:cNvPr id="33" name="Use case T1"/>
          <p:cNvSpPr/>
          <p:nvPr/>
        </p:nvSpPr>
        <p:spPr>
          <a:xfrm>
            <a:off x="4754880" y="1828800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Answer doubts</a:t>
            </a:r>
            <a:endParaRPr lang="en-US" sz="1050" dirty="0"/>
          </a:p>
        </p:txBody>
      </p:sp>
      <p:sp>
        <p:nvSpPr>
          <p:cNvPr id="34" name="Use case T2"/>
          <p:cNvSpPr/>
          <p:nvPr/>
        </p:nvSpPr>
        <p:spPr>
          <a:xfrm>
            <a:off x="4754880" y="2432304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class risk list</a:t>
            </a:r>
            <a:endParaRPr lang="en-US" sz="1050" dirty="0"/>
          </a:p>
        </p:txBody>
      </p:sp>
      <p:sp>
        <p:nvSpPr>
          <p:cNvPr id="35" name="Use case T3"/>
          <p:cNvSpPr/>
          <p:nvPr/>
        </p:nvSpPr>
        <p:spPr>
          <a:xfrm>
            <a:off x="4754880" y="3035808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Log intervention</a:t>
            </a:r>
            <a:endParaRPr lang="en-US" sz="1050" dirty="0"/>
          </a:p>
        </p:txBody>
      </p:sp>
      <p:sp>
        <p:nvSpPr>
          <p:cNvPr id="36" name="Use case T4"/>
          <p:cNvSpPr/>
          <p:nvPr/>
        </p:nvSpPr>
        <p:spPr>
          <a:xfrm>
            <a:off x="4754880" y="3639312"/>
            <a:ext cx="2194560" cy="457200"/>
          </a:xfrm>
          <a:prstGeom prst="ellipse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B418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tickets</a:t>
            </a:r>
            <a:endParaRPr lang="en-US" sz="1050" dirty="0"/>
          </a:p>
        </p:txBody>
      </p:sp>
      <p:sp>
        <p:nvSpPr>
          <p:cNvPr id="37" name="Use case T5"/>
          <p:cNvSpPr/>
          <p:nvPr/>
        </p:nvSpPr>
        <p:spPr>
          <a:xfrm>
            <a:off x="4754880" y="4242816"/>
            <a:ext cx="2194560" cy="457200"/>
          </a:xfrm>
          <a:prstGeom prst="ellipse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B418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Moderate posts</a:t>
            </a:r>
            <a:endParaRPr lang="en-US" sz="1050" dirty="0"/>
          </a:p>
        </p:txBody>
      </p:sp>
      <p:sp>
        <p:nvSpPr>
          <p:cNvPr id="38" name="Use case T6"/>
          <p:cNvSpPr/>
          <p:nvPr/>
        </p:nvSpPr>
        <p:spPr>
          <a:xfrm>
            <a:off x="4754880" y="4846320"/>
            <a:ext cx="2194560" cy="457200"/>
          </a:xfrm>
          <a:prstGeom prst="ellipse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B418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analytics</a:t>
            </a:r>
            <a:endParaRPr lang="en-US" sz="1050" dirty="0"/>
          </a:p>
        </p:txBody>
      </p:sp>
      <p:cxnSp>
        <p:nvCxnSpPr>
          <p:cNvPr id="39" name="Student link 1"/>
          <p:cNvCxnSpPr/>
          <p:nvPr/>
        </p:nvCxnSpPr>
        <p:spPr>
          <a:xfrm flipV="1">
            <a:off x="1463040" y="2057400"/>
            <a:ext cx="841248" cy="1234440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0" name="Student link 2"/>
          <p:cNvCxnSpPr/>
          <p:nvPr/>
        </p:nvCxnSpPr>
        <p:spPr>
          <a:xfrm flipV="1">
            <a:off x="1463040" y="2660904"/>
            <a:ext cx="841248" cy="630936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1" name="Student link 3"/>
          <p:cNvCxnSpPr/>
          <p:nvPr/>
        </p:nvCxnSpPr>
        <p:spPr>
          <a:xfrm flipV="1">
            <a:off x="1463040" y="3264408"/>
            <a:ext cx="841248" cy="27432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2" name="Student link 4"/>
          <p:cNvCxnSpPr/>
          <p:nvPr/>
        </p:nvCxnSpPr>
        <p:spPr>
          <a:xfrm>
            <a:off x="1463040" y="3291840"/>
            <a:ext cx="841248" cy="576072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3" name="Student link 5"/>
          <p:cNvCxnSpPr/>
          <p:nvPr/>
        </p:nvCxnSpPr>
        <p:spPr>
          <a:xfrm>
            <a:off x="1463040" y="3291840"/>
            <a:ext cx="841248" cy="1179576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4" name="Student link 6"/>
          <p:cNvCxnSpPr/>
          <p:nvPr/>
        </p:nvCxnSpPr>
        <p:spPr>
          <a:xfrm>
            <a:off x="1463040" y="3291840"/>
            <a:ext cx="841248" cy="1783080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5" name="Teacher link 1"/>
          <p:cNvCxnSpPr/>
          <p:nvPr/>
        </p:nvCxnSpPr>
        <p:spPr>
          <a:xfrm flipH="1" flipV="1">
            <a:off x="6931152" y="2057400"/>
            <a:ext cx="658368" cy="182880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6" name="Teacher link 2"/>
          <p:cNvCxnSpPr/>
          <p:nvPr/>
        </p:nvCxnSpPr>
        <p:spPr>
          <a:xfrm flipH="1">
            <a:off x="6931152" y="2240280"/>
            <a:ext cx="658368" cy="420624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7" name="Teacher link 3"/>
          <p:cNvCxnSpPr/>
          <p:nvPr/>
        </p:nvCxnSpPr>
        <p:spPr>
          <a:xfrm flipH="1">
            <a:off x="6931152" y="2240280"/>
            <a:ext cx="658368" cy="1024128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8" name="Admin link 4"/>
          <p:cNvCxnSpPr/>
          <p:nvPr/>
        </p:nvCxnSpPr>
        <p:spPr>
          <a:xfrm flipH="1" flipV="1">
            <a:off x="6931152" y="3867912"/>
            <a:ext cx="658368" cy="429768"/>
          </a:xfrm>
          <a:prstGeom prst="line">
            <a:avLst/>
          </a:prstGeom>
          <a:ln w="9525">
            <a:solidFill>
              <a:srgbClr val="B87A85"/>
            </a:solidFill>
          </a:ln>
        </p:spPr>
      </p:cxnSp>
      <p:cxnSp>
        <p:nvCxnSpPr>
          <p:cNvPr id="49" name="Admin link 5"/>
          <p:cNvCxnSpPr/>
          <p:nvPr/>
        </p:nvCxnSpPr>
        <p:spPr>
          <a:xfrm flipH="1">
            <a:off x="6931152" y="4297680"/>
            <a:ext cx="658368" cy="173736"/>
          </a:xfrm>
          <a:prstGeom prst="line">
            <a:avLst/>
          </a:prstGeom>
          <a:ln w="9525">
            <a:solidFill>
              <a:srgbClr val="B87A85"/>
            </a:solidFill>
          </a:ln>
        </p:spPr>
      </p:cxnSp>
      <p:cxnSp>
        <p:nvCxnSpPr>
          <p:cNvPr id="50" name="Admin link 6"/>
          <p:cNvCxnSpPr/>
          <p:nvPr/>
        </p:nvCxnSpPr>
        <p:spPr>
          <a:xfrm flipH="1">
            <a:off x="6931152" y="4297680"/>
            <a:ext cx="658368" cy="777240"/>
          </a:xfrm>
          <a:prstGeom prst="line">
            <a:avLst/>
          </a:prstGeom>
          <a:ln w="9525">
            <a:solidFill>
              <a:srgbClr val="B87A85"/>
            </a:solidFill>
          </a:ln>
        </p:spPr>
      </p:cxnSp>
      <p:sp>
        <p:nvSpPr>
          <p:cNvPr id="51" name="Student head"/>
          <p:cNvSpPr/>
          <p:nvPr/>
        </p:nvSpPr>
        <p:spPr>
          <a:xfrm>
            <a:off x="1033272" y="2926080"/>
            <a:ext cx="310896" cy="310896"/>
          </a:xfrm>
          <a:prstGeom prst="ellipse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52" name="Student body"/>
          <p:cNvSpPr/>
          <p:nvPr/>
        </p:nvSpPr>
        <p:spPr>
          <a:xfrm>
            <a:off x="932688" y="3273552"/>
            <a:ext cx="512064" cy="457200"/>
          </a:xfrm>
          <a:prstGeom prst="round2SameRect">
            <a:avLst>
              <a:gd name="adj" fmla="val 40000"/>
            </a:avLst>
          </a:prstGeom>
          <a:solidFill>
            <a:srgbClr val="1C3778"/>
          </a:solidFill>
          <a:ln>
            <a:noFill/>
          </a:ln>
        </p:spPr>
      </p:sp>
      <p:sp>
        <p:nvSpPr>
          <p:cNvPr id="53" name="Student label"/>
          <p:cNvSpPr/>
          <p:nvPr/>
        </p:nvSpPr>
        <p:spPr>
          <a:xfrm>
            <a:off x="548640" y="37947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1100" dirty="0"/>
          </a:p>
        </p:txBody>
      </p:sp>
      <p:sp>
        <p:nvSpPr>
          <p:cNvPr id="54" name="Teacher head"/>
          <p:cNvSpPr/>
          <p:nvPr/>
        </p:nvSpPr>
        <p:spPr>
          <a:xfrm>
            <a:off x="7708392" y="1874520"/>
            <a:ext cx="310896" cy="310896"/>
          </a:xfrm>
          <a:prstGeom prst="ellipse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55" name="Teacher body"/>
          <p:cNvSpPr/>
          <p:nvPr/>
        </p:nvSpPr>
        <p:spPr>
          <a:xfrm>
            <a:off x="7607808" y="2221992"/>
            <a:ext cx="512064" cy="457200"/>
          </a:xfrm>
          <a:prstGeom prst="round2SameRect">
            <a:avLst>
              <a:gd name="adj" fmla="val 40000"/>
            </a:avLst>
          </a:prstGeom>
          <a:solidFill>
            <a:srgbClr val="1C3778"/>
          </a:solidFill>
          <a:ln>
            <a:noFill/>
          </a:ln>
        </p:spPr>
      </p:sp>
      <p:sp>
        <p:nvSpPr>
          <p:cNvPr id="56" name="Teacher label"/>
          <p:cNvSpPr/>
          <p:nvPr/>
        </p:nvSpPr>
        <p:spPr>
          <a:xfrm>
            <a:off x="7223760" y="27432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</a:t>
            </a:r>
            <a:endParaRPr lang="en-US" sz="1100" dirty="0"/>
          </a:p>
        </p:txBody>
      </p:sp>
      <p:sp>
        <p:nvSpPr>
          <p:cNvPr id="57" name="Admin head"/>
          <p:cNvSpPr/>
          <p:nvPr/>
        </p:nvSpPr>
        <p:spPr>
          <a:xfrm>
            <a:off x="7708392" y="3931920"/>
            <a:ext cx="310896" cy="310896"/>
          </a:xfrm>
          <a:prstGeom prst="ellipse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58" name="Admin body"/>
          <p:cNvSpPr/>
          <p:nvPr/>
        </p:nvSpPr>
        <p:spPr>
          <a:xfrm>
            <a:off x="7607808" y="4279392"/>
            <a:ext cx="512064" cy="457200"/>
          </a:xfrm>
          <a:prstGeom prst="round2SameRect">
            <a:avLst>
              <a:gd name="adj" fmla="val 40000"/>
            </a:avLst>
          </a:prstGeom>
          <a:solidFill>
            <a:srgbClr val="B41837"/>
          </a:solidFill>
          <a:ln>
            <a:noFill/>
          </a:ln>
        </p:spPr>
      </p:sp>
      <p:sp>
        <p:nvSpPr>
          <p:cNvPr id="59" name="Admin label"/>
          <p:cNvSpPr/>
          <p:nvPr/>
        </p:nvSpPr>
        <p:spPr>
          <a:xfrm>
            <a:off x="7223760" y="48006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User Stories and Criteria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Each story is complete only when its acceptance test passes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27</a:t>
            </a:r>
            <a:endParaRPr lang="en-US" sz="900" dirty="0"/>
          </a:p>
        </p:txBody>
      </p:sp>
      <p:sp>
        <p:nvSpPr>
          <p:cNvPr id="25" name="Story 1"/>
          <p:cNvSpPr/>
          <p:nvPr/>
        </p:nvSpPr>
        <p:spPr>
          <a:xfrm>
            <a:off x="685800" y="1371600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Story role 1"/>
          <p:cNvSpPr/>
          <p:nvPr/>
        </p:nvSpPr>
        <p:spPr>
          <a:xfrm>
            <a:off x="813816" y="148132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850" dirty="0"/>
          </a:p>
        </p:txBody>
      </p:sp>
      <p:sp>
        <p:nvSpPr>
          <p:cNvPr id="27" name="Story text 1"/>
          <p:cNvSpPr/>
          <p:nvPr/>
        </p:nvSpPr>
        <p:spPr>
          <a:xfrm>
            <a:off x="813816" y="1755648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student,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to ask my teacher a doubt and see if it was already solved, so I don't wait for an answer that already exists.</a:t>
            </a:r>
            <a:endParaRPr lang="en-US" sz="1050" dirty="0"/>
          </a:p>
        </p:txBody>
      </p:sp>
      <p:sp>
        <p:nvSpPr>
          <p:cNvPr id="28" name="Story done 1"/>
          <p:cNvSpPr/>
          <p:nvPr/>
        </p:nvSpPr>
        <p:spPr>
          <a:xfrm>
            <a:off x="813816" y="2286000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solved doubt with the same topic is suggested while I type.</a:t>
            </a:r>
            <a:endParaRPr lang="en-US" sz="950" dirty="0"/>
          </a:p>
        </p:txBody>
      </p:sp>
      <p:sp>
        <p:nvSpPr>
          <p:cNvPr id="29" name="Story 2"/>
          <p:cNvSpPr/>
          <p:nvPr/>
        </p:nvSpPr>
        <p:spPr>
          <a:xfrm>
            <a:off x="4663440" y="1371600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0" name="Story role 2"/>
          <p:cNvSpPr/>
          <p:nvPr/>
        </p:nvSpPr>
        <p:spPr>
          <a:xfrm>
            <a:off x="4791456" y="148132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850" dirty="0"/>
          </a:p>
        </p:txBody>
      </p:sp>
      <p:sp>
        <p:nvSpPr>
          <p:cNvPr id="31" name="Story text 2"/>
          <p:cNvSpPr/>
          <p:nvPr/>
        </p:nvSpPr>
        <p:spPr>
          <a:xfrm>
            <a:off x="4791456" y="1755648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student,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an alert when my attendance or marks slip, so I can recover before exams.</a:t>
            </a:r>
            <a:endParaRPr lang="en-US" sz="1050" dirty="0"/>
          </a:p>
        </p:txBody>
      </p:sp>
      <p:sp>
        <p:nvSpPr>
          <p:cNvPr id="32" name="Story done 2"/>
          <p:cNvSpPr/>
          <p:nvPr/>
        </p:nvSpPr>
        <p:spPr>
          <a:xfrm>
            <a:off x="4791456" y="2286000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alert names the cause and what to do next.</a:t>
            </a:r>
            <a:endParaRPr lang="en-US" sz="950" dirty="0"/>
          </a:p>
        </p:txBody>
      </p:sp>
      <p:sp>
        <p:nvSpPr>
          <p:cNvPr id="33" name="Story 3"/>
          <p:cNvSpPr/>
          <p:nvPr/>
        </p:nvSpPr>
        <p:spPr>
          <a:xfrm>
            <a:off x="685800" y="2724912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4" name="Story role 3"/>
          <p:cNvSpPr/>
          <p:nvPr/>
        </p:nvSpPr>
        <p:spPr>
          <a:xfrm>
            <a:off x="813816" y="28346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</a:t>
            </a:r>
            <a:endParaRPr lang="en-US" sz="850" dirty="0"/>
          </a:p>
        </p:txBody>
      </p:sp>
      <p:sp>
        <p:nvSpPr>
          <p:cNvPr id="35" name="Story text 3"/>
          <p:cNvSpPr/>
          <p:nvPr/>
        </p:nvSpPr>
        <p:spPr>
          <a:xfrm>
            <a:off x="813816" y="3108960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teacher,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a list of at-risk students with reasons, so I know whom to help first.</a:t>
            </a:r>
            <a:endParaRPr lang="en-US" sz="1050" dirty="0"/>
          </a:p>
        </p:txBody>
      </p:sp>
      <p:sp>
        <p:nvSpPr>
          <p:cNvPr id="36" name="Story done 3"/>
          <p:cNvSpPr/>
          <p:nvPr/>
        </p:nvSpPr>
        <p:spPr>
          <a:xfrm>
            <a:off x="813816" y="3639312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List is sorted by risk and each score shows its top drivers.</a:t>
            </a:r>
            <a:endParaRPr lang="en-US" sz="950" dirty="0"/>
          </a:p>
        </p:txBody>
      </p:sp>
      <p:sp>
        <p:nvSpPr>
          <p:cNvPr id="37" name="Story 4"/>
          <p:cNvSpPr/>
          <p:nvPr/>
        </p:nvSpPr>
        <p:spPr>
          <a:xfrm>
            <a:off x="4663440" y="2724912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Story role 4"/>
          <p:cNvSpPr/>
          <p:nvPr/>
        </p:nvSpPr>
        <p:spPr>
          <a:xfrm>
            <a:off x="4791456" y="28346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</a:t>
            </a:r>
            <a:endParaRPr lang="en-US" sz="850" dirty="0"/>
          </a:p>
        </p:txBody>
      </p:sp>
      <p:sp>
        <p:nvSpPr>
          <p:cNvPr id="39" name="Story text 4"/>
          <p:cNvSpPr/>
          <p:nvPr/>
        </p:nvSpPr>
        <p:spPr>
          <a:xfrm>
            <a:off x="4791456" y="3108960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teacher,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to log an intervention and see if it helped.</a:t>
            </a:r>
            <a:endParaRPr lang="en-US" sz="1050" dirty="0"/>
          </a:p>
        </p:txBody>
      </p:sp>
      <p:sp>
        <p:nvSpPr>
          <p:cNvPr id="40" name="Story done 4"/>
          <p:cNvSpPr/>
          <p:nvPr/>
        </p:nvSpPr>
        <p:spPr>
          <a:xfrm>
            <a:off x="4791456" y="3639312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action, date and later outcome appear in one tracker.</a:t>
            </a:r>
            <a:endParaRPr lang="en-US" sz="950" dirty="0"/>
          </a:p>
        </p:txBody>
      </p:sp>
      <p:sp>
        <p:nvSpPr>
          <p:cNvPr id="41" name="Story 5"/>
          <p:cNvSpPr/>
          <p:nvPr/>
        </p:nvSpPr>
        <p:spPr>
          <a:xfrm>
            <a:off x="685800" y="4078224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2" name="Story role 5"/>
          <p:cNvSpPr/>
          <p:nvPr/>
        </p:nvSpPr>
        <p:spPr>
          <a:xfrm>
            <a:off x="813816" y="418795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850" dirty="0"/>
          </a:p>
        </p:txBody>
      </p:sp>
      <p:sp>
        <p:nvSpPr>
          <p:cNvPr id="43" name="Story text 5"/>
          <p:cNvSpPr/>
          <p:nvPr/>
        </p:nvSpPr>
        <p:spPr>
          <a:xfrm>
            <a:off x="813816" y="4462272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admin,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help tickets routed to the right department automatically.</a:t>
            </a:r>
            <a:endParaRPr lang="en-US" sz="1050" dirty="0"/>
          </a:p>
        </p:txBody>
      </p:sp>
      <p:sp>
        <p:nvSpPr>
          <p:cNvPr id="44" name="Story done 5"/>
          <p:cNvSpPr/>
          <p:nvPr/>
        </p:nvSpPr>
        <p:spPr>
          <a:xfrm>
            <a:off x="813816" y="4992624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fees ticket reaches Accounts &amp; Fees without manual sorting.</a:t>
            </a:r>
            <a:endParaRPr lang="en-US" sz="950" dirty="0"/>
          </a:p>
        </p:txBody>
      </p:sp>
      <p:sp>
        <p:nvSpPr>
          <p:cNvPr id="45" name="Story 6"/>
          <p:cNvSpPr/>
          <p:nvPr/>
        </p:nvSpPr>
        <p:spPr>
          <a:xfrm>
            <a:off x="4663440" y="4078224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6" name="Story role 6"/>
          <p:cNvSpPr/>
          <p:nvPr/>
        </p:nvSpPr>
        <p:spPr>
          <a:xfrm>
            <a:off x="4791456" y="418795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850" dirty="0"/>
          </a:p>
        </p:txBody>
      </p:sp>
      <p:sp>
        <p:nvSpPr>
          <p:cNvPr id="47" name="Story text 6"/>
          <p:cNvSpPr/>
          <p:nvPr/>
        </p:nvSpPr>
        <p:spPr>
          <a:xfrm>
            <a:off x="4791456" y="4462272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admin,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reported posts hidden until reviewed.</a:t>
            </a:r>
            <a:endParaRPr lang="en-US" sz="1050" dirty="0"/>
          </a:p>
        </p:txBody>
      </p:sp>
      <p:sp>
        <p:nvSpPr>
          <p:cNvPr id="48" name="Story done 6"/>
          <p:cNvSpPr/>
          <p:nvPr/>
        </p:nvSpPr>
        <p:spPr>
          <a:xfrm>
            <a:off x="4791456" y="4992624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post with 3 reports is hidden and appears in the review queue.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 vs the Current Portal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the College Management System covers today, and what Acadex adds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5" name="Comparison table"/>
          <p:cNvGraphicFramePr>
            <a:graphicFrameLocks noGrp="1"/>
          </p:cNvGraphicFramePr>
          <p:nvPr/>
        </p:nvGraphicFramePr>
        <p:xfrm>
          <a:off x="685800" y="1371600"/>
          <a:ext cx="7772400" cy="3913632"/>
        </p:xfrm>
        <a:graphic>
          <a:graphicData uri="http://schemas.openxmlformats.org/drawingml/2006/table">
            <a:tbl>
              <a:tblPr firstRow="1"/>
              <a:tblGrid>
                <a:gridCol w="3291840"/>
                <a:gridCol w="1097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Capability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Portal today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Acadex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Fees, exams, placements, events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3764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Reused as is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Forums and notices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7791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Basic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Rooms with voting, moderation, anonymity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Doubts answered by faculty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Doubt Desk with past-solution search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Notes summaries and practice MCQs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Smart Notes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Personal study planner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Study Planner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Early warning on attendance and marks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Explainable risk model and alerts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Counselling and mentorship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Booked sessions, senior mentors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One view of at-risk students for staff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Teacher and admin dashboards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Help requests sent to the right department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Auto-routed tickets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ource note"/>
          <p:cNvSpPr/>
          <p:nvPr/>
        </p:nvSpPr>
        <p:spPr>
          <a:xfrm>
            <a:off x="685800" y="539496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Based on the portal features listed on slide 3. “Basic” = exists but without these features.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Feasibility Study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Can it be built, afforded and used?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29</a:t>
            </a:r>
            <a:endParaRPr lang="en-US" sz="900" dirty="0"/>
          </a:p>
        </p:txBody>
      </p:sp>
      <p:sp>
        <p:nvSpPr>
          <p:cNvPr id="25" name="Feasibility 1"/>
          <p:cNvSpPr/>
          <p:nvPr/>
        </p:nvSpPr>
        <p:spPr>
          <a:xfrm>
            <a:off x="685800" y="137160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Feasibility tick 1"/>
          <p:cNvSpPr/>
          <p:nvPr/>
        </p:nvSpPr>
        <p:spPr>
          <a:xfrm>
            <a:off x="822960" y="1481328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Feasibility title 1"/>
          <p:cNvSpPr/>
          <p:nvPr/>
        </p:nvSpPr>
        <p:spPr>
          <a:xfrm>
            <a:off x="1188720" y="1481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28" name="Feasibility text 1"/>
          <p:cNvSpPr/>
          <p:nvPr/>
        </p:nvSpPr>
        <p:spPr>
          <a:xfrm>
            <a:off x="850392" y="1874520"/>
            <a:ext cx="213969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Proven stack: Next.js, Tailwind, Django or Express, PostgreSQL, Redis. OULAD is public. A working prototype already exists.</a:t>
            </a:r>
            <a:endParaRPr lang="en-US" sz="1050" dirty="0"/>
          </a:p>
        </p:txBody>
      </p:sp>
      <p:sp>
        <p:nvSpPr>
          <p:cNvPr id="29" name="Feasibility 2"/>
          <p:cNvSpPr/>
          <p:nvPr/>
        </p:nvSpPr>
        <p:spPr>
          <a:xfrm>
            <a:off x="3337560" y="137160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0" name="Feasibility tick 2"/>
          <p:cNvSpPr/>
          <p:nvPr/>
        </p:nvSpPr>
        <p:spPr>
          <a:xfrm>
            <a:off x="3474720" y="1481328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Feasibility title 2"/>
          <p:cNvSpPr/>
          <p:nvPr/>
        </p:nvSpPr>
        <p:spPr>
          <a:xfrm>
            <a:off x="3840480" y="1481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Economic</a:t>
            </a:r>
            <a:endParaRPr lang="en-US" sz="1300" dirty="0"/>
          </a:p>
        </p:txBody>
      </p:sp>
      <p:sp>
        <p:nvSpPr>
          <p:cNvPr id="32" name="Feasibility text 2"/>
          <p:cNvSpPr/>
          <p:nvPr/>
        </p:nvSpPr>
        <p:spPr>
          <a:xfrm>
            <a:off x="3502152" y="1874520"/>
            <a:ext cx="213969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Open-source tools and free tiers. Main optional cost: a language-model API for Smart Notes.</a:t>
            </a:r>
            <a:endParaRPr lang="en-US" sz="1050" dirty="0"/>
          </a:p>
        </p:txBody>
      </p:sp>
      <p:sp>
        <p:nvSpPr>
          <p:cNvPr id="33" name="Feasibility 3"/>
          <p:cNvSpPr/>
          <p:nvPr/>
        </p:nvSpPr>
        <p:spPr>
          <a:xfrm>
            <a:off x="5989320" y="137160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4" name="Feasibility tick 3"/>
          <p:cNvSpPr/>
          <p:nvPr/>
        </p:nvSpPr>
        <p:spPr>
          <a:xfrm>
            <a:off x="6126480" y="1481328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Feasibility title 3"/>
          <p:cNvSpPr/>
          <p:nvPr/>
        </p:nvSpPr>
        <p:spPr>
          <a:xfrm>
            <a:off x="6492240" y="1481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36" name="Feasibility text 3"/>
          <p:cNvSpPr/>
          <p:nvPr/>
        </p:nvSpPr>
        <p:spPr>
          <a:xfrm>
            <a:off x="6153912" y="1874520"/>
            <a:ext cx="213969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Fits current workflows, reads data from the college system and needs little training.</a:t>
            </a:r>
            <a:endParaRPr lang="en-US" sz="1050" dirty="0"/>
          </a:p>
        </p:txBody>
      </p:sp>
      <p:sp>
        <p:nvSpPr>
          <p:cNvPr id="37" name="Risk label"/>
          <p:cNvSpPr/>
          <p:nvPr/>
        </p:nvSpPr>
        <p:spPr>
          <a:xfrm>
            <a:off x="685800" y="31546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RISKS AND HOW WE HANDLE THEM</a:t>
            </a:r>
            <a:endParaRPr lang="en-US" sz="1000" dirty="0"/>
          </a:p>
        </p:txBody>
      </p:sp>
      <p:graphicFrame>
        <p:nvGraphicFramePr>
          <p:cNvPr id="38" name="Risk table"/>
          <p:cNvGraphicFramePr>
            <a:graphicFrameLocks noGrp="1"/>
          </p:cNvGraphicFramePr>
          <p:nvPr/>
        </p:nvGraphicFramePr>
        <p:xfrm>
          <a:off x="685800" y="3429000"/>
          <a:ext cx="7772400" cy="1847088"/>
        </p:xfrm>
        <a:graphic>
          <a:graphicData uri="http://schemas.openxmlformats.org/drawingml/2006/table">
            <a:tbl>
              <a:tblPr firstRow="1"/>
              <a:tblGrid>
                <a:gridCol w="2651760"/>
                <a:gridCol w="5120640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Mitigation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Access to college data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Import attendance and marks by CSV or API; start with sample data.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Students not trusting a risk score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SHAP shows the reasons behind every flag.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Privacy concerns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Minimum data, role-based views, anonymous options.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Low adoption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Daily reasons to return: today’s plan, replies, alerts.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How We Will Measure Success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Metrics tied to each goal, read from data Acadex already collects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25" name="Success metrics"/>
          <p:cNvGraphicFramePr>
            <a:graphicFrameLocks noGrp="1"/>
          </p:cNvGraphicFramePr>
          <p:nvPr/>
        </p:nvGraphicFramePr>
        <p:xfrm>
          <a:off x="685800" y="1371600"/>
          <a:ext cx="7772400" cy="3493008"/>
        </p:xfrm>
        <a:graphic>
          <a:graphicData uri="http://schemas.openxmlformats.org/drawingml/2006/table">
            <a:tbl>
              <a:tblPr firstRow="1"/>
              <a:tblGrid>
                <a:gridCol w="2103120"/>
                <a:gridCol w="356616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Goal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Measured from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Students return daily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Daily active students, sessions per week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Usage logs (admin dashboard)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Faster academic help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Time to first doubt reply, share of doubts solved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Faculty Doubt Desk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Early detection works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Recall and PR-AUC, warning lead time before exams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Model monitoring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Support is acted on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Intervention uptake, attendance and marks after support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Intervention tracker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Issues resolved quickly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Ticket resolution time by department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Help Center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Community stays healthy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Share of posts answered, time to review reports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Moderation queue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Students feel supported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Satisfaction survey, mentor ratings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In-app survey, ratings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Pilot note"/>
          <p:cNvSpPr/>
          <p:nvPr/>
        </p:nvSpPr>
        <p:spPr>
          <a:xfrm>
            <a:off x="685800" y="502920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Numeric targets will be agreed with the college after a pilot.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2026-10-11T18:06:53Z</dcterms:created>
  <dcterms:modified xsi:type="dcterms:W3CDTF">2026-10-11T18:06:53Z</dcterms:modified>
</cp:coreProperties>
</file>