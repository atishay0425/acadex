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6858000"/>
  <p:notesSz cx="6858000" cy="9144000"/>
  <p:embeddedFontLst>
    <p:embeddedFont>
      <p:font typeface="Tinos"/>
      <p:regular r:id="rId201314"/>
    </p:embeddedFont>
    <p:embeddedFont>
      <p:font typeface="Tinos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45" y="1041350"/>
            <a:ext cx="2363465" cy="686767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45" y="6334720"/>
            <a:ext cx="1293986" cy="36574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55911" y="1790700"/>
            <a:ext cx="71310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ACADEX</a:t>
            </a:r>
            <a:endParaRPr lang="en-US" sz="3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SMART STUDENT MANAGEMENT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914326" y="3073718"/>
            <a:ext cx="8229674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Advanced learning, guidance and support features for the College Management System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914326" y="4162133"/>
            <a:ext cx="3648224" cy="271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Learn. Plan. Connect. Grow.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2311747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04639" y="1061302"/>
            <a:ext cx="8339361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College Management System handles campus admin well, but students only open it when they have to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77180" y="1417290"/>
            <a:ext cx="1051545" cy="347439"/>
          </a:xfrm>
          <a:prstGeom prst="roundRect">
            <a:avLst>
              <a:gd name="adj" fmla="val 20002"/>
            </a:avLst>
          </a:prstGeom>
          <a:solidFill>
            <a:srgbClr val="1C3778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7002" y="1489725"/>
            <a:ext cx="1291977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GAP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01601" y="1843757"/>
            <a:ext cx="6995145" cy="2761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College Management System already covers fees, classes, exams, placements and events.</a:t>
            </a:r>
            <a:endParaRPr lang="en-US" sz="1800" dirty="0"/>
          </a:p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Most students open it for a task or a notice, then leave. There is little reason to come back every day.</a:t>
            </a:r>
            <a:endParaRPr lang="en-US" sz="1800" dirty="0"/>
          </a:p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Doubts, notes and guidance mostly happen on outside apps, not inside the campus system.</a:t>
            </a:r>
            <a:endParaRPr lang="en-US" sz="1800" dirty="0"/>
          </a:p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Low attendance or falling marks are often noticed late, close to exams.</a:t>
            </a:r>
            <a:endParaRPr lang="en-US" sz="1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Faculty and mentors have no single place to see which students need help.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73851" y="5646179"/>
            <a:ext cx="51561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</a:t>
            </a:r>
            <a:endParaRPr lang="en-US" sz="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8084269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What College Management Offers Today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04639" y="1061302"/>
            <a:ext cx="5711205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current college management features that students already use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371600"/>
            <a:ext cx="2286000" cy="26517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371600"/>
            <a:ext cx="73149" cy="2651745"/>
          </a:xfrm>
          <a:prstGeom prst="rect">
            <a:avLst/>
          </a:prstGeom>
          <a:solidFill>
            <a:srgbClr val="2656AA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780" y="1561058"/>
            <a:ext cx="221203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Academics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780" y="1850752"/>
            <a:ext cx="1754832" cy="1721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Course registration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Classes &amp; examinations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Fee payments &amp; receipts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Assignments &amp; cohorts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08945" y="1371600"/>
            <a:ext cx="2286000" cy="26517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08945" y="1371600"/>
            <a:ext cx="73149" cy="26517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28926" y="1561058"/>
            <a:ext cx="221203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Placements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28926" y="1850752"/>
            <a:ext cx="1754832" cy="716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Jobs &amp; campus drives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Resume builder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532090" y="1371600"/>
            <a:ext cx="2286000" cy="26517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32090" y="1371600"/>
            <a:ext cx="73149" cy="2651745"/>
          </a:xfrm>
          <a:prstGeom prst="rect">
            <a:avLst/>
          </a:prstGeom>
          <a:solidFill>
            <a:srgbClr val="1C3778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52071" y="1561058"/>
            <a:ext cx="221203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Network &amp; Campus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52071" y="1850752"/>
            <a:ext cx="1754832" cy="1294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Forums &amp; people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Events &amp; competitions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Notices &amp; posts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73851" y="5646179"/>
            <a:ext cx="51561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4393183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Our Solution: Acadex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04639" y="1061302"/>
            <a:ext cx="5998071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12 new modules that give students a reason to open Acadex every day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508745"/>
            <a:ext cx="3429000" cy="1600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508745"/>
            <a:ext cx="73149" cy="1600200"/>
          </a:xfrm>
          <a:prstGeom prst="rect">
            <a:avLst/>
          </a:prstGeom>
          <a:solidFill>
            <a:srgbClr val="2656AA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780" y="1681460"/>
            <a:ext cx="2868960" cy="304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Learn Smarter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780" y="2093476"/>
            <a:ext cx="2868960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Faculty Doubt Desk and Study Planner.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43400" y="1508745"/>
            <a:ext cx="3429000" cy="1600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1508745"/>
            <a:ext cx="73149" cy="1600200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63380" y="1681460"/>
            <a:ext cx="2868960" cy="304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Stay on Track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663380" y="2093476"/>
            <a:ext cx="2868960" cy="731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Performance Analyzer, Early Warning System and Student Help Center.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5800" y="3291780"/>
            <a:ext cx="3429000" cy="1600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5800" y="3291780"/>
            <a:ext cx="73149" cy="1600200"/>
          </a:xfrm>
          <a:prstGeom prst="rect">
            <a:avLst/>
          </a:prstGeom>
          <a:solidFill>
            <a:srgbClr val="2656AA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05780" y="3464496"/>
            <a:ext cx="2868960" cy="304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Get Guidance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005780" y="3876511"/>
            <a:ext cx="2868960" cy="731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 Counselling, Career Guidance and Senior–Junior Mentorship.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343400" y="3291780"/>
            <a:ext cx="3429000" cy="1600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43400" y="3291780"/>
            <a:ext cx="73149" cy="1600200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663380" y="3464496"/>
            <a:ext cx="2868960" cy="304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Build Together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663380" y="3876511"/>
            <a:ext cx="2868960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 Community and Project &amp; Idea Hub.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473851" y="5646179"/>
            <a:ext cx="51561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4</a:t>
            </a:r>
            <a:endParaRPr lang="en-US" sz="9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2661568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Learn Smarter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04639" y="1061302"/>
            <a:ext cx="4390727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Academic help any time, from AI or from faculty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77180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14636" y="1723132"/>
            <a:ext cx="2048545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Faculty Doubt Desk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14636" y="2012826"/>
            <a:ext cx="1754832" cy="150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Ask a specific teacher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Upvote common doubts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Mark as solved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Search past solutions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67783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366840" y="1742405"/>
            <a:ext cx="208694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Smart Notes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366840" y="2032099"/>
            <a:ext cx="1754832" cy="1721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Upload PDFs &amp; notes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Auto summaries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Important questions &amp; MCQs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Ask from your own notes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6029" y="1371600"/>
            <a:ext cx="73149" cy="31089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098727" y="1371600"/>
            <a:ext cx="73149" cy="3108945"/>
          </a:xfrm>
          <a:prstGeom prst="rect">
            <a:avLst/>
          </a:prstGeom>
          <a:solidFill>
            <a:srgbClr val="1C3778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473851" y="5646179"/>
            <a:ext cx="51561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5</a:t>
            </a:r>
            <a:endParaRPr lang="en-US" sz="9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4145533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Plan and Stay on Track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04639" y="1061302"/>
            <a:ext cx="4807446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Turn attendance, marks and deadlines into daily action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371600"/>
            <a:ext cx="73149" cy="3108945"/>
          </a:xfrm>
          <a:prstGeom prst="rect">
            <a:avLst/>
          </a:prstGeom>
          <a:solidFill>
            <a:srgbClr val="2656AA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780" y="1561058"/>
            <a:ext cx="1966020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Study Planner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780" y="1850752"/>
            <a:ext cx="1754832" cy="143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Add exams &amp; subjects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Auto-generated schedule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Track completed topics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08871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08871" y="1371600"/>
            <a:ext cx="73149" cy="31089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28851" y="1561058"/>
            <a:ext cx="1966094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Performance Analyzer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28851" y="1850752"/>
            <a:ext cx="1754832" cy="150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Attendance + marks + assignments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Finds weak subjects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Shows performance trends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Personal suggestions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532016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32016" y="1371600"/>
            <a:ext cx="73149" cy="3108945"/>
          </a:xfrm>
          <a:prstGeom prst="rect">
            <a:avLst/>
          </a:prstGeom>
          <a:solidFill>
            <a:srgbClr val="1C3778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51996" y="1561058"/>
            <a:ext cx="1966020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Early Warning System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51996" y="1850752"/>
            <a:ext cx="1754832" cy="1294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Low attendance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Falling marks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Missing assignments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Alerts student &amp; mentor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73851" y="5646179"/>
            <a:ext cx="51561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6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4640610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Guidance and Mentorship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04639" y="1061302"/>
            <a:ext cx="3086993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right advice at the right time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371600"/>
            <a:ext cx="73149" cy="3108945"/>
          </a:xfrm>
          <a:prstGeom prst="rect">
            <a:avLst/>
          </a:prstGeom>
          <a:solidFill>
            <a:srgbClr val="2656AA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780" y="1561058"/>
            <a:ext cx="1966020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Student Counselling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780" y="1850752"/>
            <a:ext cx="1754832" cy="1005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Academic, career &amp; personal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Notes &amp; follow-ups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Anonymous option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08871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08871" y="1371600"/>
            <a:ext cx="73149" cy="31089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28851" y="1561058"/>
            <a:ext cx="1966094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Career Guidance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28851" y="1850752"/>
            <a:ext cx="1754832" cy="1721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Enter interests, skills &amp; marks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Suggested career paths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Courses &amp; internships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Placement roadmap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532016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32016" y="1371600"/>
            <a:ext cx="73149" cy="3108945"/>
          </a:xfrm>
          <a:prstGeom prst="rect">
            <a:avLst/>
          </a:prstGeom>
          <a:solidFill>
            <a:srgbClr val="1C3778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51996" y="1561058"/>
            <a:ext cx="1966020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Mentorship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51996" y="1850752"/>
            <a:ext cx="1754832" cy="150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Branch-wise mentors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College &amp; career questions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Anonymous questions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Mentor ratings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73851" y="5646179"/>
            <a:ext cx="51561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7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4435376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Community and Support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04639" y="1061302"/>
            <a:ext cx="3692128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Learn together and get issues solved fast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371600"/>
            <a:ext cx="73149" cy="3108945"/>
          </a:xfrm>
          <a:prstGeom prst="rect">
            <a:avLst/>
          </a:prstGeom>
          <a:solidFill>
            <a:srgbClr val="2656AA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780" y="1561058"/>
            <a:ext cx="1966020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Student Community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780" y="1850752"/>
            <a:ext cx="1754832" cy="150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Course &amp; branch rooms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Share notes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Discuss projects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Upvote useful answers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08871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08871" y="1371600"/>
            <a:ext cx="73149" cy="31089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28851" y="1561058"/>
            <a:ext cx="1966094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Project &amp; Idea Hub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28851" y="1850752"/>
            <a:ext cx="1754832" cy="1294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Submit project ideas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Find teammates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Faculty mentor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Progress tracking &amp; repository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532016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32016" y="1371600"/>
            <a:ext cx="73149" cy="3108945"/>
          </a:xfrm>
          <a:prstGeom prst="rect">
            <a:avLst/>
          </a:prstGeom>
          <a:solidFill>
            <a:srgbClr val="1C3778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51996" y="1561058"/>
            <a:ext cx="1966020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Student Help Center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51996" y="1850752"/>
            <a:ext cx="1754832" cy="143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Fees, hostel, library, IT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Certificates &amp; academics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Auto-routed to the right department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73851" y="5646179"/>
            <a:ext cx="51561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8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4705573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Why Students Will Return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685800" y="1325835"/>
            <a:ext cx="3429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85800" y="1325835"/>
            <a:ext cx="73149" cy="3108945"/>
          </a:xfrm>
          <a:prstGeom prst="rect">
            <a:avLst/>
          </a:prstGeom>
          <a:solidFill>
            <a:srgbClr val="2656AA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780" y="1515294"/>
            <a:ext cx="31090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Reasons to Open Acadex Daily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5780" y="1820317"/>
            <a:ext cx="2881685" cy="1081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Today's study plan &amp; reminders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Doubts answered by faculty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Alerts on attendance &amp; marks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Mentors, community &amp; projects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43400" y="1325835"/>
            <a:ext cx="3429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43400" y="1325835"/>
            <a:ext cx="73149" cy="31089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63380" y="1515294"/>
            <a:ext cx="31090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Expected Impact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663380" y="1820317"/>
            <a:ext cx="2881685" cy="1721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Students → better learning &amp; support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Faculty → fewer repeated doubts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Mentors → early view of at-risk students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Admin → issues reach the right department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663380" y="3623950"/>
            <a:ext cx="2881685" cy="589285"/>
          </a:xfrm>
          <a:prstGeom prst="rect">
            <a:avLst/>
          </a:prstGeom>
          <a:noFill/>
          <a:ln/>
        </p:spPr>
        <p:txBody>
          <a:bodyPr wrap="square" lIns="0" tIns="10160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FROM A PORTAL TO A DAILY COMPANION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473851" y="5646179"/>
            <a:ext cx="51561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9</a:t>
            </a:r>
            <a:endParaRPr lang="en-US" sz="9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3703960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Proposed Tech Stack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04639" y="1061302"/>
            <a:ext cx="5926559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Simple, widely used tools that a student team can build and maintain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371600"/>
            <a:ext cx="2286000" cy="292603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371600"/>
            <a:ext cx="73149" cy="2926035"/>
          </a:xfrm>
          <a:prstGeom prst="rect">
            <a:avLst/>
          </a:prstGeom>
          <a:solidFill>
            <a:srgbClr val="2656AA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780" y="1561058"/>
            <a:ext cx="221203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780" y="1850752"/>
            <a:ext cx="1754832" cy="150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React or Next.js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Tailwind CSS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Mobile-friendly web app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Role-based dashboards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08945" y="1371600"/>
            <a:ext cx="2286000" cy="292603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08945" y="1371600"/>
            <a:ext cx="73149" cy="292603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28926" y="1561058"/>
            <a:ext cx="221203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Backend &amp; Data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28926" y="1850752"/>
            <a:ext cx="1754832" cy="150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Node.js with Express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PostgreSQL database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Redis for alerts &amp; caching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Secure login with JWT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532090" y="1371600"/>
            <a:ext cx="2286000" cy="292603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32090" y="1371600"/>
            <a:ext cx="73149" cy="2926035"/>
          </a:xfrm>
          <a:prstGeom prst="rect">
            <a:avLst/>
          </a:prstGeom>
          <a:solidFill>
            <a:srgbClr val="1C3778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52071" y="1561058"/>
            <a:ext cx="221203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Smart Integrations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52071" y="1850752"/>
            <a:ext cx="1754832" cy="143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OCR for image questions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Vector search for Smart Notes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Email &amp; push notifications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16701" y="5646179"/>
            <a:ext cx="57276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10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4651400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Implementation Roadmap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04639" y="1061302"/>
            <a:ext cx="4744045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Built in phases, starting with what students need most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371600"/>
            <a:ext cx="2286000" cy="292603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371600"/>
            <a:ext cx="73149" cy="2926035"/>
          </a:xfrm>
          <a:prstGeom prst="rect">
            <a:avLst/>
          </a:prstGeom>
          <a:solidFill>
            <a:srgbClr val="2656AA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780" y="1561058"/>
            <a:ext cx="221203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Phase 1: Learning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780" y="1850752"/>
            <a:ext cx="1754832" cy="792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Faculty Doubt Desk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Smart Notes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Planner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08945" y="1371600"/>
            <a:ext cx="2286000" cy="292603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08945" y="1371600"/>
            <a:ext cx="73149" cy="292603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28926" y="1561058"/>
            <a:ext cx="221203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Phase 2: Support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28926" y="1850752"/>
            <a:ext cx="1754832" cy="150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Performance Analyzer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Early Warning System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 Counselling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 Help Center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532090" y="1371600"/>
            <a:ext cx="2286000" cy="292603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32090" y="1371600"/>
            <a:ext cx="73149" cy="2926035"/>
          </a:xfrm>
          <a:prstGeom prst="rect">
            <a:avLst/>
          </a:prstGeom>
          <a:solidFill>
            <a:srgbClr val="1C3778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52071" y="1561058"/>
            <a:ext cx="221203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Phase 3: Community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52071" y="1850752"/>
            <a:ext cx="1754832" cy="1294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Senior–Junior Mentorship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 Community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Project &amp; Idea Hub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Career Guidance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18040" y="5646179"/>
            <a:ext cx="571500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11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Literature Survey: What Existing Systems Do</a:t>
            </a:r>
            <a:endParaRPr lang="en-US" sz="26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Eight IEEE / Springer papers: algorithm used, advantages and disadvantages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25" name="Literature table"/>
          <p:cNvGraphicFramePr>
            <a:graphicFrameLocks noGrp="1"/>
          </p:cNvGraphicFramePr>
          <p:nvPr/>
        </p:nvGraphicFramePr>
        <p:xfrm>
          <a:off x="685800" y="1371600"/>
          <a:ext cx="7772400" cy="3931920"/>
        </p:xfrm>
        <a:graphic>
          <a:graphicData uri="http://schemas.openxmlformats.org/drawingml/2006/table">
            <a:tbl>
              <a:tblPr firstRow="1"/>
              <a:tblGrid>
                <a:gridCol w="292608"/>
                <a:gridCol w="1691640"/>
                <a:gridCol w="1828800"/>
                <a:gridCol w="1920240"/>
                <a:gridCol w="2039112"/>
              </a:tblGrid>
              <a:tr h="27432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#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Paper / Venue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Algorithm used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Advantage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23764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Disadvantage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B41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1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Cano &amp; Leonard [1]</a:t>
                      </a:r>
                      <a:endParaRPr lang="en-US" sz="900" dirty="0"/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IEEE Trans. Learning Tech.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Multiview Genetic Programming rule classifier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Transparent rules; targets underrepresented groups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Flags risk but gives no study action; many views needed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2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Al-Shabandar et al. [2]</a:t>
                      </a:r>
                      <a:endParaRPr lang="en-US" sz="900" dirty="0"/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IEEE Access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RF and Gradient Boosting on MOOC data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Early detection of at-risk learners (GBM up to 0.95)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Black-box output; MOOC-specific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3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Zhao et al. [3]</a:t>
                      </a:r>
                      <a:endParaRPr lang="en-US" sz="900" dirty="0"/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IEEE Access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AugmentED: LSTM features + ML classifiers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Holistic campus-life view; feedback to students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Small sample (156 students); privacy-heavy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4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Cui et al. [4]</a:t>
                      </a:r>
                      <a:endParaRPr lang="en-US" sz="900" dirty="0"/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IEEE TNNLS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Tri-branch CNN with top-k focused loss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Accurate ranking of at-risk students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Black-box deep model; predicts but does not recommend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5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Yanes et al. [5]</a:t>
                      </a:r>
                      <a:endParaRPr lang="en-US" sz="900" dirty="0"/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IEEE Access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ML recommender (multi-label classification)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Suggests improvement actions for courses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Aimed at faculty, not students; no outcome tracking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6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Ma et al. [6]</a:t>
                      </a:r>
                      <a:endParaRPr lang="en-US" sz="900" dirty="0"/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IEEE Trans. Comput. Social Syst.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Knowledge tracing + Transformer, 4-level warning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Early warning tied to course objectives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Deep state models are hard to explain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7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Kord et al. [7]</a:t>
                      </a:r>
                      <a:endParaRPr lang="en-US" sz="900" dirty="0"/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Springer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14 ML/DL models compared; SVC best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Predicts grades and recommends courses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Only ~78% accuracy; one faculty dataset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Alalawi et al. [8]</a:t>
                      </a:r>
                      <a:endParaRPr lang="en-US" sz="900" dirty="0"/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Springer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SPPA: course-specific ML + study plans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Tested in a real course; personalised revision plans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Needs course-specific historical data; single cohort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Literature Survey: Where the Gap Remains</a:t>
            </a:r>
            <a:endParaRPr lang="en-US" sz="26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studies are promising, but six recurring limits leave room for a student-support system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13</a:t>
            </a:r>
            <a:endParaRPr lang="en-US" sz="900" dirty="0"/>
          </a:p>
        </p:txBody>
      </p:sp>
      <p:sp>
        <p:nvSpPr>
          <p:cNvPr id="25" name="Gap card 1"/>
          <p:cNvSpPr/>
          <p:nvPr/>
        </p:nvSpPr>
        <p:spPr>
          <a:xfrm>
            <a:off x="685800" y="1371600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26" name="Gap number 1"/>
          <p:cNvSpPr/>
          <p:nvPr/>
        </p:nvSpPr>
        <p:spPr>
          <a:xfrm>
            <a:off x="850392" y="1536192"/>
            <a:ext cx="384048" cy="384048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Gap title 1"/>
          <p:cNvSpPr/>
          <p:nvPr/>
        </p:nvSpPr>
        <p:spPr>
          <a:xfrm>
            <a:off x="850392" y="2029968"/>
            <a:ext cx="213969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Limited interpretability</a:t>
            </a:r>
            <a:endParaRPr lang="en-US" sz="1400" dirty="0"/>
          </a:p>
        </p:txBody>
      </p:sp>
      <p:sp>
        <p:nvSpPr>
          <p:cNvPr id="28" name="Gap text 1"/>
          <p:cNvSpPr/>
          <p:nvPr/>
        </p:nvSpPr>
        <p:spPr>
          <a:xfrm>
            <a:off x="850392" y="2423160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Accurate predictions are hard for students and faculty to trust.</a:t>
            </a:r>
            <a:endParaRPr lang="en-US" sz="1100" dirty="0"/>
          </a:p>
        </p:txBody>
      </p:sp>
      <p:sp>
        <p:nvSpPr>
          <p:cNvPr id="29" name="Gap refs 1"/>
          <p:cNvSpPr/>
          <p:nvPr/>
        </p:nvSpPr>
        <p:spPr>
          <a:xfrm>
            <a:off x="850392" y="2999232"/>
            <a:ext cx="213969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Seen in </a:t>
            </a: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[2] [4] [6]</a:t>
            </a:r>
            <a:endParaRPr lang="en-US" sz="1000" dirty="0"/>
          </a:p>
        </p:txBody>
      </p:sp>
      <p:sp>
        <p:nvSpPr>
          <p:cNvPr id="30" name="Gap card 2"/>
          <p:cNvSpPr/>
          <p:nvPr/>
        </p:nvSpPr>
        <p:spPr>
          <a:xfrm>
            <a:off x="3337560" y="1371600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1" name="Gap number 2"/>
          <p:cNvSpPr/>
          <p:nvPr/>
        </p:nvSpPr>
        <p:spPr>
          <a:xfrm>
            <a:off x="3502152" y="1536192"/>
            <a:ext cx="384048" cy="384048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Gap title 2"/>
          <p:cNvSpPr/>
          <p:nvPr/>
        </p:nvSpPr>
        <p:spPr>
          <a:xfrm>
            <a:off x="3502152" y="2029968"/>
            <a:ext cx="213969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Narrow signals</a:t>
            </a:r>
            <a:endParaRPr lang="en-US" sz="1400" dirty="0"/>
          </a:p>
        </p:txBody>
      </p:sp>
      <p:sp>
        <p:nvSpPr>
          <p:cNvPr id="33" name="Gap text 2"/>
          <p:cNvSpPr/>
          <p:nvPr/>
        </p:nvSpPr>
        <p:spPr>
          <a:xfrm>
            <a:off x="3502152" y="2423160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Many systems rely on one source, one course or a small feature family.</a:t>
            </a:r>
            <a:endParaRPr lang="en-US" sz="1100" dirty="0"/>
          </a:p>
        </p:txBody>
      </p:sp>
      <p:sp>
        <p:nvSpPr>
          <p:cNvPr id="34" name="Gap refs 2"/>
          <p:cNvSpPr/>
          <p:nvPr/>
        </p:nvSpPr>
        <p:spPr>
          <a:xfrm>
            <a:off x="3502152" y="2999232"/>
            <a:ext cx="213969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Seen in </a:t>
            </a: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[2] [7] [8]</a:t>
            </a:r>
            <a:endParaRPr lang="en-US" sz="1000" dirty="0"/>
          </a:p>
        </p:txBody>
      </p:sp>
      <p:sp>
        <p:nvSpPr>
          <p:cNvPr id="35" name="Gap card 3"/>
          <p:cNvSpPr/>
          <p:nvPr/>
        </p:nvSpPr>
        <p:spPr>
          <a:xfrm>
            <a:off x="5989320" y="1371600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6" name="Gap number 3"/>
          <p:cNvSpPr/>
          <p:nvPr/>
        </p:nvSpPr>
        <p:spPr>
          <a:xfrm>
            <a:off x="6153912" y="1536192"/>
            <a:ext cx="384048" cy="384048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Gap title 3"/>
          <p:cNvSpPr/>
          <p:nvPr/>
        </p:nvSpPr>
        <p:spPr>
          <a:xfrm>
            <a:off x="6153912" y="2029968"/>
            <a:ext cx="213969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Imbalance and cold start</a:t>
            </a:r>
            <a:endParaRPr lang="en-US" sz="1400" dirty="0"/>
          </a:p>
        </p:txBody>
      </p:sp>
      <p:sp>
        <p:nvSpPr>
          <p:cNvPr id="38" name="Gap text 3"/>
          <p:cNvSpPr/>
          <p:nvPr/>
        </p:nvSpPr>
        <p:spPr>
          <a:xfrm>
            <a:off x="6153912" y="2423160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Rare at-risk cases and brand-new learners are difficult to model fairly.</a:t>
            </a:r>
            <a:endParaRPr lang="en-US" sz="1100" dirty="0"/>
          </a:p>
        </p:txBody>
      </p:sp>
      <p:sp>
        <p:nvSpPr>
          <p:cNvPr id="39" name="Gap refs 3"/>
          <p:cNvSpPr/>
          <p:nvPr/>
        </p:nvSpPr>
        <p:spPr>
          <a:xfrm>
            <a:off x="6153912" y="2999232"/>
            <a:ext cx="213969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Seen in </a:t>
            </a: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[3] [5]</a:t>
            </a:r>
            <a:endParaRPr lang="en-US" sz="1000" dirty="0"/>
          </a:p>
        </p:txBody>
      </p:sp>
      <p:sp>
        <p:nvSpPr>
          <p:cNvPr id="40" name="Gap card 4"/>
          <p:cNvSpPr/>
          <p:nvPr/>
        </p:nvSpPr>
        <p:spPr>
          <a:xfrm>
            <a:off x="685800" y="3401568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1" name="Gap number 4"/>
          <p:cNvSpPr/>
          <p:nvPr/>
        </p:nvSpPr>
        <p:spPr>
          <a:xfrm>
            <a:off x="850392" y="3566160"/>
            <a:ext cx="384048" cy="384048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Gap title 4"/>
          <p:cNvSpPr/>
          <p:nvPr/>
        </p:nvSpPr>
        <p:spPr>
          <a:xfrm>
            <a:off x="850392" y="4059936"/>
            <a:ext cx="213969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Prediction without action</a:t>
            </a:r>
            <a:endParaRPr lang="en-US" sz="1400" dirty="0"/>
          </a:p>
        </p:txBody>
      </p:sp>
      <p:sp>
        <p:nvSpPr>
          <p:cNvPr id="43" name="Gap text 4"/>
          <p:cNvSpPr/>
          <p:nvPr/>
        </p:nvSpPr>
        <p:spPr>
          <a:xfrm>
            <a:off x="850392" y="4453128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risk flag is not yet a study plan, an outreach step or a support loop.</a:t>
            </a:r>
            <a:endParaRPr lang="en-US" sz="1100" dirty="0"/>
          </a:p>
        </p:txBody>
      </p:sp>
      <p:sp>
        <p:nvSpPr>
          <p:cNvPr id="44" name="Gap refs 4"/>
          <p:cNvSpPr/>
          <p:nvPr/>
        </p:nvSpPr>
        <p:spPr>
          <a:xfrm>
            <a:off x="850392" y="5029200"/>
            <a:ext cx="213969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Seen in </a:t>
            </a: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[1] [4]</a:t>
            </a:r>
            <a:endParaRPr lang="en-US" sz="1000" dirty="0"/>
          </a:p>
        </p:txBody>
      </p:sp>
      <p:sp>
        <p:nvSpPr>
          <p:cNvPr id="45" name="Gap card 5"/>
          <p:cNvSpPr/>
          <p:nvPr/>
        </p:nvSpPr>
        <p:spPr>
          <a:xfrm>
            <a:off x="3337560" y="3401568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6" name="Gap number 5"/>
          <p:cNvSpPr/>
          <p:nvPr/>
        </p:nvSpPr>
        <p:spPr>
          <a:xfrm>
            <a:off x="3502152" y="3566160"/>
            <a:ext cx="384048" cy="384048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5</a:t>
            </a:r>
            <a:endParaRPr lang="en-US" sz="1400" dirty="0"/>
          </a:p>
        </p:txBody>
      </p:sp>
      <p:sp>
        <p:nvSpPr>
          <p:cNvPr id="47" name="Gap title 5"/>
          <p:cNvSpPr/>
          <p:nvPr/>
        </p:nvSpPr>
        <p:spPr>
          <a:xfrm>
            <a:off x="3502152" y="4059936"/>
            <a:ext cx="213969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Weak generalisation</a:t>
            </a:r>
            <a:endParaRPr lang="en-US" sz="1400" dirty="0"/>
          </a:p>
        </p:txBody>
      </p:sp>
      <p:sp>
        <p:nvSpPr>
          <p:cNvPr id="48" name="Gap text 5"/>
          <p:cNvSpPr/>
          <p:nvPr/>
        </p:nvSpPr>
        <p:spPr>
          <a:xfrm>
            <a:off x="3502152" y="4453128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Models may not transfer across cohorts, courses or campuses.</a:t>
            </a:r>
            <a:endParaRPr lang="en-US" sz="1100" dirty="0"/>
          </a:p>
        </p:txBody>
      </p:sp>
      <p:sp>
        <p:nvSpPr>
          <p:cNvPr id="49" name="Gap refs 5"/>
          <p:cNvSpPr/>
          <p:nvPr/>
        </p:nvSpPr>
        <p:spPr>
          <a:xfrm>
            <a:off x="3502152" y="5029200"/>
            <a:ext cx="213969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Seen in </a:t>
            </a: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[3] [7] [8]</a:t>
            </a:r>
            <a:endParaRPr lang="en-US" sz="1000" dirty="0"/>
          </a:p>
        </p:txBody>
      </p:sp>
      <p:sp>
        <p:nvSpPr>
          <p:cNvPr id="50" name="Gap card 6"/>
          <p:cNvSpPr/>
          <p:nvPr/>
        </p:nvSpPr>
        <p:spPr>
          <a:xfrm>
            <a:off x="5989320" y="3401568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51" name="Gap number 6"/>
          <p:cNvSpPr/>
          <p:nvPr/>
        </p:nvSpPr>
        <p:spPr>
          <a:xfrm>
            <a:off x="6153912" y="3566160"/>
            <a:ext cx="384048" cy="384048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6</a:t>
            </a:r>
            <a:endParaRPr lang="en-US" sz="1400" dirty="0"/>
          </a:p>
        </p:txBody>
      </p:sp>
      <p:sp>
        <p:nvSpPr>
          <p:cNvPr id="52" name="Gap title 6"/>
          <p:cNvSpPr/>
          <p:nvPr/>
        </p:nvSpPr>
        <p:spPr>
          <a:xfrm>
            <a:off x="6153912" y="4059936"/>
            <a:ext cx="213969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Unmeasured impact</a:t>
            </a:r>
            <a:endParaRPr lang="en-US" sz="1400" dirty="0"/>
          </a:p>
        </p:txBody>
      </p:sp>
      <p:sp>
        <p:nvSpPr>
          <p:cNvPr id="53" name="Gap text 6"/>
          <p:cNvSpPr/>
          <p:nvPr/>
        </p:nvSpPr>
        <p:spPr>
          <a:xfrm>
            <a:off x="6153912" y="4453128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Uptake and outcome change are measured far less often than prediction.</a:t>
            </a:r>
            <a:endParaRPr lang="en-US" sz="1100" dirty="0"/>
          </a:p>
        </p:txBody>
      </p:sp>
      <p:sp>
        <p:nvSpPr>
          <p:cNvPr id="54" name="Gap refs 6"/>
          <p:cNvSpPr/>
          <p:nvPr/>
        </p:nvSpPr>
        <p:spPr>
          <a:xfrm>
            <a:off x="6153912" y="5029200"/>
            <a:ext cx="213969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Seen in </a:t>
            </a: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[5]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Acadex Objective: From Prediction to Support</a:t>
            </a:r>
            <a:endParaRPr lang="en-US" sz="26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Every limitation found in the literature gets a specific answer in Acadex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14</a:t>
            </a:r>
            <a:endParaRPr lang="en-US" sz="900" dirty="0"/>
          </a:p>
        </p:txBody>
      </p:sp>
      <p:sp>
        <p:nvSpPr>
          <p:cNvPr id="25" name="Col head gap"/>
          <p:cNvSpPr/>
          <p:nvPr/>
        </p:nvSpPr>
        <p:spPr>
          <a:xfrm>
            <a:off x="685800" y="1325880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LITERATURE GAP</a:t>
            </a:r>
            <a:endParaRPr lang="en-US" sz="1000" dirty="0"/>
          </a:p>
        </p:txBody>
      </p:sp>
      <p:sp>
        <p:nvSpPr>
          <p:cNvPr id="26" name="Col head sol"/>
          <p:cNvSpPr/>
          <p:nvPr/>
        </p:nvSpPr>
        <p:spPr>
          <a:xfrm>
            <a:off x="3611880" y="1325880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ACADEX ANSWER</a:t>
            </a:r>
            <a:endParaRPr lang="en-US" sz="1000" dirty="0"/>
          </a:p>
        </p:txBody>
      </p:sp>
      <p:sp>
        <p:nvSpPr>
          <p:cNvPr id="27" name="Gap 1"/>
          <p:cNvSpPr/>
          <p:nvPr/>
        </p:nvSpPr>
        <p:spPr>
          <a:xfrm>
            <a:off x="685800" y="1572768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BEDEF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Limited interpretability</a:t>
            </a:r>
            <a:endParaRPr lang="en-US" sz="1200" dirty="0"/>
          </a:p>
        </p:txBody>
      </p:sp>
      <p:cxnSp>
        <p:nvCxnSpPr>
          <p:cNvPr id="28" name="Arrow 1"/>
          <p:cNvCxnSpPr/>
          <p:nvPr/>
        </p:nvCxnSpPr>
        <p:spPr>
          <a:xfrm>
            <a:off x="3227832" y="1801368"/>
            <a:ext cx="329184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29" name="Answer 1"/>
          <p:cNvSpPr/>
          <p:nvPr/>
        </p:nvSpPr>
        <p:spPr>
          <a:xfrm>
            <a:off x="3611880" y="1572768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109728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Explainable risk scores: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XGBoost with SHAP shows the drivers behind every flag.</a:t>
            </a:r>
            <a:endParaRPr lang="en-US" sz="1100" dirty="0"/>
          </a:p>
        </p:txBody>
      </p:sp>
      <p:sp>
        <p:nvSpPr>
          <p:cNvPr id="30" name="Gap 2"/>
          <p:cNvSpPr/>
          <p:nvPr/>
        </p:nvSpPr>
        <p:spPr>
          <a:xfrm>
            <a:off x="685800" y="2112264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BEDEF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Narrow signals</a:t>
            </a:r>
            <a:endParaRPr lang="en-US" sz="1200" dirty="0"/>
          </a:p>
        </p:txBody>
      </p:sp>
      <p:cxnSp>
        <p:nvCxnSpPr>
          <p:cNvPr id="31" name="Arrow 2"/>
          <p:cNvCxnSpPr/>
          <p:nvPr/>
        </p:nvCxnSpPr>
        <p:spPr>
          <a:xfrm>
            <a:off x="3227832" y="2340864"/>
            <a:ext cx="329184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32" name="Answer 2"/>
          <p:cNvSpPr/>
          <p:nvPr/>
        </p:nvSpPr>
        <p:spPr>
          <a:xfrm>
            <a:off x="3611880" y="2112264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109728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Multimodal student signals: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Engagement, assessment, attendance-style and planning data combined.</a:t>
            </a:r>
            <a:endParaRPr lang="en-US" sz="1100" dirty="0"/>
          </a:p>
        </p:txBody>
      </p:sp>
      <p:sp>
        <p:nvSpPr>
          <p:cNvPr id="33" name="Gap 3"/>
          <p:cNvSpPr/>
          <p:nvPr/>
        </p:nvSpPr>
        <p:spPr>
          <a:xfrm>
            <a:off x="685800" y="265176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BEDEF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Imbalance and cold start</a:t>
            </a:r>
            <a:endParaRPr lang="en-US" sz="1200" dirty="0"/>
          </a:p>
        </p:txBody>
      </p:sp>
      <p:cxnSp>
        <p:nvCxnSpPr>
          <p:cNvPr id="34" name="Arrow 3"/>
          <p:cNvCxnSpPr/>
          <p:nvPr/>
        </p:nvCxnSpPr>
        <p:spPr>
          <a:xfrm>
            <a:off x="3227832" y="2880360"/>
            <a:ext cx="329184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35" name="Answer 3"/>
          <p:cNvSpPr/>
          <p:nvPr/>
        </p:nvSpPr>
        <p:spPr>
          <a:xfrm>
            <a:off x="3611880" y="2651760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109728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Imbalance-aware modelling: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Class weights, threshold tuning, PR-AUC; early-term features for new learners.</a:t>
            </a:r>
            <a:endParaRPr lang="en-US" sz="1100" dirty="0"/>
          </a:p>
        </p:txBody>
      </p:sp>
      <p:sp>
        <p:nvSpPr>
          <p:cNvPr id="36" name="Gap 4"/>
          <p:cNvSpPr/>
          <p:nvPr/>
        </p:nvSpPr>
        <p:spPr>
          <a:xfrm>
            <a:off x="685800" y="3191256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BEDEF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Prediction without action</a:t>
            </a:r>
            <a:endParaRPr lang="en-US" sz="1200" dirty="0"/>
          </a:p>
        </p:txBody>
      </p:sp>
      <p:cxnSp>
        <p:nvCxnSpPr>
          <p:cNvPr id="37" name="Arrow 4"/>
          <p:cNvCxnSpPr/>
          <p:nvPr/>
        </p:nvCxnSpPr>
        <p:spPr>
          <a:xfrm>
            <a:off x="3227832" y="3419856"/>
            <a:ext cx="329184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38" name="Answer 4"/>
          <p:cNvSpPr/>
          <p:nvPr/>
        </p:nvSpPr>
        <p:spPr>
          <a:xfrm>
            <a:off x="3611880" y="3191256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109728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Personalised study actions: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Recommends a next step, not only a probability.</a:t>
            </a:r>
            <a:endParaRPr lang="en-US" sz="1100" dirty="0"/>
          </a:p>
        </p:txBody>
      </p:sp>
      <p:sp>
        <p:nvSpPr>
          <p:cNvPr id="39" name="Gap 5"/>
          <p:cNvSpPr/>
          <p:nvPr/>
        </p:nvSpPr>
        <p:spPr>
          <a:xfrm>
            <a:off x="685800" y="3730752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BEDEF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Weak generalisation</a:t>
            </a:r>
            <a:endParaRPr lang="en-US" sz="1200" dirty="0"/>
          </a:p>
        </p:txBody>
      </p:sp>
      <p:cxnSp>
        <p:nvCxnSpPr>
          <p:cNvPr id="40" name="Arrow 5"/>
          <p:cNvCxnSpPr/>
          <p:nvPr/>
        </p:nvCxnSpPr>
        <p:spPr>
          <a:xfrm>
            <a:off x="3227832" y="3959352"/>
            <a:ext cx="329184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41" name="Answer 5"/>
          <p:cNvSpPr/>
          <p:nvPr/>
        </p:nvSpPr>
        <p:spPr>
          <a:xfrm>
            <a:off x="3611880" y="3730752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109728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Common feature contract: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OULAD-trained, with cohort-wise validation and a mapped Acadex schema.</a:t>
            </a:r>
            <a:endParaRPr lang="en-US" sz="1100" dirty="0"/>
          </a:p>
        </p:txBody>
      </p:sp>
      <p:sp>
        <p:nvSpPr>
          <p:cNvPr id="42" name="Gap 6"/>
          <p:cNvSpPr/>
          <p:nvPr/>
        </p:nvSpPr>
        <p:spPr>
          <a:xfrm>
            <a:off x="685800" y="4270248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BEDEF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Unmeasured impact</a:t>
            </a:r>
            <a:endParaRPr lang="en-US" sz="1200" dirty="0"/>
          </a:p>
        </p:txBody>
      </p:sp>
      <p:cxnSp>
        <p:nvCxnSpPr>
          <p:cNvPr id="43" name="Arrow 6"/>
          <p:cNvCxnSpPr/>
          <p:nvPr/>
        </p:nvCxnSpPr>
        <p:spPr>
          <a:xfrm>
            <a:off x="3227832" y="4498848"/>
            <a:ext cx="329184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44" name="Answer 6"/>
          <p:cNvSpPr/>
          <p:nvPr/>
        </p:nvSpPr>
        <p:spPr>
          <a:xfrm>
            <a:off x="3611880" y="4270248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109728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Intervention tracking: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Uptake and outcome logged; faculty escalation with minimum-data privacy.</a:t>
            </a:r>
            <a:endParaRPr lang="en-US" sz="1100" dirty="0"/>
          </a:p>
        </p:txBody>
      </p:sp>
      <p:sp>
        <p:nvSpPr>
          <p:cNvPr id="45" name="Tagline"/>
          <p:cNvSpPr/>
          <p:nvPr/>
        </p:nvSpPr>
        <p:spPr>
          <a:xfrm>
            <a:off x="685800" y="4828032"/>
            <a:ext cx="7772400" cy="420624"/>
          </a:xfrm>
          <a:prstGeom prst="roundRect">
            <a:avLst>
              <a:gd name="adj" fmla="val 20000"/>
            </a:avLst>
          </a:prstGeom>
          <a:solidFill>
            <a:srgbClr val="1C3778"/>
          </a:solidFill>
          <a:ln>
            <a:noFill/>
          </a:ln>
        </p:spPr>
        <p:txBody>
          <a:bodyPr wrap="square" lIns="109728" tIns="91440" rIns="109728" bIns="9144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SEE RISK.   EXPLAIN IT.   ACT EARLY.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Proposed System Block Diagram</a:t>
            </a:r>
            <a:endParaRPr lang="en-US" sz="26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An explainable left-to-right pipeline with a feedback loop into student support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15</a:t>
            </a:r>
            <a:endParaRPr lang="en-US" sz="900" dirty="0"/>
          </a:p>
        </p:txBody>
      </p:sp>
      <p:sp>
        <p:nvSpPr>
          <p:cNvPr id="25" name="Block 1"/>
          <p:cNvSpPr/>
          <p:nvPr/>
        </p:nvSpPr>
        <p:spPr>
          <a:xfrm>
            <a:off x="685800" y="1353312"/>
            <a:ext cx="1737360" cy="1609344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457200" rIns="91440" bIns="54864" rtlCol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Inputs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OULAD tables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+ Acadex activity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IDs, scores, clicks,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deadlines, support use</a:t>
            </a:r>
            <a:endParaRPr lang="en-US" sz="1000" dirty="0"/>
          </a:p>
        </p:txBody>
      </p:sp>
      <p:sp>
        <p:nvSpPr>
          <p:cNvPr id="26" name="Block 1 number"/>
          <p:cNvSpPr/>
          <p:nvPr/>
        </p:nvSpPr>
        <p:spPr>
          <a:xfrm>
            <a:off x="795528" y="1444752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Block 2"/>
          <p:cNvSpPr/>
          <p:nvPr/>
        </p:nvSpPr>
        <p:spPr>
          <a:xfrm>
            <a:off x="2697480" y="1353312"/>
            <a:ext cx="1737360" cy="1609344"/>
          </a:xfrm>
          <a:prstGeom prst="roundRect">
            <a:avLst>
              <a:gd name="adj" fmla="val 7000"/>
            </a:avLst>
          </a:prstGeom>
          <a:solidFill>
            <a:srgbClr val="1C3778"/>
          </a:solidFill>
          <a:ln>
            <a:noFill/>
          </a:ln>
        </p:spPr>
        <p:txBody>
          <a:bodyPr wrap="square" lIns="128016" tIns="457200" rIns="91440" bIns="54864" rtlCol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Preprocessing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Schema audit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De-duplication · nulls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Encode · scale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Leakage check · split</a:t>
            </a:r>
            <a:endParaRPr lang="en-US" sz="1000" dirty="0"/>
          </a:p>
        </p:txBody>
      </p:sp>
      <p:sp>
        <p:nvSpPr>
          <p:cNvPr id="28" name="Block 2 number"/>
          <p:cNvSpPr/>
          <p:nvPr/>
        </p:nvSpPr>
        <p:spPr>
          <a:xfrm>
            <a:off x="2807208" y="1444752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Block 1 tag"/>
          <p:cNvSpPr/>
          <p:nvPr/>
        </p:nvSpPr>
        <p:spPr>
          <a:xfrm>
            <a:off x="2807208" y="2688336"/>
            <a:ext cx="1517904" cy="201168"/>
          </a:xfrm>
          <a:prstGeom prst="roundRect">
            <a:avLst>
              <a:gd name="adj" fmla="val 50000"/>
            </a:avLst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BLOCK 1 · SLIDES 18–20</a:t>
            </a:r>
            <a:endParaRPr lang="en-US" sz="800" dirty="0"/>
          </a:p>
        </p:txBody>
      </p:sp>
      <p:sp>
        <p:nvSpPr>
          <p:cNvPr id="30" name="Block 3"/>
          <p:cNvSpPr/>
          <p:nvPr/>
        </p:nvSpPr>
        <p:spPr>
          <a:xfrm>
            <a:off x="4709160" y="1353312"/>
            <a:ext cx="1737360" cy="1609344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457200" rIns="91440" bIns="54864" rtlCol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Feature Engineering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Aggregate to a cutoff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Assessment trend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On-time ratio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Recent activity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Feature selection</a:t>
            </a:r>
            <a:endParaRPr lang="en-US" sz="1000" dirty="0"/>
          </a:p>
        </p:txBody>
      </p:sp>
      <p:sp>
        <p:nvSpPr>
          <p:cNvPr id="31" name="Block 3 number"/>
          <p:cNvSpPr/>
          <p:nvPr/>
        </p:nvSpPr>
        <p:spPr>
          <a:xfrm>
            <a:off x="4818888" y="1444752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Block 4"/>
          <p:cNvSpPr/>
          <p:nvPr/>
        </p:nvSpPr>
        <p:spPr>
          <a:xfrm>
            <a:off x="6720840" y="1353312"/>
            <a:ext cx="1737360" cy="1609344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457200" rIns="91440" bIns="54864" rtlCol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XGBoost Classifier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Gradient-boosted trees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Class weights for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imbalance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Tuned on validation set</a:t>
            </a:r>
            <a:endParaRPr lang="en-US" sz="1000" dirty="0"/>
          </a:p>
        </p:txBody>
      </p:sp>
      <p:sp>
        <p:nvSpPr>
          <p:cNvPr id="33" name="Block 4 number"/>
          <p:cNvSpPr/>
          <p:nvPr/>
        </p:nvSpPr>
        <p:spPr>
          <a:xfrm>
            <a:off x="6830568" y="1444752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Block 5"/>
          <p:cNvSpPr/>
          <p:nvPr/>
        </p:nvSpPr>
        <p:spPr>
          <a:xfrm>
            <a:off x="685800" y="3291840"/>
            <a:ext cx="1737360" cy="1609344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457200" rIns="91440" bIns="54864" rtlCol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SHAP Explainer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Per-student driver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contributions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Global feature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importance</a:t>
            </a:r>
            <a:endParaRPr lang="en-US" sz="1000" dirty="0"/>
          </a:p>
        </p:txBody>
      </p:sp>
      <p:sp>
        <p:nvSpPr>
          <p:cNvPr id="35" name="Block 5 number"/>
          <p:cNvSpPr/>
          <p:nvPr/>
        </p:nvSpPr>
        <p:spPr>
          <a:xfrm>
            <a:off x="795528" y="338328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Block 6"/>
          <p:cNvSpPr/>
          <p:nvPr/>
        </p:nvSpPr>
        <p:spPr>
          <a:xfrm>
            <a:off x="2697480" y="3291840"/>
            <a:ext cx="1737360" cy="1609344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457200" rIns="91440" bIns="54864" rtlCol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Risk Level + Action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Low / medium / high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Mapped to a next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action</a:t>
            </a:r>
            <a:endParaRPr lang="en-US" sz="1000" dirty="0"/>
          </a:p>
        </p:txBody>
      </p:sp>
      <p:sp>
        <p:nvSpPr>
          <p:cNvPr id="37" name="Block 6 number"/>
          <p:cNvSpPr/>
          <p:nvPr/>
        </p:nvSpPr>
        <p:spPr>
          <a:xfrm>
            <a:off x="2807208" y="338328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Block 7"/>
          <p:cNvSpPr/>
          <p:nvPr/>
        </p:nvSpPr>
        <p:spPr>
          <a:xfrm>
            <a:off x="4709160" y="3291840"/>
            <a:ext cx="1737360" cy="1609344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457200" rIns="91440" bIns="54864" rtlCol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Dashboard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 view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Faculty &amp; mentor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alerts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Escalation</a:t>
            </a:r>
            <a:endParaRPr lang="en-US" sz="1000" dirty="0"/>
          </a:p>
        </p:txBody>
      </p:sp>
      <p:sp>
        <p:nvSpPr>
          <p:cNvPr id="39" name="Block 7 number"/>
          <p:cNvSpPr/>
          <p:nvPr/>
        </p:nvSpPr>
        <p:spPr>
          <a:xfrm>
            <a:off x="4818888" y="338328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7</a:t>
            </a:r>
            <a:endParaRPr lang="en-US" sz="1100" dirty="0"/>
          </a:p>
        </p:txBody>
      </p:sp>
      <p:sp>
        <p:nvSpPr>
          <p:cNvPr id="40" name="Block 8"/>
          <p:cNvSpPr/>
          <p:nvPr/>
        </p:nvSpPr>
        <p:spPr>
          <a:xfrm>
            <a:off x="6720840" y="3291840"/>
            <a:ext cx="1737360" cy="1609344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457200" rIns="91440" bIns="54864" rtlCol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Evaluation + Feedback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Recall · PR-AUC · F1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Uptake and outcome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feed back to retrain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model</a:t>
            </a:r>
            <a:endParaRPr lang="en-US" sz="1000" dirty="0"/>
          </a:p>
        </p:txBody>
      </p:sp>
      <p:sp>
        <p:nvSpPr>
          <p:cNvPr id="41" name="Block 8 number"/>
          <p:cNvSpPr/>
          <p:nvPr/>
        </p:nvSpPr>
        <p:spPr>
          <a:xfrm>
            <a:off x="6830568" y="338328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8</a:t>
            </a:r>
            <a:endParaRPr lang="en-US" sz="1100" dirty="0"/>
          </a:p>
        </p:txBody>
      </p:sp>
      <p:cxnSp>
        <p:nvCxnSpPr>
          <p:cNvPr id="42" name="Arrow r1-0"/>
          <p:cNvCxnSpPr/>
          <p:nvPr/>
        </p:nvCxnSpPr>
        <p:spPr>
          <a:xfrm>
            <a:off x="2450592" y="2157984"/>
            <a:ext cx="219456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cxnSp>
        <p:nvCxnSpPr>
          <p:cNvPr id="43" name="Arrow r2-0"/>
          <p:cNvCxnSpPr/>
          <p:nvPr/>
        </p:nvCxnSpPr>
        <p:spPr>
          <a:xfrm>
            <a:off x="2450592" y="4096512"/>
            <a:ext cx="219456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cxnSp>
        <p:nvCxnSpPr>
          <p:cNvPr id="44" name="Arrow r1-1"/>
          <p:cNvCxnSpPr/>
          <p:nvPr/>
        </p:nvCxnSpPr>
        <p:spPr>
          <a:xfrm>
            <a:off x="4462272" y="2157984"/>
            <a:ext cx="219456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cxnSp>
        <p:nvCxnSpPr>
          <p:cNvPr id="45" name="Arrow r2-1"/>
          <p:cNvCxnSpPr/>
          <p:nvPr/>
        </p:nvCxnSpPr>
        <p:spPr>
          <a:xfrm>
            <a:off x="4462272" y="4096512"/>
            <a:ext cx="219456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cxnSp>
        <p:nvCxnSpPr>
          <p:cNvPr id="46" name="Arrow r1-2"/>
          <p:cNvCxnSpPr/>
          <p:nvPr/>
        </p:nvCxnSpPr>
        <p:spPr>
          <a:xfrm>
            <a:off x="6473952" y="2157984"/>
            <a:ext cx="219456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cxnSp>
        <p:nvCxnSpPr>
          <p:cNvPr id="47" name="Arrow r2-2"/>
          <p:cNvCxnSpPr/>
          <p:nvPr/>
        </p:nvCxnSpPr>
        <p:spPr>
          <a:xfrm>
            <a:off x="6473952" y="4096512"/>
            <a:ext cx="219456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cxnSp>
        <p:nvCxnSpPr>
          <p:cNvPr id="48" name="Link down"/>
          <p:cNvCxnSpPr/>
          <p:nvPr/>
        </p:nvCxnSpPr>
        <p:spPr>
          <a:xfrm>
            <a:off x="7589520" y="2962656"/>
            <a:ext cx="0" cy="164592"/>
          </a:xfrm>
          <a:prstGeom prst="line">
            <a:avLst/>
          </a:prstGeom>
          <a:ln w="19050">
            <a:solidFill>
              <a:srgbClr val="1C3778"/>
            </a:solidFill>
          </a:ln>
        </p:spPr>
      </p:cxnSp>
      <p:cxnSp>
        <p:nvCxnSpPr>
          <p:cNvPr id="49" name="Link across"/>
          <p:cNvCxnSpPr/>
          <p:nvPr/>
        </p:nvCxnSpPr>
        <p:spPr>
          <a:xfrm flipH="1">
            <a:off x="1554480" y="3127248"/>
            <a:ext cx="6035040" cy="0"/>
          </a:xfrm>
          <a:prstGeom prst="line">
            <a:avLst/>
          </a:prstGeom>
          <a:ln w="19050">
            <a:solidFill>
              <a:srgbClr val="1C3778"/>
            </a:solidFill>
          </a:ln>
        </p:spPr>
      </p:cxnSp>
      <p:cxnSp>
        <p:nvCxnSpPr>
          <p:cNvPr id="50" name="Link into row 2"/>
          <p:cNvCxnSpPr/>
          <p:nvPr/>
        </p:nvCxnSpPr>
        <p:spPr>
          <a:xfrm>
            <a:off x="1554480" y="3127248"/>
            <a:ext cx="0" cy="146304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51" name="Feedback strip"/>
          <p:cNvSpPr/>
          <p:nvPr/>
        </p:nvSpPr>
        <p:spPr>
          <a:xfrm>
            <a:off x="685800" y="5010912"/>
            <a:ext cx="7772400" cy="40233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C3778"/>
            </a:solidFill>
          </a:ln>
        </p:spPr>
        <p:txBody>
          <a:bodyPr wrap="square" lIns="109728" tIns="91440" rIns="109728" bIns="9144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Feedback loop: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action → uptake → outcome → model and support review</a:t>
            </a:r>
            <a:r>
              <a:rPr lang="en-US" sz="105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      Privacy-aware: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minimum necessary data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Inputs, Features and Evaluation</a:t>
            </a:r>
            <a:endParaRPr lang="en-US" sz="26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Choose signals available early enough to support a student, not just to explain the past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16</a:t>
            </a:r>
            <a:endParaRPr lang="en-US" sz="900" dirty="0"/>
          </a:p>
        </p:txBody>
      </p:sp>
      <p:sp>
        <p:nvSpPr>
          <p:cNvPr id="25" name="Column INPUTS"/>
          <p:cNvSpPr/>
          <p:nvPr/>
        </p:nvSpPr>
        <p:spPr>
          <a:xfrm>
            <a:off x="685800" y="1371600"/>
            <a:ext cx="1783080" cy="40416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26" name="Header INPUTS"/>
          <p:cNvSpPr/>
          <p:nvPr/>
        </p:nvSpPr>
        <p:spPr>
          <a:xfrm>
            <a:off x="685800" y="1371600"/>
            <a:ext cx="1783080" cy="384048"/>
          </a:xfrm>
          <a:prstGeom prst="round2SameRect">
            <a:avLst>
              <a:gd name="adj" fmla="val 22000"/>
            </a:avLst>
          </a:prstGeom>
          <a:solidFill>
            <a:srgbClr val="1C37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INPUTS</a:t>
            </a:r>
            <a:endParaRPr lang="en-US" sz="1200" dirty="0"/>
          </a:p>
        </p:txBody>
      </p:sp>
      <p:sp>
        <p:nvSpPr>
          <p:cNvPr id="27" name="Column FEATURES · WHY"/>
          <p:cNvSpPr/>
          <p:nvPr/>
        </p:nvSpPr>
        <p:spPr>
          <a:xfrm>
            <a:off x="2606040" y="1371600"/>
            <a:ext cx="2926080" cy="40416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28" name="Header FEATURES · WHY"/>
          <p:cNvSpPr/>
          <p:nvPr/>
        </p:nvSpPr>
        <p:spPr>
          <a:xfrm>
            <a:off x="2606040" y="1371600"/>
            <a:ext cx="2926080" cy="384048"/>
          </a:xfrm>
          <a:prstGeom prst="round2SameRect">
            <a:avLst>
              <a:gd name="adj" fmla="val 22000"/>
            </a:avLst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FEATURES · WHY</a:t>
            </a:r>
            <a:endParaRPr lang="en-US" sz="1200" dirty="0"/>
          </a:p>
        </p:txBody>
      </p:sp>
      <p:sp>
        <p:nvSpPr>
          <p:cNvPr id="29" name="Column EVALUATION · WHY"/>
          <p:cNvSpPr/>
          <p:nvPr/>
        </p:nvSpPr>
        <p:spPr>
          <a:xfrm>
            <a:off x="5669280" y="1371600"/>
            <a:ext cx="2788920" cy="40416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30" name="Header EVALUATION · WHY"/>
          <p:cNvSpPr/>
          <p:nvPr/>
        </p:nvSpPr>
        <p:spPr>
          <a:xfrm>
            <a:off x="5669280" y="1371600"/>
            <a:ext cx="2788920" cy="384048"/>
          </a:xfrm>
          <a:prstGeom prst="round2SameRect">
            <a:avLst>
              <a:gd name="adj" fmla="val 22000"/>
            </a:avLst>
          </a:prstGeom>
          <a:solidFill>
            <a:srgbClr val="1C37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EVALUATION · WHY</a:t>
            </a:r>
            <a:endParaRPr lang="en-US" sz="1200" dirty="0"/>
          </a:p>
        </p:txBody>
      </p:sp>
      <p:sp>
        <p:nvSpPr>
          <p:cNvPr id="31" name="Input 1"/>
          <p:cNvSpPr/>
          <p:nvPr/>
        </p:nvSpPr>
        <p:spPr>
          <a:xfrm>
            <a:off x="795528" y="1883664"/>
            <a:ext cx="1563624" cy="384048"/>
          </a:xfrm>
          <a:prstGeom prst="roundRect">
            <a:avLst>
              <a:gd name="adj" fmla="val 30000"/>
            </a:avLst>
          </a:prstGeom>
          <a:solidFill>
            <a:srgbClr val="EEF1F8"/>
          </a:solidFill>
          <a:ln>
            <a:noFill/>
          </a:ln>
        </p:spPr>
        <p:txBody>
          <a:bodyPr wrap="square" lIns="36576" tIns="0" rIns="36576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 / course ID</a:t>
            </a:r>
            <a:endParaRPr lang="en-US" sz="1050" dirty="0"/>
          </a:p>
        </p:txBody>
      </p:sp>
      <p:sp>
        <p:nvSpPr>
          <p:cNvPr id="32" name="Input 2"/>
          <p:cNvSpPr/>
          <p:nvPr/>
        </p:nvSpPr>
        <p:spPr>
          <a:xfrm>
            <a:off x="795528" y="2368296"/>
            <a:ext cx="1563624" cy="384048"/>
          </a:xfrm>
          <a:prstGeom prst="roundRect">
            <a:avLst>
              <a:gd name="adj" fmla="val 30000"/>
            </a:avLst>
          </a:prstGeom>
          <a:solidFill>
            <a:srgbClr val="EEF1F8"/>
          </a:solidFill>
          <a:ln>
            <a:noFill/>
          </a:ln>
        </p:spPr>
        <p:txBody>
          <a:bodyPr wrap="square" lIns="36576" tIns="0" rIns="36576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Assessment scores</a:t>
            </a:r>
            <a:endParaRPr lang="en-US" sz="1050" dirty="0"/>
          </a:p>
        </p:txBody>
      </p:sp>
      <p:sp>
        <p:nvSpPr>
          <p:cNvPr id="33" name="Input 3"/>
          <p:cNvSpPr/>
          <p:nvPr/>
        </p:nvSpPr>
        <p:spPr>
          <a:xfrm>
            <a:off x="795528" y="2852928"/>
            <a:ext cx="1563624" cy="384048"/>
          </a:xfrm>
          <a:prstGeom prst="roundRect">
            <a:avLst>
              <a:gd name="adj" fmla="val 30000"/>
            </a:avLst>
          </a:prstGeom>
          <a:solidFill>
            <a:srgbClr val="EEF1F8"/>
          </a:solidFill>
          <a:ln>
            <a:noFill/>
          </a:ln>
        </p:spPr>
        <p:txBody>
          <a:bodyPr wrap="square" lIns="36576" tIns="0" rIns="36576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Submission timing</a:t>
            </a:r>
            <a:endParaRPr lang="en-US" sz="1050" dirty="0"/>
          </a:p>
        </p:txBody>
      </p:sp>
      <p:sp>
        <p:nvSpPr>
          <p:cNvPr id="34" name="Input 4"/>
          <p:cNvSpPr/>
          <p:nvPr/>
        </p:nvSpPr>
        <p:spPr>
          <a:xfrm>
            <a:off x="795528" y="3337560"/>
            <a:ext cx="1563624" cy="384048"/>
          </a:xfrm>
          <a:prstGeom prst="roundRect">
            <a:avLst>
              <a:gd name="adj" fmla="val 30000"/>
            </a:avLst>
          </a:prstGeom>
          <a:solidFill>
            <a:srgbClr val="EEF1F8"/>
          </a:solidFill>
          <a:ln>
            <a:noFill/>
          </a:ln>
        </p:spPr>
        <p:txBody>
          <a:bodyPr wrap="square" lIns="36576" tIns="0" rIns="36576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Clicks &amp; activity</a:t>
            </a:r>
            <a:endParaRPr lang="en-US" sz="1050" dirty="0"/>
          </a:p>
        </p:txBody>
      </p:sp>
      <p:sp>
        <p:nvSpPr>
          <p:cNvPr id="35" name="Input 5"/>
          <p:cNvSpPr/>
          <p:nvPr/>
        </p:nvSpPr>
        <p:spPr>
          <a:xfrm>
            <a:off x="795528" y="3822192"/>
            <a:ext cx="1563624" cy="384048"/>
          </a:xfrm>
          <a:prstGeom prst="roundRect">
            <a:avLst>
              <a:gd name="adj" fmla="val 30000"/>
            </a:avLst>
          </a:prstGeom>
          <a:solidFill>
            <a:srgbClr val="EEF1F8"/>
          </a:solidFill>
          <a:ln>
            <a:noFill/>
          </a:ln>
        </p:spPr>
        <p:txBody>
          <a:bodyPr wrap="square" lIns="36576" tIns="0" rIns="36576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Attendance-style signal</a:t>
            </a:r>
            <a:endParaRPr lang="en-US" sz="1050" dirty="0"/>
          </a:p>
        </p:txBody>
      </p:sp>
      <p:sp>
        <p:nvSpPr>
          <p:cNvPr id="36" name="Input 6"/>
          <p:cNvSpPr/>
          <p:nvPr/>
        </p:nvSpPr>
        <p:spPr>
          <a:xfrm>
            <a:off x="795528" y="4306824"/>
            <a:ext cx="1563624" cy="384048"/>
          </a:xfrm>
          <a:prstGeom prst="roundRect">
            <a:avLst>
              <a:gd name="adj" fmla="val 30000"/>
            </a:avLst>
          </a:prstGeom>
          <a:solidFill>
            <a:srgbClr val="EEF1F8"/>
          </a:solidFill>
          <a:ln>
            <a:noFill/>
          </a:ln>
        </p:spPr>
        <p:txBody>
          <a:bodyPr wrap="square" lIns="36576" tIns="0" rIns="36576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Deadlines &amp; plan status</a:t>
            </a:r>
            <a:endParaRPr lang="en-US" sz="1050" dirty="0"/>
          </a:p>
        </p:txBody>
      </p:sp>
      <p:sp>
        <p:nvSpPr>
          <p:cNvPr id="37" name="Input 7"/>
          <p:cNvSpPr/>
          <p:nvPr/>
        </p:nvSpPr>
        <p:spPr>
          <a:xfrm>
            <a:off x="795528" y="4791456"/>
            <a:ext cx="1563624" cy="384048"/>
          </a:xfrm>
          <a:prstGeom prst="roundRect">
            <a:avLst>
              <a:gd name="adj" fmla="val 30000"/>
            </a:avLst>
          </a:prstGeom>
          <a:solidFill>
            <a:srgbClr val="EEF1F8"/>
          </a:solidFill>
          <a:ln>
            <a:noFill/>
          </a:ln>
        </p:spPr>
        <p:txBody>
          <a:bodyPr wrap="square" lIns="36576" tIns="0" rIns="36576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Support interactions</a:t>
            </a:r>
            <a:endParaRPr lang="en-US" sz="1050" dirty="0"/>
          </a:p>
        </p:txBody>
      </p:sp>
      <p:sp>
        <p:nvSpPr>
          <p:cNvPr id="38" name="Feature 1"/>
          <p:cNvSpPr/>
          <p:nvPr/>
        </p:nvSpPr>
        <p:spPr>
          <a:xfrm>
            <a:off x="2715768" y="1938528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Feature text 1"/>
          <p:cNvSpPr/>
          <p:nvPr/>
        </p:nvSpPr>
        <p:spPr>
          <a:xfrm>
            <a:off x="3081528" y="1901952"/>
            <a:ext cx="234086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Assessment trend</a:t>
            </a:r>
            <a:endParaRPr lang="en-US" sz="115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Shows the learning trajectory.</a:t>
            </a:r>
            <a:endParaRPr lang="en-US" sz="1050" dirty="0"/>
          </a:p>
        </p:txBody>
      </p:sp>
      <p:sp>
        <p:nvSpPr>
          <p:cNvPr id="40" name="Feature 2"/>
          <p:cNvSpPr/>
          <p:nvPr/>
        </p:nvSpPr>
        <p:spPr>
          <a:xfrm>
            <a:off x="2715768" y="2624328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Feature text 2"/>
          <p:cNvSpPr/>
          <p:nvPr/>
        </p:nvSpPr>
        <p:spPr>
          <a:xfrm>
            <a:off x="3081528" y="2587752"/>
            <a:ext cx="234086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On-time ratio</a:t>
            </a:r>
            <a:endParaRPr lang="en-US" sz="115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Captures execution risk from late submissions.</a:t>
            </a:r>
            <a:endParaRPr lang="en-US" sz="1050" dirty="0"/>
          </a:p>
        </p:txBody>
      </p:sp>
      <p:sp>
        <p:nvSpPr>
          <p:cNvPr id="42" name="Feature 3"/>
          <p:cNvSpPr/>
          <p:nvPr/>
        </p:nvSpPr>
        <p:spPr>
          <a:xfrm>
            <a:off x="2715768" y="3310128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</a:t>
            </a:r>
            <a:endParaRPr lang="en-US" sz="1000" dirty="0"/>
          </a:p>
        </p:txBody>
      </p:sp>
      <p:sp>
        <p:nvSpPr>
          <p:cNvPr id="43" name="Feature text 3"/>
          <p:cNvSpPr/>
          <p:nvPr/>
        </p:nvSpPr>
        <p:spPr>
          <a:xfrm>
            <a:off x="3081528" y="3273552"/>
            <a:ext cx="234086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Recent engagement</a:t>
            </a:r>
            <a:endParaRPr lang="en-US" sz="115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Identifies disengagement early.</a:t>
            </a:r>
            <a:endParaRPr lang="en-US" sz="1050" dirty="0"/>
          </a:p>
        </p:txBody>
      </p:sp>
      <p:sp>
        <p:nvSpPr>
          <p:cNvPr id="44" name="Feature 4"/>
          <p:cNvSpPr/>
          <p:nvPr/>
        </p:nvSpPr>
        <p:spPr>
          <a:xfrm>
            <a:off x="2715768" y="3995928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Feature text 4"/>
          <p:cNvSpPr/>
          <p:nvPr/>
        </p:nvSpPr>
        <p:spPr>
          <a:xfrm>
            <a:off x="3081528" y="3959352"/>
            <a:ext cx="234086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Days since activity</a:t>
            </a:r>
            <a:endParaRPr lang="en-US" sz="115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Supports timely outreach.</a:t>
            </a:r>
            <a:endParaRPr lang="en-US" sz="1050" dirty="0"/>
          </a:p>
        </p:txBody>
      </p:sp>
      <p:sp>
        <p:nvSpPr>
          <p:cNvPr id="46" name="Feature 5"/>
          <p:cNvSpPr/>
          <p:nvPr/>
        </p:nvSpPr>
        <p:spPr>
          <a:xfrm>
            <a:off x="2715768" y="4681728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5</a:t>
            </a:r>
            <a:endParaRPr lang="en-US" sz="1000" dirty="0"/>
          </a:p>
        </p:txBody>
      </p:sp>
      <p:sp>
        <p:nvSpPr>
          <p:cNvPr id="47" name="Feature text 5"/>
          <p:cNvSpPr/>
          <p:nvPr/>
        </p:nvSpPr>
        <p:spPr>
          <a:xfrm>
            <a:off x="3081528" y="4645152"/>
            <a:ext cx="234086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Planning / support use</a:t>
            </a:r>
            <a:endParaRPr lang="en-US" sz="115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Links each risk flag to an action.</a:t>
            </a:r>
            <a:endParaRPr lang="en-US" sz="1050" dirty="0"/>
          </a:p>
        </p:txBody>
      </p:sp>
      <p:sp>
        <p:nvSpPr>
          <p:cNvPr id="48" name="Metric 1"/>
          <p:cNvSpPr/>
          <p:nvPr/>
        </p:nvSpPr>
        <p:spPr>
          <a:xfrm>
            <a:off x="5797296" y="1883664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Recall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catch every at-risk student</a:t>
            </a:r>
            <a:endParaRPr lang="en-US" sz="1050" dirty="0"/>
          </a:p>
        </p:txBody>
      </p:sp>
      <p:sp>
        <p:nvSpPr>
          <p:cNvPr id="49" name="Metric 2"/>
          <p:cNvSpPr/>
          <p:nvPr/>
        </p:nvSpPr>
        <p:spPr>
          <a:xfrm>
            <a:off x="5797296" y="2313432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Precision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limit false alarms</a:t>
            </a:r>
            <a:endParaRPr lang="en-US" sz="1050" dirty="0"/>
          </a:p>
        </p:txBody>
      </p:sp>
      <p:sp>
        <p:nvSpPr>
          <p:cNvPr id="50" name="Metric 3"/>
          <p:cNvSpPr/>
          <p:nvPr/>
        </p:nvSpPr>
        <p:spPr>
          <a:xfrm>
            <a:off x="5797296" y="2743200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F1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balance of recall and precision</a:t>
            </a:r>
            <a:endParaRPr lang="en-US" sz="1050" dirty="0"/>
          </a:p>
        </p:txBody>
      </p:sp>
      <p:sp>
        <p:nvSpPr>
          <p:cNvPr id="51" name="Metric 4"/>
          <p:cNvSpPr/>
          <p:nvPr/>
        </p:nvSpPr>
        <p:spPr>
          <a:xfrm>
            <a:off x="5797296" y="3172968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PR-AUC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fair under class imbalance</a:t>
            </a:r>
            <a:endParaRPr lang="en-US" sz="1050" dirty="0"/>
          </a:p>
        </p:txBody>
      </p:sp>
      <p:sp>
        <p:nvSpPr>
          <p:cNvPr id="52" name="Metric 5"/>
          <p:cNvSpPr/>
          <p:nvPr/>
        </p:nvSpPr>
        <p:spPr>
          <a:xfrm>
            <a:off x="5797296" y="3602736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ROC-AUC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ranking quality at any threshold</a:t>
            </a:r>
            <a:endParaRPr lang="en-US" sz="1050" dirty="0"/>
          </a:p>
        </p:txBody>
      </p:sp>
      <p:sp>
        <p:nvSpPr>
          <p:cNvPr id="53" name="Metric 6"/>
          <p:cNvSpPr/>
          <p:nvPr/>
        </p:nvSpPr>
        <p:spPr>
          <a:xfrm>
            <a:off x="5797296" y="4032504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Calibration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probabilities can be trusted</a:t>
            </a:r>
            <a:endParaRPr lang="en-US" sz="1050" dirty="0"/>
          </a:p>
        </p:txBody>
      </p:sp>
      <p:sp>
        <p:nvSpPr>
          <p:cNvPr id="54" name="Metric 7"/>
          <p:cNvSpPr/>
          <p:nvPr/>
        </p:nvSpPr>
        <p:spPr>
          <a:xfrm>
            <a:off x="5797296" y="4462272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Accuracy · confusion matrix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baseline and error types</a:t>
            </a:r>
            <a:endParaRPr lang="en-US" sz="1050" dirty="0"/>
          </a:p>
        </p:txBody>
      </p:sp>
      <p:sp>
        <p:nvSpPr>
          <p:cNvPr id="55" name="Metric 8"/>
          <p:cNvSpPr/>
          <p:nvPr/>
        </p:nvSpPr>
        <p:spPr>
          <a:xfrm>
            <a:off x="5797296" y="4892040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Intervention uptake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did the support actually help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Reference Database &amp; Preprocessing</a:t>
            </a:r>
            <a:endParaRPr lang="en-US" sz="26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OULAD is the training database; Acadex inputs map to the same feature contract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17</a:t>
            </a:r>
            <a:endParaRPr lang="en-US" sz="900" dirty="0"/>
          </a:p>
        </p:txBody>
      </p:sp>
      <p:sp>
        <p:nvSpPr>
          <p:cNvPr id="25" name="OULAD card"/>
          <p:cNvSpPr/>
          <p:nvPr/>
        </p:nvSpPr>
        <p:spPr>
          <a:xfrm>
            <a:off x="685800" y="1371600"/>
            <a:ext cx="2331720" cy="4041648"/>
          </a:xfrm>
          <a:prstGeom prst="roundRect">
            <a:avLst>
              <a:gd name="adj" fmla="val 4000"/>
            </a:avLst>
          </a:prstGeom>
          <a:solidFill>
            <a:srgbClr val="1C3778"/>
          </a:solidFill>
          <a:ln>
            <a:noFill/>
          </a:ln>
        </p:spPr>
      </p:sp>
      <p:sp>
        <p:nvSpPr>
          <p:cNvPr id="26" name="OULAD name"/>
          <p:cNvSpPr/>
          <p:nvPr/>
        </p:nvSpPr>
        <p:spPr>
          <a:xfrm>
            <a:off x="868680" y="150876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OULAD</a:t>
            </a:r>
            <a:endParaRPr lang="en-US" sz="2400" dirty="0"/>
          </a:p>
        </p:txBody>
      </p:sp>
      <p:sp>
        <p:nvSpPr>
          <p:cNvPr id="27" name="OULAD full"/>
          <p:cNvSpPr/>
          <p:nvPr/>
        </p:nvSpPr>
        <p:spPr>
          <a:xfrm>
            <a:off x="868680" y="192024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Open University Learning Analytics Dataset</a:t>
            </a:r>
            <a:endParaRPr lang="en-US" sz="1000" dirty="0"/>
          </a:p>
        </p:txBody>
      </p:sp>
      <p:sp>
        <p:nvSpPr>
          <p:cNvPr id="28" name="Stat 1"/>
          <p:cNvSpPr/>
          <p:nvPr/>
        </p:nvSpPr>
        <p:spPr>
          <a:xfrm>
            <a:off x="868680" y="237744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32,593</a:t>
            </a:r>
            <a:endParaRPr lang="en-US" sz="200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students</a:t>
            </a:r>
            <a:endParaRPr lang="en-US" sz="1000" dirty="0"/>
          </a:p>
        </p:txBody>
      </p:sp>
      <p:sp>
        <p:nvSpPr>
          <p:cNvPr id="29" name="Stat 2"/>
          <p:cNvSpPr/>
          <p:nvPr/>
        </p:nvSpPr>
        <p:spPr>
          <a:xfrm>
            <a:off x="868680" y="2944368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22</a:t>
            </a:r>
            <a:endParaRPr lang="en-US" sz="200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course presentations</a:t>
            </a:r>
            <a:endParaRPr lang="en-US" sz="1000" dirty="0"/>
          </a:p>
        </p:txBody>
      </p:sp>
      <p:sp>
        <p:nvSpPr>
          <p:cNvPr id="30" name="Stat 3"/>
          <p:cNvSpPr/>
          <p:nvPr/>
        </p:nvSpPr>
        <p:spPr>
          <a:xfrm>
            <a:off x="868680" y="3511296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10.6M</a:t>
            </a:r>
            <a:endParaRPr lang="en-US" sz="200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VLE click records</a:t>
            </a:r>
            <a:endParaRPr lang="en-US" sz="1000" dirty="0"/>
          </a:p>
        </p:txBody>
      </p:sp>
      <p:sp>
        <p:nvSpPr>
          <p:cNvPr id="31" name="Tables label"/>
          <p:cNvSpPr/>
          <p:nvPr/>
        </p:nvSpPr>
        <p:spPr>
          <a:xfrm>
            <a:off x="868680" y="4114800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F2A7B6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7 TABLES</a:t>
            </a:r>
            <a:endParaRPr lang="en-US" sz="950" dirty="0"/>
          </a:p>
        </p:txBody>
      </p:sp>
      <p:sp>
        <p:nvSpPr>
          <p:cNvPr id="32" name="Tables list"/>
          <p:cNvSpPr/>
          <p:nvPr/>
        </p:nvSpPr>
        <p:spPr>
          <a:xfrm>
            <a:off x="868680" y="4315968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courses · assessments · vle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studentInfo · studentRegistration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studentAssessment · studentVle</a:t>
            </a:r>
            <a:endParaRPr lang="en-US" sz="1000" dirty="0"/>
          </a:p>
        </p:txBody>
      </p:sp>
      <p:sp>
        <p:nvSpPr>
          <p:cNvPr id="33" name="OULAD source"/>
          <p:cNvSpPr/>
          <p:nvPr/>
        </p:nvSpPr>
        <p:spPr>
          <a:xfrm>
            <a:off x="868680" y="5120640"/>
            <a:ext cx="19659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i="1" dirty="0">
                <a:solidFill>
                  <a:srgbClr val="CADC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Kuzilek et al., Scientific Data, 2017</a:t>
            </a:r>
            <a:endParaRPr lang="en-US" sz="900" dirty="0"/>
          </a:p>
        </p:txBody>
      </p:sp>
      <p:sp>
        <p:nvSpPr>
          <p:cNvPr id="34" name="Pipeline label"/>
          <p:cNvSpPr/>
          <p:nvPr/>
        </p:nvSpPr>
        <p:spPr>
          <a:xfrm>
            <a:off x="3291840" y="1371600"/>
            <a:ext cx="5166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PREPROCESSING PIPELINE</a:t>
            </a:r>
            <a:endParaRPr lang="en-US" sz="1050" dirty="0"/>
          </a:p>
        </p:txBody>
      </p:sp>
      <p:sp>
        <p:nvSpPr>
          <p:cNvPr id="35" name="Step row 1"/>
          <p:cNvSpPr/>
          <p:nvPr/>
        </p:nvSpPr>
        <p:spPr>
          <a:xfrm>
            <a:off x="3291840" y="1664208"/>
            <a:ext cx="5166360" cy="402336"/>
          </a:xfrm>
          <a:prstGeom prst="roundRect">
            <a:avLst>
              <a:gd name="adj" fmla="val 18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6" name="Step 1"/>
          <p:cNvSpPr/>
          <p:nvPr/>
        </p:nvSpPr>
        <p:spPr>
          <a:xfrm>
            <a:off x="3383280" y="1728216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</a:t>
            </a:r>
            <a:endParaRPr lang="en-US" sz="1050" dirty="0"/>
          </a:p>
        </p:txBody>
      </p:sp>
      <p:sp>
        <p:nvSpPr>
          <p:cNvPr id="37" name="Step text 1"/>
          <p:cNvSpPr/>
          <p:nvPr/>
        </p:nvSpPr>
        <p:spPr>
          <a:xfrm>
            <a:off x="3767328" y="1664208"/>
            <a:ext cx="46177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Schema audit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 Check tables, keys and types across the 7 CSV files.</a:t>
            </a:r>
            <a:endParaRPr lang="en-US" sz="1100" dirty="0"/>
          </a:p>
        </p:txBody>
      </p:sp>
      <p:sp>
        <p:nvSpPr>
          <p:cNvPr id="38" name="Step row 2"/>
          <p:cNvSpPr/>
          <p:nvPr/>
        </p:nvSpPr>
        <p:spPr>
          <a:xfrm>
            <a:off x="3291840" y="2121408"/>
            <a:ext cx="5166360" cy="402336"/>
          </a:xfrm>
          <a:prstGeom prst="roundRect">
            <a:avLst>
              <a:gd name="adj" fmla="val 18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9" name="Step 2"/>
          <p:cNvSpPr/>
          <p:nvPr/>
        </p:nvSpPr>
        <p:spPr>
          <a:xfrm>
            <a:off x="3383280" y="2185416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</a:t>
            </a:r>
            <a:endParaRPr lang="en-US" sz="1050" dirty="0"/>
          </a:p>
        </p:txBody>
      </p:sp>
      <p:sp>
        <p:nvSpPr>
          <p:cNvPr id="40" name="Step text 2"/>
          <p:cNvSpPr/>
          <p:nvPr/>
        </p:nvSpPr>
        <p:spPr>
          <a:xfrm>
            <a:off x="3767328" y="2121408"/>
            <a:ext cx="46177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Clean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 Remove duplicates; document and handle missing values.</a:t>
            </a:r>
            <a:endParaRPr lang="en-US" sz="1100" dirty="0"/>
          </a:p>
        </p:txBody>
      </p:sp>
      <p:sp>
        <p:nvSpPr>
          <p:cNvPr id="41" name="Step row 3"/>
          <p:cNvSpPr/>
          <p:nvPr/>
        </p:nvSpPr>
        <p:spPr>
          <a:xfrm>
            <a:off x="3291840" y="2578608"/>
            <a:ext cx="5166360" cy="402336"/>
          </a:xfrm>
          <a:prstGeom prst="roundRect">
            <a:avLst>
              <a:gd name="adj" fmla="val 18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2" name="Step 3"/>
          <p:cNvSpPr/>
          <p:nvPr/>
        </p:nvSpPr>
        <p:spPr>
          <a:xfrm>
            <a:off x="3383280" y="2642616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</a:t>
            </a:r>
            <a:endParaRPr lang="en-US" sz="1050" dirty="0"/>
          </a:p>
        </p:txBody>
      </p:sp>
      <p:sp>
        <p:nvSpPr>
          <p:cNvPr id="43" name="Step text 3"/>
          <p:cNvSpPr/>
          <p:nvPr/>
        </p:nvSpPr>
        <p:spPr>
          <a:xfrm>
            <a:off x="3767328" y="2578608"/>
            <a:ext cx="46177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Encode &amp; scale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 Encode categories; scale only where a model needs it.</a:t>
            </a:r>
            <a:endParaRPr lang="en-US" sz="1100" dirty="0"/>
          </a:p>
        </p:txBody>
      </p:sp>
      <p:sp>
        <p:nvSpPr>
          <p:cNvPr id="44" name="Step row 4"/>
          <p:cNvSpPr/>
          <p:nvPr/>
        </p:nvSpPr>
        <p:spPr>
          <a:xfrm>
            <a:off x="3291840" y="3035808"/>
            <a:ext cx="5166360" cy="402336"/>
          </a:xfrm>
          <a:prstGeom prst="roundRect">
            <a:avLst>
              <a:gd name="adj" fmla="val 18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5" name="Step 4"/>
          <p:cNvSpPr/>
          <p:nvPr/>
        </p:nvSpPr>
        <p:spPr>
          <a:xfrm>
            <a:off x="3383280" y="3099816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4</a:t>
            </a:r>
            <a:endParaRPr lang="en-US" sz="1050" dirty="0"/>
          </a:p>
        </p:txBody>
      </p:sp>
      <p:sp>
        <p:nvSpPr>
          <p:cNvPr id="46" name="Step text 4"/>
          <p:cNvSpPr/>
          <p:nvPr/>
        </p:nvSpPr>
        <p:spPr>
          <a:xfrm>
            <a:off x="3767328" y="3035808"/>
            <a:ext cx="46177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Aggregate by cutoff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 Roll clicks and scores into per-student features.</a:t>
            </a:r>
            <a:endParaRPr lang="en-US" sz="1100" dirty="0"/>
          </a:p>
        </p:txBody>
      </p:sp>
      <p:sp>
        <p:nvSpPr>
          <p:cNvPr id="47" name="Step row 5"/>
          <p:cNvSpPr/>
          <p:nvPr/>
        </p:nvSpPr>
        <p:spPr>
          <a:xfrm>
            <a:off x="3291840" y="3493008"/>
            <a:ext cx="5166360" cy="402336"/>
          </a:xfrm>
          <a:prstGeom prst="roundRect">
            <a:avLst>
              <a:gd name="adj" fmla="val 18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8" name="Step 5"/>
          <p:cNvSpPr/>
          <p:nvPr/>
        </p:nvSpPr>
        <p:spPr>
          <a:xfrm>
            <a:off x="3383280" y="3557016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5</a:t>
            </a:r>
            <a:endParaRPr lang="en-US" sz="1050" dirty="0"/>
          </a:p>
        </p:txBody>
      </p:sp>
      <p:sp>
        <p:nvSpPr>
          <p:cNvPr id="49" name="Step text 5"/>
          <p:cNvSpPr/>
          <p:nvPr/>
        </p:nvSpPr>
        <p:spPr>
          <a:xfrm>
            <a:off x="3767328" y="3493008"/>
            <a:ext cx="46177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Leakage check &amp; split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 Time-based, stratified train / validation / test split.</a:t>
            </a:r>
            <a:endParaRPr lang="en-US" sz="1100" dirty="0"/>
          </a:p>
        </p:txBody>
      </p:sp>
      <p:sp>
        <p:nvSpPr>
          <p:cNvPr id="50" name="Principle 1"/>
          <p:cNvSpPr/>
          <p:nvPr/>
        </p:nvSpPr>
        <p:spPr>
          <a:xfrm>
            <a:off x="3291840" y="4114800"/>
            <a:ext cx="1630680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Output contract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One student–course row at a cutoff date, using only data available by then.</a:t>
            </a:r>
            <a:endParaRPr lang="en-US" sz="1000" dirty="0"/>
          </a:p>
        </p:txBody>
      </p:sp>
      <p:sp>
        <p:nvSpPr>
          <p:cNvPr id="51" name="Principle 2"/>
          <p:cNvSpPr/>
          <p:nvPr/>
        </p:nvSpPr>
        <p:spPr>
          <a:xfrm>
            <a:off x="5059680" y="4114800"/>
            <a:ext cx="1630680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Quality gates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IDs never act as predictors. Missingness, windows and split logic are versioned.</a:t>
            </a:r>
            <a:endParaRPr lang="en-US" sz="1000" dirty="0"/>
          </a:p>
        </p:txBody>
      </p:sp>
      <p:sp>
        <p:nvSpPr>
          <p:cNvPr id="52" name="Principle 3"/>
          <p:cNvSpPr/>
          <p:nvPr/>
        </p:nvSpPr>
        <p:spPr>
          <a:xfrm>
            <a:off x="6827520" y="4114800"/>
            <a:ext cx="1630680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Privacy principle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Keep only the minimum data needed to explain risk and suggest support.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Result 1: Data Audit</a:t>
            </a:r>
            <a:endParaRPr lang="en-US" sz="26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First output of Block 1: the seven OULAD tables audited before any cleaning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18</a:t>
            </a:r>
            <a:endParaRPr lang="en-US" sz="900" dirty="0"/>
          </a:p>
        </p:txBody>
      </p:sp>
      <p:sp>
        <p:nvSpPr>
          <p:cNvPr id="25" name="Stat chip 1"/>
          <p:cNvSpPr/>
          <p:nvPr/>
        </p:nvSpPr>
        <p:spPr>
          <a:xfrm>
            <a:off x="685800" y="1371600"/>
            <a:ext cx="1661160" cy="658368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7</a:t>
            </a:r>
            <a:endParaRPr lang="en-US" sz="2000" dirty="0"/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tables</a:t>
            </a:r>
            <a:endParaRPr lang="en-US" sz="1000" dirty="0"/>
          </a:p>
        </p:txBody>
      </p:sp>
      <p:sp>
        <p:nvSpPr>
          <p:cNvPr id="26" name="Stat chip 2"/>
          <p:cNvSpPr/>
          <p:nvPr/>
        </p:nvSpPr>
        <p:spPr>
          <a:xfrm>
            <a:off x="2484120" y="1371600"/>
            <a:ext cx="1661160" cy="658368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32,593</a:t>
            </a:r>
            <a:endParaRPr lang="en-US" sz="2000" dirty="0"/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students</a:t>
            </a:r>
            <a:endParaRPr lang="en-US" sz="1000" dirty="0"/>
          </a:p>
        </p:txBody>
      </p:sp>
      <p:sp>
        <p:nvSpPr>
          <p:cNvPr id="27" name="Stat chip 3"/>
          <p:cNvSpPr/>
          <p:nvPr/>
        </p:nvSpPr>
        <p:spPr>
          <a:xfrm>
            <a:off x="4282440" y="1371600"/>
            <a:ext cx="1661160" cy="658368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10.6M</a:t>
            </a:r>
            <a:endParaRPr lang="en-US" sz="2000" dirty="0"/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click records</a:t>
            </a:r>
            <a:endParaRPr lang="en-US" sz="1000" dirty="0"/>
          </a:p>
        </p:txBody>
      </p:sp>
      <p:graphicFrame>
        <p:nvGraphicFramePr>
          <p:cNvPr id="28" name="Audit table"/>
          <p:cNvGraphicFramePr>
            <a:graphicFrameLocks noGrp="1"/>
          </p:cNvGraphicFramePr>
          <p:nvPr/>
        </p:nvGraphicFramePr>
        <p:xfrm>
          <a:off x="685800" y="2176272"/>
          <a:ext cx="5257800" cy="3236976"/>
        </p:xfrm>
        <a:graphic>
          <a:graphicData uri="http://schemas.openxmlformats.org/drawingml/2006/table">
            <a:tbl>
              <a:tblPr firstRow="1"/>
              <a:tblGrid>
                <a:gridCol w="1691640"/>
                <a:gridCol w="960120"/>
                <a:gridCol w="2606040"/>
              </a:tblGrid>
              <a:tr h="29260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Table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Raw records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Audit focus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courses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272525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22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One row per module presentation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assessments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272525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206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Missing due dates on some exams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vle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272525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6,364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Activity-type lookup for clicks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studentInfo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272525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32,593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Missing IMD band; keep as a flag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studentRegistration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272525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32,593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Empty unregistration date = stayed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studentAssessment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272525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173,912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Score and submission-date gaps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studentVle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272525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10,655,280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Very large table; check duplicate rows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Run log card"/>
          <p:cNvSpPr/>
          <p:nvPr/>
        </p:nvSpPr>
        <p:spPr>
          <a:xfrm>
            <a:off x="6172200" y="1371600"/>
            <a:ext cx="2286000" cy="40416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C3778"/>
            </a:solidFill>
          </a:ln>
        </p:spPr>
      </p:sp>
      <p:sp>
        <p:nvSpPr>
          <p:cNvPr id="30" name="Run log title"/>
          <p:cNvSpPr/>
          <p:nvPr/>
        </p:nvSpPr>
        <p:spPr>
          <a:xfrm>
            <a:off x="6336792" y="1499616"/>
            <a:ext cx="195681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Pipeline run log</a:t>
            </a:r>
            <a:endParaRPr lang="en-US" sz="1300" dirty="0"/>
          </a:p>
        </p:txBody>
      </p:sp>
      <p:sp>
        <p:nvSpPr>
          <p:cNvPr id="31" name="Run log note"/>
          <p:cNvSpPr/>
          <p:nvPr/>
        </p:nvSpPr>
        <p:spPr>
          <a:xfrm>
            <a:off x="6336792" y="1801368"/>
            <a:ext cx="195681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Record after the first run</a:t>
            </a:r>
            <a:endParaRPr lang="en-US" sz="1000" dirty="0"/>
          </a:p>
        </p:txBody>
      </p:sp>
      <p:sp>
        <p:nvSpPr>
          <p:cNvPr id="32" name="Log field 1"/>
          <p:cNvSpPr/>
          <p:nvPr/>
        </p:nvSpPr>
        <p:spPr>
          <a:xfrm>
            <a:off x="6336792" y="2212848"/>
            <a:ext cx="195681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Rows before</a:t>
            </a:r>
            <a:endParaRPr lang="en-US" sz="1050" dirty="0"/>
          </a:p>
        </p:txBody>
      </p:sp>
      <p:cxnSp>
        <p:nvCxnSpPr>
          <p:cNvPr id="33" name="Log blank 1"/>
          <p:cNvCxnSpPr/>
          <p:nvPr/>
        </p:nvCxnSpPr>
        <p:spPr>
          <a:xfrm>
            <a:off x="6336792" y="2633472"/>
            <a:ext cx="1956816" cy="0"/>
          </a:xfrm>
          <a:prstGeom prst="line">
            <a:avLst/>
          </a:prstGeom>
          <a:ln w="9525">
            <a:solidFill>
              <a:srgbClr val="9AA3B8"/>
            </a:solidFill>
          </a:ln>
        </p:spPr>
      </p:cxnSp>
      <p:sp>
        <p:nvSpPr>
          <p:cNvPr id="34" name="Log field 2"/>
          <p:cNvSpPr/>
          <p:nvPr/>
        </p:nvSpPr>
        <p:spPr>
          <a:xfrm>
            <a:off x="6336792" y="2743200"/>
            <a:ext cx="195681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Rows after</a:t>
            </a:r>
            <a:endParaRPr lang="en-US" sz="1050" dirty="0"/>
          </a:p>
        </p:txBody>
      </p:sp>
      <p:cxnSp>
        <p:nvCxnSpPr>
          <p:cNvPr id="35" name="Log blank 2"/>
          <p:cNvCxnSpPr/>
          <p:nvPr/>
        </p:nvCxnSpPr>
        <p:spPr>
          <a:xfrm>
            <a:off x="6336792" y="3163824"/>
            <a:ext cx="1956816" cy="0"/>
          </a:xfrm>
          <a:prstGeom prst="line">
            <a:avLst/>
          </a:prstGeom>
          <a:ln w="9525">
            <a:solidFill>
              <a:srgbClr val="9AA3B8"/>
            </a:solidFill>
          </a:ln>
        </p:spPr>
      </p:cxnSp>
      <p:sp>
        <p:nvSpPr>
          <p:cNvPr id="36" name="Log field 3"/>
          <p:cNvSpPr/>
          <p:nvPr/>
        </p:nvSpPr>
        <p:spPr>
          <a:xfrm>
            <a:off x="6336792" y="3273552"/>
            <a:ext cx="195681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Null cells</a:t>
            </a:r>
            <a:endParaRPr lang="en-US" sz="1050" dirty="0"/>
          </a:p>
        </p:txBody>
      </p:sp>
      <p:cxnSp>
        <p:nvCxnSpPr>
          <p:cNvPr id="37" name="Log blank 3"/>
          <p:cNvCxnSpPr/>
          <p:nvPr/>
        </p:nvCxnSpPr>
        <p:spPr>
          <a:xfrm>
            <a:off x="6336792" y="3694176"/>
            <a:ext cx="1956816" cy="0"/>
          </a:xfrm>
          <a:prstGeom prst="line">
            <a:avLst/>
          </a:prstGeom>
          <a:ln w="9525">
            <a:solidFill>
              <a:srgbClr val="9AA3B8"/>
            </a:solidFill>
          </a:ln>
        </p:spPr>
      </p:cxnSp>
      <p:sp>
        <p:nvSpPr>
          <p:cNvPr id="38" name="Log field 4"/>
          <p:cNvSpPr/>
          <p:nvPr/>
        </p:nvSpPr>
        <p:spPr>
          <a:xfrm>
            <a:off x="6336792" y="3803904"/>
            <a:ext cx="195681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Duplicate rows</a:t>
            </a:r>
            <a:endParaRPr lang="en-US" sz="1050" dirty="0"/>
          </a:p>
        </p:txBody>
      </p:sp>
      <p:cxnSp>
        <p:nvCxnSpPr>
          <p:cNvPr id="39" name="Log blank 4"/>
          <p:cNvCxnSpPr/>
          <p:nvPr/>
        </p:nvCxnSpPr>
        <p:spPr>
          <a:xfrm>
            <a:off x="6336792" y="4224528"/>
            <a:ext cx="1956816" cy="0"/>
          </a:xfrm>
          <a:prstGeom prst="line">
            <a:avLst/>
          </a:prstGeom>
          <a:ln w="9525">
            <a:solidFill>
              <a:srgbClr val="9AA3B8"/>
            </a:solidFill>
          </a:ln>
        </p:spPr>
      </p:cxnSp>
      <p:sp>
        <p:nvSpPr>
          <p:cNvPr id="40" name="Log field 5"/>
          <p:cNvSpPr/>
          <p:nvPr/>
        </p:nvSpPr>
        <p:spPr>
          <a:xfrm>
            <a:off x="6336792" y="4334256"/>
            <a:ext cx="195681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Orphan keys</a:t>
            </a:r>
            <a:endParaRPr lang="en-US" sz="1050" dirty="0"/>
          </a:p>
        </p:txBody>
      </p:sp>
      <p:cxnSp>
        <p:nvCxnSpPr>
          <p:cNvPr id="41" name="Log blank 5"/>
          <p:cNvCxnSpPr/>
          <p:nvPr/>
        </p:nvCxnSpPr>
        <p:spPr>
          <a:xfrm>
            <a:off x="6336792" y="4754880"/>
            <a:ext cx="1956816" cy="0"/>
          </a:xfrm>
          <a:prstGeom prst="line">
            <a:avLst/>
          </a:prstGeom>
          <a:ln w="9525">
            <a:solidFill>
              <a:srgbClr val="9AA3B8"/>
            </a:solidFill>
          </a:ln>
        </p:spPr>
      </p:cxnSp>
      <p:sp>
        <p:nvSpPr>
          <p:cNvPr id="42" name="Log field 6"/>
          <p:cNvSpPr/>
          <p:nvPr/>
        </p:nvSpPr>
        <p:spPr>
          <a:xfrm>
            <a:off x="6336792" y="4864608"/>
            <a:ext cx="195681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Audit timestamp</a:t>
            </a:r>
            <a:endParaRPr lang="en-US" sz="1050" dirty="0"/>
          </a:p>
        </p:txBody>
      </p:sp>
      <p:cxnSp>
        <p:nvCxnSpPr>
          <p:cNvPr id="43" name="Log blank 6"/>
          <p:cNvCxnSpPr/>
          <p:nvPr/>
        </p:nvCxnSpPr>
        <p:spPr>
          <a:xfrm>
            <a:off x="6336792" y="5285232"/>
            <a:ext cx="1956816" cy="0"/>
          </a:xfrm>
          <a:prstGeom prst="line">
            <a:avLst/>
          </a:prstGeom>
          <a:ln w="9525">
            <a:solidFill>
              <a:srgbClr val="9AA3B8"/>
            </a:solidFill>
          </a:ln>
        </p:spPr>
      </p:cxnSp>
      <p:sp>
        <p:nvSpPr>
          <p:cNvPr id="44" name="Source note"/>
          <p:cNvSpPr/>
          <p:nvPr/>
        </p:nvSpPr>
        <p:spPr>
          <a:xfrm>
            <a:off x="685800" y="5440680"/>
            <a:ext cx="52578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Record counts: published OULAD statistics.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Result 2: Cleaned Feature Set</a:t>
            </a:r>
            <a:endParaRPr lang="en-US" sz="26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Raw signals become cleaned, cutoff-safe features, each with a reason to exist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19</a:t>
            </a:r>
            <a:endParaRPr lang="en-US" sz="900" dirty="0"/>
          </a:p>
        </p:txBody>
      </p:sp>
      <p:sp>
        <p:nvSpPr>
          <p:cNvPr id="25" name="Head 1"/>
          <p:cNvSpPr/>
          <p:nvPr/>
        </p:nvSpPr>
        <p:spPr>
          <a:xfrm>
            <a:off x="685800" y="1371600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RAW SIGNAL</a:t>
            </a:r>
            <a:endParaRPr lang="en-US" sz="1000" dirty="0"/>
          </a:p>
        </p:txBody>
      </p:sp>
      <p:sp>
        <p:nvSpPr>
          <p:cNvPr id="26" name="Head 2"/>
          <p:cNvSpPr/>
          <p:nvPr/>
        </p:nvSpPr>
        <p:spPr>
          <a:xfrm>
            <a:off x="3337560" y="1371600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CLEANED / AGGREGATED FEATURE</a:t>
            </a:r>
            <a:endParaRPr lang="en-US" sz="1000" dirty="0"/>
          </a:p>
        </p:txBody>
      </p:sp>
      <p:sp>
        <p:nvSpPr>
          <p:cNvPr id="27" name="Head 3"/>
          <p:cNvSpPr/>
          <p:nvPr/>
        </p:nvSpPr>
        <p:spPr>
          <a:xfrm>
            <a:off x="5943600" y="1371600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28" name="Raw 1"/>
          <p:cNvSpPr/>
          <p:nvPr/>
        </p:nvSpPr>
        <p:spPr>
          <a:xfrm>
            <a:off x="685800" y="1645920"/>
            <a:ext cx="2286000" cy="731520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Assessment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studentAssessment + assessments: score, due date, submission date</a:t>
            </a:r>
            <a:endParaRPr lang="en-US" sz="1000" dirty="0"/>
          </a:p>
        </p:txBody>
      </p:sp>
      <p:cxnSp>
        <p:nvCxnSpPr>
          <p:cNvPr id="29" name="Arrow 1"/>
          <p:cNvCxnSpPr/>
          <p:nvPr/>
        </p:nvCxnSpPr>
        <p:spPr>
          <a:xfrm>
            <a:off x="3026664" y="2011680"/>
            <a:ext cx="256032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30" name="Features 1"/>
          <p:cNvSpPr/>
          <p:nvPr/>
        </p:nvSpPr>
        <p:spPr>
          <a:xfrm>
            <a:off x="3337560" y="1645920"/>
            <a:ext cx="2514600" cy="731520"/>
          </a:xfrm>
          <a:prstGeom prst="roundRect">
            <a:avLst>
              <a:gd name="adj" fmla="val 9000"/>
            </a:avLst>
          </a:prstGeom>
          <a:solidFill>
            <a:srgbClr val="1C3778"/>
          </a:solidFill>
          <a:ln>
            <a:noFill/>
          </a:ln>
        </p:spPr>
        <p:txBody>
          <a:bodyPr wrap="square" lIns="146304" tIns="36576" rIns="91440" bIns="36576" rtlCol="0" anchor="ctr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assessment_mean</a:t>
            </a:r>
            <a:endParaRPr lang="en-US" sz="1050" dirty="0"/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score_trend</a:t>
            </a:r>
            <a:endParaRPr lang="en-US" sz="1050" dirty="0"/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late_ratio</a:t>
            </a:r>
            <a:endParaRPr lang="en-US" sz="1050" dirty="0"/>
          </a:p>
        </p:txBody>
      </p:sp>
      <p:sp>
        <p:nvSpPr>
          <p:cNvPr id="31" name="Why 1"/>
          <p:cNvSpPr/>
          <p:nvPr/>
        </p:nvSpPr>
        <p:spPr>
          <a:xfrm>
            <a:off x="5943600" y="164592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Learning trajectory and execution risk</a:t>
            </a:r>
            <a:endParaRPr lang="en-US" sz="1100" dirty="0"/>
          </a:p>
        </p:txBody>
      </p:sp>
      <p:sp>
        <p:nvSpPr>
          <p:cNvPr id="32" name="Raw 2"/>
          <p:cNvSpPr/>
          <p:nvPr/>
        </p:nvSpPr>
        <p:spPr>
          <a:xfrm>
            <a:off x="685800" y="2459736"/>
            <a:ext cx="2286000" cy="731520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Engagement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studentVle: clicks per day per activity</a:t>
            </a:r>
            <a:endParaRPr lang="en-US" sz="1000" dirty="0"/>
          </a:p>
        </p:txBody>
      </p:sp>
      <p:cxnSp>
        <p:nvCxnSpPr>
          <p:cNvPr id="33" name="Arrow 2"/>
          <p:cNvCxnSpPr/>
          <p:nvPr/>
        </p:nvCxnSpPr>
        <p:spPr>
          <a:xfrm>
            <a:off x="3026664" y="2825496"/>
            <a:ext cx="256032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34" name="Features 2"/>
          <p:cNvSpPr/>
          <p:nvPr/>
        </p:nvSpPr>
        <p:spPr>
          <a:xfrm>
            <a:off x="3337560" y="2459736"/>
            <a:ext cx="2514600" cy="731520"/>
          </a:xfrm>
          <a:prstGeom prst="roundRect">
            <a:avLst>
              <a:gd name="adj" fmla="val 9000"/>
            </a:avLst>
          </a:prstGeom>
          <a:solidFill>
            <a:srgbClr val="1C3778"/>
          </a:solidFill>
          <a:ln>
            <a:noFill/>
          </a:ln>
        </p:spPr>
        <p:txBody>
          <a:bodyPr wrap="square" lIns="146304" tIns="36576" rIns="91440" bIns="36576" rtlCol="0" anchor="ctr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active_days_7d</a:t>
            </a:r>
            <a:endParaRPr lang="en-US" sz="1050" dirty="0"/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events_14d</a:t>
            </a:r>
            <a:endParaRPr lang="en-US" sz="1050" dirty="0"/>
          </a:p>
        </p:txBody>
      </p:sp>
      <p:sp>
        <p:nvSpPr>
          <p:cNvPr id="35" name="Why 2"/>
          <p:cNvSpPr/>
          <p:nvPr/>
        </p:nvSpPr>
        <p:spPr>
          <a:xfrm>
            <a:off x="5943600" y="2459736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Recent participation and recency of study</a:t>
            </a:r>
            <a:endParaRPr lang="en-US" sz="1100" dirty="0"/>
          </a:p>
        </p:txBody>
      </p:sp>
      <p:sp>
        <p:nvSpPr>
          <p:cNvPr id="36" name="Raw 3"/>
          <p:cNvSpPr/>
          <p:nvPr/>
        </p:nvSpPr>
        <p:spPr>
          <a:xfrm>
            <a:off x="685800" y="3273552"/>
            <a:ext cx="2286000" cy="731520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Attendance-style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VLE session dates</a:t>
            </a:r>
            <a:endParaRPr lang="en-US" sz="1000" dirty="0"/>
          </a:p>
        </p:txBody>
      </p:sp>
      <p:cxnSp>
        <p:nvCxnSpPr>
          <p:cNvPr id="37" name="Arrow 3"/>
          <p:cNvCxnSpPr/>
          <p:nvPr/>
        </p:nvCxnSpPr>
        <p:spPr>
          <a:xfrm>
            <a:off x="3026664" y="3639312"/>
            <a:ext cx="256032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38" name="Features 3"/>
          <p:cNvSpPr/>
          <p:nvPr/>
        </p:nvSpPr>
        <p:spPr>
          <a:xfrm>
            <a:off x="3337560" y="3273552"/>
            <a:ext cx="2514600" cy="731520"/>
          </a:xfrm>
          <a:prstGeom prst="roundRect">
            <a:avLst>
              <a:gd name="adj" fmla="val 9000"/>
            </a:avLst>
          </a:prstGeom>
          <a:solidFill>
            <a:srgbClr val="1C3778"/>
          </a:solidFill>
          <a:ln>
            <a:noFill/>
          </a:ln>
        </p:spPr>
        <p:txBody>
          <a:bodyPr wrap="square" lIns="146304" tIns="36576" rIns="91440" bIns="36576" rtlCol="0" anchor="ctr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attendance_proxy</a:t>
            </a:r>
            <a:endParaRPr lang="en-US" sz="1050" dirty="0"/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days_since_activity</a:t>
            </a:r>
            <a:endParaRPr lang="en-US" sz="1050" dirty="0"/>
          </a:p>
        </p:txBody>
      </p:sp>
      <p:sp>
        <p:nvSpPr>
          <p:cNvPr id="39" name="Why 3"/>
          <p:cNvSpPr/>
          <p:nvPr/>
        </p:nvSpPr>
        <p:spPr>
          <a:xfrm>
            <a:off x="5943600" y="3273552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Disengagement alert without overclaiming attendance</a:t>
            </a:r>
            <a:endParaRPr lang="en-US" sz="1100" dirty="0"/>
          </a:p>
        </p:txBody>
      </p:sp>
      <p:sp>
        <p:nvSpPr>
          <p:cNvPr id="40" name="Raw 4"/>
          <p:cNvSpPr/>
          <p:nvPr/>
        </p:nvSpPr>
        <p:spPr>
          <a:xfrm>
            <a:off x="685800" y="4087368"/>
            <a:ext cx="2286000" cy="731520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Context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studentInfo: prior attempts, credits, education, IMD band</a:t>
            </a:r>
            <a:endParaRPr lang="en-US" sz="1000" dirty="0"/>
          </a:p>
        </p:txBody>
      </p:sp>
      <p:cxnSp>
        <p:nvCxnSpPr>
          <p:cNvPr id="41" name="Arrow 4"/>
          <p:cNvCxnSpPr/>
          <p:nvPr/>
        </p:nvCxnSpPr>
        <p:spPr>
          <a:xfrm>
            <a:off x="3026664" y="4453128"/>
            <a:ext cx="256032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42" name="Features 4"/>
          <p:cNvSpPr/>
          <p:nvPr/>
        </p:nvSpPr>
        <p:spPr>
          <a:xfrm>
            <a:off x="3337560" y="4087368"/>
            <a:ext cx="2514600" cy="731520"/>
          </a:xfrm>
          <a:prstGeom prst="roundRect">
            <a:avLst>
              <a:gd name="adj" fmla="val 9000"/>
            </a:avLst>
          </a:prstGeom>
          <a:solidFill>
            <a:srgbClr val="1C3778"/>
          </a:solidFill>
          <a:ln>
            <a:noFill/>
          </a:ln>
        </p:spPr>
        <p:txBody>
          <a:bodyPr wrap="square" lIns="146304" tIns="36576" rIns="91440" bIns="36576" rtlCol="0" anchor="ctr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prev_attempts</a:t>
            </a:r>
            <a:endParaRPr lang="en-US" sz="1050" dirty="0"/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studied_credits</a:t>
            </a:r>
            <a:endParaRPr lang="en-US" sz="1050" dirty="0"/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encoded categoricals</a:t>
            </a:r>
            <a:endParaRPr lang="en-US" sz="1050" dirty="0"/>
          </a:p>
        </p:txBody>
      </p:sp>
      <p:sp>
        <p:nvSpPr>
          <p:cNvPr id="43" name="Why 4"/>
          <p:cNvSpPr/>
          <p:nvPr/>
        </p:nvSpPr>
        <p:spPr>
          <a:xfrm>
            <a:off x="5943600" y="4087368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Baseline risk; missing IMD kept as a flag</a:t>
            </a:r>
            <a:endParaRPr lang="en-US" sz="1100" dirty="0"/>
          </a:p>
        </p:txBody>
      </p:sp>
      <p:sp>
        <p:nvSpPr>
          <p:cNvPr id="44" name="Dictionary strip"/>
          <p:cNvSpPr/>
          <p:nvPr/>
        </p:nvSpPr>
        <p:spPr>
          <a:xfrm>
            <a:off x="685800" y="5029200"/>
            <a:ext cx="77724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C3778"/>
            </a:solidFill>
          </a:ln>
        </p:spPr>
        <p:txBody>
          <a:bodyPr wrap="square" lIns="109728" tIns="91440" rIns="109728" bIns="9144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Feature dictionary: 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name · source table · cutoff window · type · missingness rule · rationale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Result 3: Leakage &amp; Imbalance Checks</a:t>
            </a:r>
            <a:endParaRPr lang="en-US" sz="26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model must see the past, not the answer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20</a:t>
            </a:r>
            <a:endParaRPr lang="en-US" sz="900" dirty="0"/>
          </a:p>
        </p:txBody>
      </p:sp>
      <p:sp>
        <p:nvSpPr>
          <p:cNvPr id="25" name="Feature window"/>
          <p:cNvSpPr/>
          <p:nvPr/>
        </p:nvSpPr>
        <p:spPr>
          <a:xfrm>
            <a:off x="685800" y="1481328"/>
            <a:ext cx="4434840" cy="457200"/>
          </a:xfrm>
          <a:prstGeom prst="rect">
            <a:avLst/>
          </a:prstGeom>
          <a:solidFill>
            <a:srgbClr val="1C3778"/>
          </a:solidFill>
          <a:ln>
            <a:noFill/>
          </a:ln>
        </p:spPr>
        <p:txBody>
          <a:bodyPr wrap="square" lIns="91440" tIns="54864" rIns="91440" bIns="54864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Feature window: data up to the cutoff</a:t>
            </a:r>
            <a:endParaRPr lang="en-US" sz="1100" dirty="0"/>
          </a:p>
        </p:txBody>
      </p:sp>
      <p:sp>
        <p:nvSpPr>
          <p:cNvPr id="26" name="Outcome window"/>
          <p:cNvSpPr/>
          <p:nvPr/>
        </p:nvSpPr>
        <p:spPr>
          <a:xfrm>
            <a:off x="5120640" y="1481328"/>
            <a:ext cx="3337560" cy="457200"/>
          </a:xfrm>
          <a:prstGeom prst="rect">
            <a:avLst/>
          </a:prstGeom>
          <a:solidFill>
            <a:srgbClr val="FBEDEF"/>
          </a:solidFill>
          <a:ln w="9525">
            <a:solidFill>
              <a:srgbClr val="B41837"/>
            </a:solidFill>
          </a:ln>
        </p:spPr>
        <p:txBody>
          <a:bodyPr wrap="square" lIns="91440" tIns="54864" rIns="91440" bIns="54864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Outcome window: held out</a:t>
            </a:r>
            <a:endParaRPr lang="en-US" sz="1100" dirty="0"/>
          </a:p>
        </p:txBody>
      </p:sp>
      <p:sp>
        <p:nvSpPr>
          <p:cNvPr id="27" name="Cutoff marker"/>
          <p:cNvSpPr/>
          <p:nvPr/>
        </p:nvSpPr>
        <p:spPr>
          <a:xfrm>
            <a:off x="5106924" y="1371600"/>
            <a:ext cx="27432" cy="676656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8" name="Course start"/>
          <p:cNvSpPr/>
          <p:nvPr/>
        </p:nvSpPr>
        <p:spPr>
          <a:xfrm>
            <a:off x="685800" y="2029968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Course start</a:t>
            </a:r>
            <a:endParaRPr lang="en-US" sz="1000" dirty="0"/>
          </a:p>
        </p:txBody>
      </p:sp>
      <p:sp>
        <p:nvSpPr>
          <p:cNvPr id="29" name="Cutoff label"/>
          <p:cNvSpPr/>
          <p:nvPr/>
        </p:nvSpPr>
        <p:spPr>
          <a:xfrm>
            <a:off x="4114800" y="202996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Prediction cutoff</a:t>
            </a:r>
            <a:endParaRPr lang="en-US" sz="1000" dirty="0"/>
          </a:p>
        </p:txBody>
      </p:sp>
      <p:sp>
        <p:nvSpPr>
          <p:cNvPr id="30" name="Course end"/>
          <p:cNvSpPr/>
          <p:nvPr/>
        </p:nvSpPr>
        <p:spPr>
          <a:xfrm>
            <a:off x="6812280" y="2029968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Course end · final_result</a:t>
            </a:r>
            <a:endParaRPr lang="en-US" sz="1000" dirty="0"/>
          </a:p>
        </p:txBody>
      </p:sp>
      <p:sp>
        <p:nvSpPr>
          <p:cNvPr id="31" name="Leakage card"/>
          <p:cNvSpPr/>
          <p:nvPr/>
        </p:nvSpPr>
        <p:spPr>
          <a:xfrm>
            <a:off x="685800" y="2423160"/>
            <a:ext cx="3840480" cy="29900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32" name="Leakage title"/>
          <p:cNvSpPr/>
          <p:nvPr/>
        </p:nvSpPr>
        <p:spPr>
          <a:xfrm>
            <a:off x="850392" y="2551176"/>
            <a:ext cx="35112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Leakage checks</a:t>
            </a:r>
            <a:endParaRPr lang="en-US" sz="1300" dirty="0"/>
          </a:p>
        </p:txBody>
      </p:sp>
      <p:sp>
        <p:nvSpPr>
          <p:cNvPr id="33" name="Check 1"/>
          <p:cNvSpPr/>
          <p:nvPr/>
        </p:nvSpPr>
        <p:spPr>
          <a:xfrm>
            <a:off x="850392" y="2999232"/>
            <a:ext cx="274320" cy="274320"/>
          </a:xfrm>
          <a:prstGeom prst="ellipse">
            <a:avLst/>
          </a:prstGeom>
          <a:solidFill>
            <a:srgbClr val="23764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Check text 1"/>
          <p:cNvSpPr/>
          <p:nvPr/>
        </p:nvSpPr>
        <p:spPr>
          <a:xfrm>
            <a:off x="1252728" y="2953512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Target-derived fields removed (final_result, date_unregistration)</a:t>
            </a:r>
            <a:endParaRPr lang="en-US" sz="1100" dirty="0"/>
          </a:p>
        </p:txBody>
      </p:sp>
      <p:sp>
        <p:nvSpPr>
          <p:cNvPr id="35" name="Check 2"/>
          <p:cNvSpPr/>
          <p:nvPr/>
        </p:nvSpPr>
        <p:spPr>
          <a:xfrm>
            <a:off x="850392" y="3602736"/>
            <a:ext cx="274320" cy="274320"/>
          </a:xfrm>
          <a:prstGeom prst="ellipse">
            <a:avLst/>
          </a:prstGeom>
          <a:solidFill>
            <a:srgbClr val="23764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Check text 2"/>
          <p:cNvSpPr/>
          <p:nvPr/>
        </p:nvSpPr>
        <p:spPr>
          <a:xfrm>
            <a:off x="1252728" y="3557016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 events after the cutoff are used</a:t>
            </a:r>
            <a:endParaRPr lang="en-US" sz="1100" dirty="0"/>
          </a:p>
        </p:txBody>
      </p:sp>
      <p:sp>
        <p:nvSpPr>
          <p:cNvPr id="37" name="Check 3"/>
          <p:cNvSpPr/>
          <p:nvPr/>
        </p:nvSpPr>
        <p:spPr>
          <a:xfrm>
            <a:off x="850392" y="4206240"/>
            <a:ext cx="274320" cy="274320"/>
          </a:xfrm>
          <a:prstGeom prst="ellipse">
            <a:avLst/>
          </a:prstGeom>
          <a:solidFill>
            <a:srgbClr val="23764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Check text 3"/>
          <p:cNvSpPr/>
          <p:nvPr/>
        </p:nvSpPr>
        <p:spPr>
          <a:xfrm>
            <a:off x="1252728" y="416052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IDs are never used as predictors</a:t>
            </a:r>
            <a:endParaRPr lang="en-US" sz="1100" dirty="0"/>
          </a:p>
        </p:txBody>
      </p:sp>
      <p:sp>
        <p:nvSpPr>
          <p:cNvPr id="39" name="Check 4"/>
          <p:cNvSpPr/>
          <p:nvPr/>
        </p:nvSpPr>
        <p:spPr>
          <a:xfrm>
            <a:off x="850392" y="4809744"/>
            <a:ext cx="274320" cy="274320"/>
          </a:xfrm>
          <a:prstGeom prst="ellipse">
            <a:avLst/>
          </a:prstGeom>
          <a:solidFill>
            <a:srgbClr val="23764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Check text 4"/>
          <p:cNvSpPr/>
          <p:nvPr/>
        </p:nvSpPr>
        <p:spPr>
          <a:xfrm>
            <a:off x="1252728" y="4764024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student–course pair never sits in both train and test</a:t>
            </a:r>
            <a:endParaRPr lang="en-US" sz="1100" dirty="0"/>
          </a:p>
        </p:txBody>
      </p:sp>
      <p:sp>
        <p:nvSpPr>
          <p:cNvPr id="41" name="Distribution card"/>
          <p:cNvSpPr/>
          <p:nvPr/>
        </p:nvSpPr>
        <p:spPr>
          <a:xfrm>
            <a:off x="4709160" y="2423160"/>
            <a:ext cx="3749040" cy="29900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42" name="Distribution title"/>
          <p:cNvSpPr/>
          <p:nvPr/>
        </p:nvSpPr>
        <p:spPr>
          <a:xfrm>
            <a:off x="4873752" y="2551176"/>
            <a:ext cx="341985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Target distribution (final_result)</a:t>
            </a:r>
            <a:endParaRPr lang="en-US" sz="1300" dirty="0"/>
          </a:p>
        </p:txBody>
      </p:sp>
      <p:sp>
        <p:nvSpPr>
          <p:cNvPr id="43" name="Bar label 1"/>
          <p:cNvSpPr/>
          <p:nvPr/>
        </p:nvSpPr>
        <p:spPr>
          <a:xfrm>
            <a:off x="4873752" y="2971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Pass</a:t>
            </a:r>
            <a:endParaRPr lang="en-US" sz="1050" dirty="0"/>
          </a:p>
        </p:txBody>
      </p:sp>
      <p:sp>
        <p:nvSpPr>
          <p:cNvPr id="44" name="Bar 1"/>
          <p:cNvSpPr/>
          <p:nvPr/>
        </p:nvSpPr>
        <p:spPr>
          <a:xfrm>
            <a:off x="5806440" y="2999232"/>
            <a:ext cx="1545336" cy="219456"/>
          </a:xfrm>
          <a:prstGeom prst="rect">
            <a:avLst/>
          </a:prstGeom>
          <a:solidFill>
            <a:srgbClr val="1C3778"/>
          </a:solidFill>
          <a:ln>
            <a:noFill/>
          </a:ln>
        </p:spPr>
      </p:sp>
      <p:sp>
        <p:nvSpPr>
          <p:cNvPr id="45" name="Bar value 1"/>
          <p:cNvSpPr/>
          <p:nvPr/>
        </p:nvSpPr>
        <p:spPr>
          <a:xfrm>
            <a:off x="7424928" y="29718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12,361  37.9%</a:t>
            </a:r>
            <a:endParaRPr lang="en-US" sz="950" dirty="0"/>
          </a:p>
        </p:txBody>
      </p:sp>
      <p:sp>
        <p:nvSpPr>
          <p:cNvPr id="46" name="Bar label 2"/>
          <p:cNvSpPr/>
          <p:nvPr/>
        </p:nvSpPr>
        <p:spPr>
          <a:xfrm>
            <a:off x="4873752" y="33375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Withdrawn</a:t>
            </a:r>
            <a:endParaRPr lang="en-US" sz="1050" dirty="0"/>
          </a:p>
        </p:txBody>
      </p:sp>
      <p:sp>
        <p:nvSpPr>
          <p:cNvPr id="47" name="Bar 2"/>
          <p:cNvSpPr/>
          <p:nvPr/>
        </p:nvSpPr>
        <p:spPr>
          <a:xfrm>
            <a:off x="5806440" y="3364992"/>
            <a:ext cx="1269673" cy="219456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48" name="Bar value 2"/>
          <p:cNvSpPr/>
          <p:nvPr/>
        </p:nvSpPr>
        <p:spPr>
          <a:xfrm>
            <a:off x="7149265" y="33375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10,156  31.2%</a:t>
            </a:r>
            <a:endParaRPr lang="en-US" sz="950" dirty="0"/>
          </a:p>
        </p:txBody>
      </p:sp>
      <p:sp>
        <p:nvSpPr>
          <p:cNvPr id="49" name="Bar label 3"/>
          <p:cNvSpPr/>
          <p:nvPr/>
        </p:nvSpPr>
        <p:spPr>
          <a:xfrm>
            <a:off x="4873752" y="37033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Fail</a:t>
            </a:r>
            <a:endParaRPr lang="en-US" sz="1050" dirty="0"/>
          </a:p>
        </p:txBody>
      </p:sp>
      <p:sp>
        <p:nvSpPr>
          <p:cNvPr id="50" name="Bar 3"/>
          <p:cNvSpPr/>
          <p:nvPr/>
        </p:nvSpPr>
        <p:spPr>
          <a:xfrm>
            <a:off x="5806440" y="3730752"/>
            <a:ext cx="881620" cy="219456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51" name="Bar value 3"/>
          <p:cNvSpPr/>
          <p:nvPr/>
        </p:nvSpPr>
        <p:spPr>
          <a:xfrm>
            <a:off x="6761212" y="37033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7,052  21.6%</a:t>
            </a:r>
            <a:endParaRPr lang="en-US" sz="950" dirty="0"/>
          </a:p>
        </p:txBody>
      </p:sp>
      <p:sp>
        <p:nvSpPr>
          <p:cNvPr id="52" name="Bar label 4"/>
          <p:cNvSpPr/>
          <p:nvPr/>
        </p:nvSpPr>
        <p:spPr>
          <a:xfrm>
            <a:off x="4873752" y="4069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Distinction</a:t>
            </a:r>
            <a:endParaRPr lang="en-US" sz="1050" dirty="0"/>
          </a:p>
        </p:txBody>
      </p:sp>
      <p:sp>
        <p:nvSpPr>
          <p:cNvPr id="53" name="Bar 4"/>
          <p:cNvSpPr/>
          <p:nvPr/>
        </p:nvSpPr>
        <p:spPr>
          <a:xfrm>
            <a:off x="5806440" y="4096512"/>
            <a:ext cx="378052" cy="219456"/>
          </a:xfrm>
          <a:prstGeom prst="rect">
            <a:avLst/>
          </a:prstGeom>
          <a:solidFill>
            <a:srgbClr val="1C3778"/>
          </a:solidFill>
          <a:ln>
            <a:noFill/>
          </a:ln>
        </p:spPr>
      </p:sp>
      <p:sp>
        <p:nvSpPr>
          <p:cNvPr id="54" name="Bar value 4"/>
          <p:cNvSpPr/>
          <p:nvPr/>
        </p:nvSpPr>
        <p:spPr>
          <a:xfrm>
            <a:off x="6257644" y="40690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3,024  9.3%</a:t>
            </a:r>
            <a:endParaRPr lang="en-US" sz="950" dirty="0"/>
          </a:p>
        </p:txBody>
      </p:sp>
      <p:sp>
        <p:nvSpPr>
          <p:cNvPr id="55" name="At-risk callout"/>
          <p:cNvSpPr/>
          <p:nvPr/>
        </p:nvSpPr>
        <p:spPr>
          <a:xfrm>
            <a:off x="4873752" y="4480560"/>
            <a:ext cx="3419856" cy="365760"/>
          </a:xfrm>
          <a:prstGeom prst="roundRect">
            <a:avLst>
              <a:gd name="adj" fmla="val 20000"/>
            </a:avLst>
          </a:prstGeom>
          <a:solidFill>
            <a:srgbClr val="FBEDEF"/>
          </a:solidFill>
          <a:ln>
            <a:noFill/>
          </a:ln>
        </p:spPr>
        <p:txBody>
          <a:bodyPr wrap="square" lIns="109728" tIns="91440" rIns="109728" bIns="9144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At-risk = Fail + Withdrawn: </a:t>
            </a:r>
            <a:r>
              <a:rPr lang="en-US" sz="100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17,208 (52.8%)</a:t>
            </a:r>
            <a:endParaRPr lang="en-US" sz="1000" dirty="0"/>
          </a:p>
        </p:txBody>
      </p:sp>
      <p:sp>
        <p:nvSpPr>
          <p:cNvPr id="56" name="Mitigation"/>
          <p:cNvSpPr/>
          <p:nvPr/>
        </p:nvSpPr>
        <p:spPr>
          <a:xfrm>
            <a:off x="4873752" y="4910328"/>
            <a:ext cx="341985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Mitigation: 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stratified splits, class weights, threshold tuning; report recall and PR-AUC.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Literature base for the Acadex student-support project · IEEE and Springer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21</a:t>
            </a:r>
            <a:endParaRPr lang="en-US" sz="900" dirty="0"/>
          </a:p>
        </p:txBody>
      </p:sp>
      <p:sp>
        <p:nvSpPr>
          <p:cNvPr id="25" name="Reference card 1"/>
          <p:cNvSpPr/>
          <p:nvPr/>
        </p:nvSpPr>
        <p:spPr>
          <a:xfrm>
            <a:off x="685800" y="1371600"/>
            <a:ext cx="3794760" cy="91440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26" name="Reference number 1"/>
          <p:cNvSpPr/>
          <p:nvPr/>
        </p:nvSpPr>
        <p:spPr>
          <a:xfrm>
            <a:off x="777240" y="146304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Reference text 1"/>
          <p:cNvSpPr/>
          <p:nvPr/>
        </p:nvSpPr>
        <p:spPr>
          <a:xfrm>
            <a:off x="1143000" y="1426464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Cano &amp; Leonard. </a:t>
            </a:r>
            <a:r>
              <a:rPr lang="en-US" sz="8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“Interpretable Multiview Early Warning System Adapted to Underrepresented Student Populations.”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 Transactions on Learning Technologies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656A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ieeexplore.ieee.org/document/8691619</a:t>
            </a:r>
            <a:endParaRPr lang="en-US" sz="800" dirty="0"/>
          </a:p>
        </p:txBody>
      </p:sp>
      <p:sp>
        <p:nvSpPr>
          <p:cNvPr id="28" name="Reference card 2"/>
          <p:cNvSpPr/>
          <p:nvPr/>
        </p:nvSpPr>
        <p:spPr>
          <a:xfrm>
            <a:off x="685800" y="2377440"/>
            <a:ext cx="37947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29" name="Reference number 2"/>
          <p:cNvSpPr/>
          <p:nvPr/>
        </p:nvSpPr>
        <p:spPr>
          <a:xfrm>
            <a:off x="777240" y="246888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Reference text 2"/>
          <p:cNvSpPr/>
          <p:nvPr/>
        </p:nvSpPr>
        <p:spPr>
          <a:xfrm>
            <a:off x="1143000" y="2432304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Al-Shabandar et al. </a:t>
            </a:r>
            <a:r>
              <a:rPr lang="en-US" sz="8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“Detecting At-Risk Students With Early Interventions Using Machine Learning Techniques.”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 Access · DOI 10.1109/ACCESS.2019.2943351</a:t>
            </a:r>
            <a:endParaRPr lang="en-US" sz="850" dirty="0"/>
          </a:p>
        </p:txBody>
      </p:sp>
      <p:sp>
        <p:nvSpPr>
          <p:cNvPr id="31" name="Reference card 3"/>
          <p:cNvSpPr/>
          <p:nvPr/>
        </p:nvSpPr>
        <p:spPr>
          <a:xfrm>
            <a:off x="685800" y="3383280"/>
            <a:ext cx="3794760" cy="91440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2" name="Reference number 3"/>
          <p:cNvSpPr/>
          <p:nvPr/>
        </p:nvSpPr>
        <p:spPr>
          <a:xfrm>
            <a:off x="777240" y="347472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Reference text 3"/>
          <p:cNvSpPr/>
          <p:nvPr/>
        </p:nvSpPr>
        <p:spPr>
          <a:xfrm>
            <a:off x="1143000" y="3438144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Zhao et al. </a:t>
            </a:r>
            <a:r>
              <a:rPr lang="en-US" sz="8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“Academic Performance Prediction Based on Multisource, Multifeature Behavioral Data.”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 Access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656A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ieeexplore.ieee.org/document/9118933</a:t>
            </a:r>
            <a:endParaRPr lang="en-US" sz="800" dirty="0"/>
          </a:p>
        </p:txBody>
      </p:sp>
      <p:sp>
        <p:nvSpPr>
          <p:cNvPr id="34" name="Reference card 4"/>
          <p:cNvSpPr/>
          <p:nvPr/>
        </p:nvSpPr>
        <p:spPr>
          <a:xfrm>
            <a:off x="685800" y="4389120"/>
            <a:ext cx="37947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35" name="Reference number 4"/>
          <p:cNvSpPr/>
          <p:nvPr/>
        </p:nvSpPr>
        <p:spPr>
          <a:xfrm>
            <a:off x="777240" y="448056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Reference text 4"/>
          <p:cNvSpPr/>
          <p:nvPr/>
        </p:nvSpPr>
        <p:spPr>
          <a:xfrm>
            <a:off x="1143000" y="4443984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Cui et al. </a:t>
            </a:r>
            <a:r>
              <a:rPr lang="en-US" sz="8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“Tri-Branch Convolutional Neural Networks for Top-k Focused Academic Performance Prediction.”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 Transactions on Neural Networks and Learning Systems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656A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ieeexplore.ieee.org/document/9779126</a:t>
            </a:r>
            <a:endParaRPr lang="en-US" sz="800" dirty="0"/>
          </a:p>
        </p:txBody>
      </p:sp>
      <p:sp>
        <p:nvSpPr>
          <p:cNvPr id="37" name="Reference card 5"/>
          <p:cNvSpPr/>
          <p:nvPr/>
        </p:nvSpPr>
        <p:spPr>
          <a:xfrm>
            <a:off x="4663440" y="1371600"/>
            <a:ext cx="3794760" cy="91440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8" name="Reference number 5"/>
          <p:cNvSpPr/>
          <p:nvPr/>
        </p:nvSpPr>
        <p:spPr>
          <a:xfrm>
            <a:off x="4754880" y="146304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Reference text 5"/>
          <p:cNvSpPr/>
          <p:nvPr/>
        </p:nvSpPr>
        <p:spPr>
          <a:xfrm>
            <a:off x="5120640" y="1426464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Yanes et al. </a:t>
            </a:r>
            <a:r>
              <a:rPr lang="en-US" sz="8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“A Machine Learning-Based Recommender System for Improving Students Learning Experiences.”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 Access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656A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ieeexplore.ieee.org/document/9249379</a:t>
            </a:r>
            <a:endParaRPr lang="en-US" sz="800" dirty="0"/>
          </a:p>
        </p:txBody>
      </p:sp>
      <p:sp>
        <p:nvSpPr>
          <p:cNvPr id="40" name="Reference card 6"/>
          <p:cNvSpPr/>
          <p:nvPr/>
        </p:nvSpPr>
        <p:spPr>
          <a:xfrm>
            <a:off x="4663440" y="2377440"/>
            <a:ext cx="37947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41" name="Reference number 6"/>
          <p:cNvSpPr/>
          <p:nvPr/>
        </p:nvSpPr>
        <p:spPr>
          <a:xfrm>
            <a:off x="4754880" y="246888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6</a:t>
            </a:r>
            <a:endParaRPr lang="en-US" sz="1000" dirty="0"/>
          </a:p>
        </p:txBody>
      </p:sp>
      <p:sp>
        <p:nvSpPr>
          <p:cNvPr id="42" name="Reference text 6"/>
          <p:cNvSpPr/>
          <p:nvPr/>
        </p:nvSpPr>
        <p:spPr>
          <a:xfrm>
            <a:off x="5120640" y="2432304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Ma et al. </a:t>
            </a:r>
            <a:r>
              <a:rPr lang="en-US" sz="8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“Learning Early Warning Guided by Course Objective Achievement via Knowledge State and Learning State Modeling.”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 Transactions on Computational Social Systems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656A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ieeexplore.ieee.org/document/11387756</a:t>
            </a:r>
            <a:endParaRPr lang="en-US" sz="800" dirty="0"/>
          </a:p>
        </p:txBody>
      </p:sp>
      <p:sp>
        <p:nvSpPr>
          <p:cNvPr id="43" name="Reference card 7"/>
          <p:cNvSpPr/>
          <p:nvPr/>
        </p:nvSpPr>
        <p:spPr>
          <a:xfrm>
            <a:off x="4663440" y="3383280"/>
            <a:ext cx="3794760" cy="91440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4" name="Reference number 7"/>
          <p:cNvSpPr/>
          <p:nvPr/>
        </p:nvSpPr>
        <p:spPr>
          <a:xfrm>
            <a:off x="4754880" y="347472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7</a:t>
            </a:r>
            <a:endParaRPr lang="en-US" sz="1000" dirty="0"/>
          </a:p>
        </p:txBody>
      </p:sp>
      <p:sp>
        <p:nvSpPr>
          <p:cNvPr id="45" name="Reference text 7"/>
          <p:cNvSpPr/>
          <p:nvPr/>
        </p:nvSpPr>
        <p:spPr>
          <a:xfrm>
            <a:off x="5120640" y="3438144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Kord, Aboelfetouh &amp; Shohieb. </a:t>
            </a:r>
            <a:r>
              <a:rPr lang="en-US" sz="8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“Academic course planning recommendation and students’ performance prediction multi-modal based on educational data mining techniques.”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J. Computing in Higher Education, Springer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656A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link.springer.com/article/10.1007/s12528-024-09426-0</a:t>
            </a:r>
            <a:endParaRPr lang="en-US" sz="800" dirty="0"/>
          </a:p>
        </p:txBody>
      </p:sp>
      <p:sp>
        <p:nvSpPr>
          <p:cNvPr id="46" name="Reference card 8"/>
          <p:cNvSpPr/>
          <p:nvPr/>
        </p:nvSpPr>
        <p:spPr>
          <a:xfrm>
            <a:off x="4663440" y="4389120"/>
            <a:ext cx="37947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47" name="Reference number 8"/>
          <p:cNvSpPr/>
          <p:nvPr/>
        </p:nvSpPr>
        <p:spPr>
          <a:xfrm>
            <a:off x="4754880" y="448056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8</a:t>
            </a:r>
            <a:endParaRPr lang="en-US" sz="1000" dirty="0"/>
          </a:p>
        </p:txBody>
      </p:sp>
      <p:sp>
        <p:nvSpPr>
          <p:cNvPr id="48" name="Reference text 8"/>
          <p:cNvSpPr/>
          <p:nvPr/>
        </p:nvSpPr>
        <p:spPr>
          <a:xfrm>
            <a:off x="5120640" y="4443984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Alalawi et al. </a:t>
            </a:r>
            <a:r>
              <a:rPr lang="en-US" sz="8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“Evaluating the student performance prediction and action framework through a learning analytics intervention study.”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Education and Information Technologies, Springer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656A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link.springer.com/article/10.1007/s10639-024-12923-5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2026-10-11T18:06:53Z</dcterms:created>
  <dcterms:modified xsi:type="dcterms:W3CDTF">2026-10-11T18:06:53Z</dcterms:modified>
</cp:coreProperties>
</file>